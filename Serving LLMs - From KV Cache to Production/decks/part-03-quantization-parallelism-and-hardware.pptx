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answers one question: how do you make a 70B model fit, run and cost what you can justify? Three ideas do it: split the model across GPUs, store its weights in fewer bits, and pick the smallest group of cards that fits. Every number comes from lessons 19 to 25, and each cell runs on a laptop with no GPU.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busy kitchen where eight cooks make one dish. Each cook handles a part of every step, and after each step they call out and combine what they have before the next one. That is tensor parallelism. Where the picture stops working: a cook can talk to a neighbour for free, but GPUs pay for every all-reduce over the link between them. On L4 cards, which connect over PCIe rather than NVLink, that cost is real, and lesson 22 measures it. Ask the room: what would the kitchen do if each cook had to walk to another kitchen after every step?</a:t>
            </a:r>
          </a:p>
          <a:p/>
          <a:p>
            <a:r>
              <a:t>From lessons: 19, 22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exact definition from lessons 19 and 22: tensor parallelism splits each weight matrix into equal shards, one per GPU, and after each layer the GPUs add their partial results with an all-reduce. Walk the three parts. The shard is one GPU's slice. The all-reduce is the collective call that makes every GPU hold the full result. The degree must divide the head counts, 64 query heads and 8 KV heads, so 1, 2, 4 or 8 are allowed. Example: two all-reduces per layer, so 160 per forward pass for 80 layers. At TP=8 each L4 also holds 16.4 GiB of the FP16 70B model.</a:t>
            </a:r>
          </a:p>
          <a:p/>
          <a:p>
            <a:r>
              <a:t>From lessons: 19, 22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without a split, the load fails. The engine reads the weights, runs out of memory and stops, so you guess which card to rent next. Usable memory on one L4 is 20.56 GiB, because vLLM keeps 8 percent free. Right: eight L4s hold one copy at 16.4 GiB each, and your code still sends one request to one endpoint. The new cost is communication: 160 all-reduces per forward pass. Lesson 22 prices them. Under the 20 microsecond per-call figure, which the lesson labels as an assumption, a 1,600-token prefill spends about 233 milliseconds in all-reduces over PCIe (232.6 ms in the notebook). That is why the link matters.</a:t>
            </a:r>
          </a:p>
          <a:p/>
          <a:p>
            <a:r>
              <a:t>From lessons: 19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smallest working code. The loop tries the degrees 1, 2, 4 and 8 in order, and keeps the first one where the weights leave room for the cache. The function plan() is defined on the next slide, from lesson 19, step 5. Run the cell: FP16 needs TP=8, FP8 needs TP=4 and 4-bit needs TP=2, as in lesson 19, step 6. Ask the room: FP8 fits at TP=4 and also at TP=8, which leaves 12.4 GiB of room per GPU instead of 4.1. TP=4 is the smallest split that fits, not the only one that works. TP=8 buys cache room at a cost: the 1,600-token prefill all-reduces take about 233 ms over PCIe at TP=8, against about 200 ms at TP=4 (lesson 22).</a:t>
            </a:r>
          </a:p>
          <a:p/>
          <a:p>
            <a:r>
              <a:t>From lessons: 19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planner behind the loop. It divides the weights by the degree, so each GPU holds 1/tp of them. It subtracts those weights from the usable memory, which gives the room left for the cache. The last line converts the room into cache tokens for the whole group, using the 320 KiB per token of the 70B model. The lesson's full version also refuses a degree that does not divide 64 query heads and 8 KV heads, with a ValueError. That refusal is the first common mistake in lesson 19.</a:t>
            </a:r>
          </a:p>
          <a:p/>
          <a:p>
            <a:r>
              <a:t>From lessons: 19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rounding prices to the nearest 5 cents. You keep one note that says how big a 5-cent step is, and every price is stored as a small number of steps. That is quantization: a group of weights shares one scale, and each weight is rounded to the nearest level its bits allow. Where the picture stops working: a rounded price changes a bill by a few cents, but a rounded weight can change what the model answers. So this part ends with a quality check, not only a size check. Lesson 21 applies the same rounding to the KV cache and measures its quality cost there. Ask the room: which answers in your product would you measure first?</a:t>
            </a:r>
          </a:p>
          <a:p/>
          <a:p>
            <a:r>
              <a:t>From lessons: 20, 21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exact definition from lesson 20: quantization stores each weight with fewer bits; a group of weights shares one scale, and each weight is rounded to the nearest level the bits allow. Four parts. The format sets the bytes per number. The scale is the one number per group, 128 weights in the INT4 example, which adds about 0.016 bytes per weight. Data-free rounding needs only the model file, and the lesson uses it for INT8, FP8 and INT4. Calibration runs sample texts through the model first; AWQ and GPTQ use it, and this lesson does not run them. Example: the 70B model drops from 131.4 GiB to about 66 GiB in FP8 (65.7 GiB ideal, from lesson 24), which fits TP=4. Lesson 20's step 5 applies the measured bytes per linear weight to 70B and gets 67.8 GiB, which also fits TP=4; that is a 70B estimate, not a measurement of the 70B model. Lesson 21 applies the same format to the KV cache and measures its quality cost there, not the weights.</a:t>
            </a:r>
          </a:p>
          <a:p/>
          <a:p>
            <a:r>
              <a:t>From lessons: 20, 21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measurement that matters. read_sizes opens each saved file and adds up its bytes, and it separates the linear layers, the tensors whose names end in _proj. The measured result in the lesson's small model: the INT8 and FP8 files (83 MiB each) are 0.70 of the FP16 file (119 MiB), not 0.50, because the embedding and output head stay FP16. In that small model the embedding and head are about two-fifths of all weights, which is why the ratio is high. At 70B they are about 3 percent of the weights (2 × 128,256 × 8,192 numbers out of 70.55 billion), so the ratio is nearer 0.5, about 0.52 by the ideal arithmetic. The INT4 file is 0.55 of it. So the saving depends on how much of the model is linear layers, not on the bit width alone. Quality is a separate check. Lesson 21 runs it on an FP8 KV cache, not on the weights: a 50-prompt set with a 95 percent interval. The same method works for weights. Ask the room: why does a 2-point drop on 50 prompts mean very little?</a:t>
            </a:r>
          </a:p>
          <a:p/>
          <a:p>
            <a:r>
              <a:t>From lessons: 20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warehouse. Floor space is how much stock you can hold, and forklift speed is how fast orders leave. A huge warehouse with a slow forklift stores a lot but ships each order slowly. GPUs work the same way: memory holds the weights and the cache, and bandwidth sets how fast each decode step reads the weights. Where the picture stops working: a warehouse does not hold a copy of its stock for each order, while a GPU must hold the weights and every request's cache together. Ask the room: which of your costs is floor space, and which is forklift speed?</a:t>
            </a:r>
          </a:p>
          <a:p/>
          <a:p>
            <a:r>
              <a:t>From lessons: 24, 25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exact idea from lesson 24: the cheapest option is the lowest price for the smallest group that fits, with room left for the cache. So the order is: first find the smallest group, then compare prices. Three parts. Memory decides whether the weights fit and how much cache room is left: one H200 holds the FP16 70B model at TP=2 with 55.10 GiB per GPU. Bandwidth sets the decode floor, the fastest one token can be read from memory, because each decode step reads the weights. At batch 1 that floor is 53.3 ms on an L4 and 3.3 ms on an H200 for an 8B model in FP16. FP8 support says whether 1-byte maths runs on tensor cores: the L4, H100 and H200 have it, the A100 does not. The group is the fewest cards that hold the weights with room left. The course has no prices, so enter your own.</a:t>
            </a:r>
          </a:p>
          <a:p/>
          <a:p>
            <a:r>
              <a:t>From lessons: 24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function is the group search. For one card and one weight format it returns the smallest TP degree whose weights leave room, and that room. It reads GPUS, the spec table from lesson 24 with memory, bandwidth and FP8 support. The notebook runs it for each card and format. The H100 80GB at FP16 needs TP=2 with only 2.84 GiB of room per GPU, which is about 18,600 cache tokens for the whole group. Ask the room: is 2.84 GiB enough for your batch, or does the cache need more room than that?</a:t>
            </a:r>
          </a:p>
          <a:p/>
          <a:p>
            <a:r>
              <a:t>From lessons: 24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25 is the checkpoint. The target: 6 requests per second at peak, a first token within 0.5 seconds for a 1,600-token prompt, 30 percent headroom, and at least 2 replicas, so one can fail. For each card the notebook keeps its best option that meets the target. The L4 needs TP=8 and 4 replicas, so 32 GPUs. The H100 needs TP=2 and 2 replicas, so 4 GPUs. The H200 runs one card per replica and needs 2 GPUs. The winner is chosen by GPU count, not proven cheaper: the course has no prices, and four H100s also meet the target. H200 wins on cost only if one H200 costs less than two H100s. The A100 is not in this view: its FP8 option at TP=1 misses the target, because it has no FP8 tensor cores, and its best FP16 option needs 8 GPUs.</a:t>
            </a:r>
          </a:p>
          <a:p/>
          <a:p>
            <a:r>
              <a:t>From lessons: 25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build path in the order a learner should work. First, one card: the load fails, and that is the check that stops it (lesson 19). Second, split or shrink: TP=8 at FP16 or TP=4 at FP8, and measure the quality of any shrink (lessons 20 and 21; lesson 21 measures an FP8 KV cache). Third, measure the communication: the all-reduces per pass (lesson 22), and when pipeline or expert parallelism helps (lesson 23). Fourth, size the fleet: choose the card and the group, then the replicas for the peak rate, with headroom (lessons 24 and 25). Each step adds one thing, and each number is printed by a cell you can run.</a:t>
            </a:r>
          </a:p>
          <a:p/>
          <a:p>
            <a:r>
              <a:t>From lessons: 19, 20, 21, 22, 23, 24, 25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in a design review or an interview. The first checks the arithmetic: 70.6 billion parameters at 2 bytes is about 141 GB, so the weights need 7 L4s, and the degree must divide 64 and 8, which gives 8. The second: on PCIe, prefill is slow because of the bytes moved (about 233 milliseconds for 1,600 tokens at 20 microseconds per call), while decode is set by the 160 fixed per-call costs (about 3.3 milliseconds per pass, nearly the same on NVLink). The third is a statistics check: with 50 prompts, a 2-point change sits inside a plus-or-minus 13-point interval, so measure the FP8 KV cache on your own prompts. The last two are the desk's decision: prices and the SLO change the answer, so write them down before you buy. The fifth asks how much cache room each replica keeps at peak. The decision rule for the close: card, group, then replicas, with your own prices. Say it aloud, but keep it off the slide.</a:t>
            </a:r>
          </a:p>
          <a:p/>
          <a:p>
            <a:r>
              <a:t>From lessons: 19, 20, 21, 22, 23, 24, 25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ightning Bolt 4"/>
          <p:cNvSpPr/>
          <p:nvPr/>
        </p:nvSpPr>
        <p:spPr>
          <a:xfrm>
            <a:off x="1028700" y="1668780"/>
            <a:ext cx="411480" cy="411480"/>
          </a:xfrm>
          <a:prstGeom prst="lightningBol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Quantization, parallelism and hardware: fitting a 70B model</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1D4ED8"/>
                </a:solidFill>
                <a:latin typeface="Calibri"/>
              </a:rPr>
              <a:t>KV Forge · Part 3 of the course · for learners of this course</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this course</a:t>
            </a:r>
          </a:p>
        </p:txBody>
      </p:sp>
      <p:cxnSp>
        <p:nvCxnSpPr>
          <p:cNvPr id="9" name="Connector 8"/>
          <p:cNvCxnSpPr/>
          <p:nvPr/>
        </p:nvCxnSpPr>
        <p:spPr>
          <a:xfrm flipH="1" flipV="1">
            <a:off x="8686800" y="1188719"/>
            <a:ext cx="1371600" cy="914401"/>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Tensor parallelism works like cooks on one dish</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busy kitchen</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Eight cooks make one dish and call out after each step.</a:t>
            </a:r>
          </a:p>
        </p:txBody>
      </p:sp>
      <p:sp>
        <p:nvSpPr>
          <p:cNvPr id="9" name="Rounded Rectangle 8"/>
          <p:cNvSpPr/>
          <p:nvPr/>
        </p:nvSpPr>
        <p:spPr>
          <a:xfrm>
            <a:off x="6428232" y="1828800"/>
            <a:ext cx="5120640" cy="30175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1D4ED8"/>
                </a:solidFill>
                <a:latin typeface="Calibri"/>
              </a:rPr>
              <a:t>Tensor parallelism</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Eight GPUs compute one layer and add results after it.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1D4ED8"/>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cook can ask a neighbour for free; a GPU link costs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GPU holds a shard and joins results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Tensor parallelism splits each weight matrix into equal shards, one per GPU, and adds the partial results with an all-reduce after each layer.</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Shard</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One GPU's equal slice of each weight matrix</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All-reduce</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GPUs add partial results, so each holds the full answer</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Degree</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GPUs per copy. Degree must divide 64 query and 8 KV heads</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160 all-reduces per forward pass (80 layers ×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L4 cannot load 70B; eight can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One L4</a:t>
            </a:r>
          </a:p>
        </p:txBody>
      </p:sp>
      <p:sp>
        <p:nvSpPr>
          <p:cNvPr id="7" name="Rounded Rectangle 6"/>
          <p:cNvSpPr/>
          <p:nvPr/>
        </p:nvSpPr>
        <p:spPr>
          <a:xfrm>
            <a:off x="731519"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131 GiB FP16 weights</a:t>
            </a:r>
          </a:p>
        </p:txBody>
      </p:sp>
      <p:cxnSp>
        <p:nvCxnSpPr>
          <p:cNvPr id="8" name="Connector 7"/>
          <p:cNvCxnSpPr/>
          <p:nvPr/>
        </p:nvCxnSpPr>
        <p:spPr>
          <a:xfrm>
            <a:off x="2252471" y="3520440"/>
            <a:ext cx="164593"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2784"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one L4: 20.6 GiB</a:t>
            </a:r>
          </a:p>
        </p:txBody>
      </p:sp>
      <p:cxnSp>
        <p:nvCxnSpPr>
          <p:cNvPr id="10" name="Connector 9"/>
          <p:cNvCxnSpPr/>
          <p:nvPr/>
        </p:nvCxnSpPr>
        <p:spPr>
          <a:xfrm>
            <a:off x="3983736" y="3520440"/>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94048"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load fails</a:t>
            </a:r>
          </a:p>
        </p:txBody>
      </p:sp>
      <p:sp>
        <p:nvSpPr>
          <p:cNvPr id="12" name="TextBox 11"/>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
            </a:r>
          </a:p>
        </p:txBody>
      </p:sp>
      <p:sp>
        <p:nvSpPr>
          <p:cNvPr id="13" name="Rounded Rectangle 12"/>
          <p:cNvSpPr/>
          <p:nvPr/>
        </p:nvSpPr>
        <p:spPr>
          <a:xfrm>
            <a:off x="6428232" y="1600200"/>
            <a:ext cx="5120640" cy="379476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1D4ED8"/>
                </a:solidFill>
                <a:latin typeface="Calibri"/>
              </a:rPr>
              <a:t>Eight L4s, TP=8</a:t>
            </a:r>
          </a:p>
        </p:txBody>
      </p:sp>
      <p:sp>
        <p:nvSpPr>
          <p:cNvPr id="15" name="Rounded Rectangle 14"/>
          <p:cNvSpPr/>
          <p:nvPr/>
        </p:nvSpPr>
        <p:spPr>
          <a:xfrm>
            <a:off x="6519672"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131 GiB FP16 weights</a:t>
            </a:r>
          </a:p>
        </p:txBody>
      </p:sp>
      <p:cxnSp>
        <p:nvCxnSpPr>
          <p:cNvPr id="16" name="Connector 15"/>
          <p:cNvCxnSpPr/>
          <p:nvPr/>
        </p:nvCxnSpPr>
        <p:spPr>
          <a:xfrm>
            <a:off x="8040624" y="3520440"/>
            <a:ext cx="164591"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50936"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each L4: 16.4 GiB</a:t>
            </a:r>
          </a:p>
        </p:txBody>
      </p:sp>
      <p:cxnSp>
        <p:nvCxnSpPr>
          <p:cNvPr id="18" name="Connector 17"/>
          <p:cNvCxnSpPr/>
          <p:nvPr/>
        </p:nvCxnSpPr>
        <p:spPr>
          <a:xfrm>
            <a:off x="9771888" y="3520440"/>
            <a:ext cx="164591"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982200" y="3086100"/>
            <a:ext cx="1475232" cy="868680"/>
          </a:xfrm>
          <a:prstGeom prst="roundRect">
            <a:avLst>
              <a:gd name="adj" fmla="val 12000"/>
            </a:avLst>
          </a:prstGeom>
          <a:solidFill>
            <a:srgbClr val="1D4ED8"/>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160 all-reduces</a:t>
            </a:r>
          </a:p>
        </p:txBody>
      </p:sp>
      <p:sp>
        <p:nvSpPr>
          <p:cNvPr id="20" name="TextBox 19"/>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1D4ED8"/>
                </a:solidFill>
                <a:latin typeface="Calibri"/>
              </a:rPr>
              <a:t/>
            </a:r>
          </a:p>
        </p:txBody>
      </p:sp>
      <p:sp>
        <p:nvSpPr>
          <p:cNvPr id="21" name="TextBox 20"/>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Engine stops while loading</a:t>
            </a:r>
          </a:p>
        </p:txBody>
      </p:sp>
      <p:sp>
        <p:nvSpPr>
          <p:cNvPr id="22" name="TextBox 21"/>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About 233 ms for a 1,600-token prefill on PCIe (assuming 20 µs per call)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format needs a different smallest split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54480"/>
            <a:ext cx="7315200" cy="1737360"/>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487168"/>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463040"/>
          </a:xfrm>
          <a:prstGeom prst="rect">
            <a:avLst/>
          </a:prstGeom>
          <a:noFill/>
        </p:spPr>
        <p:txBody>
          <a:bodyPr wrap="none" lIns="0" rIns="0" tIns="0" bIns="0">
            <a:noAutofit/>
          </a:bodyPr>
          <a:lstStyle/>
          <a:p>
            <a:pPr algn="l">
              <a:lnSpc>
                <a:spcPct val="112000"/>
              </a:lnSpc>
            </a:pPr>
            <a:r>
              <a:rPr sz="1500" b="0" i="1">
                <a:solidFill>
                  <a:srgbClr val="6B7280"/>
                </a:solidFill>
                <a:latin typeface="Consolas"/>
              </a:rPr>
              <a:t># BYTES_PER_PARAM = {"FP16": 2, "FP8": 1, "4-bit": 0.5}</a:t>
            </a:r>
          </a:p>
          <a:p>
            <a:pPr algn="l">
              <a:lnSpc>
                <a:spcPct val="112000"/>
              </a:lnSpc>
            </a:pPr>
            <a:r>
              <a:rPr sz="1500" b="0" i="1">
                <a:solidFill>
                  <a:srgbClr val="6B7280"/>
                </a:solidFill>
                <a:latin typeface="Consolas"/>
              </a:rPr>
              <a:t># plan(b, t): weights per GPU and room left (step 5)</a:t>
            </a:r>
          </a:p>
          <a:p>
            <a:pPr algn="l">
              <a:lnSpc>
                <a:spcPct val="112000"/>
              </a:lnSpc>
            </a:pPr>
            <a:r>
              <a:rPr sz="1500" b="1" i="0">
                <a:solidFill>
                  <a:srgbClr val="1D4ED8"/>
                </a:solidFill>
                <a:latin typeface="Consolas"/>
              </a:rPr>
              <a:t>for</a:t>
            </a:r>
            <a:r>
              <a:rPr sz="1500" b="0" i="0">
                <a:solidFill>
                  <a:srgbClr val="1F2933"/>
                </a:solidFill>
                <a:latin typeface="Consolas"/>
              </a:rPr>
              <a:t> fmt, b </a:t>
            </a:r>
            <a:r>
              <a:rPr sz="1500" b="1" i="0">
                <a:solidFill>
                  <a:srgbClr val="1D4ED8"/>
                </a:solidFill>
                <a:latin typeface="Consolas"/>
              </a:rPr>
              <a:t>in</a:t>
            </a:r>
            <a:r>
              <a:rPr sz="1500" b="0" i="0">
                <a:solidFill>
                  <a:srgbClr val="1F2933"/>
                </a:solidFill>
                <a:latin typeface="Consolas"/>
              </a:rPr>
              <a:t> BYTES_PER_PARAM.items():</a:t>
            </a:r>
          </a:p>
          <a:p>
            <a:pPr algn="l">
              <a:lnSpc>
                <a:spcPct val="112000"/>
              </a:lnSpc>
            </a:pPr>
            <a:r>
              <a:rPr sz="1500" b="0" i="0">
                <a:solidFill>
                  <a:srgbClr val="1F2933"/>
                </a:solidFill>
                <a:latin typeface="Consolas"/>
              </a:rPr>
              <a:t>    tp = </a:t>
            </a:r>
            <a:r>
              <a:rPr sz="1500" b="0" i="0">
                <a:solidFill>
                  <a:srgbClr val="0E7490"/>
                </a:solidFill>
                <a:latin typeface="Consolas"/>
              </a:rPr>
              <a:t>next</a:t>
            </a:r>
            <a:r>
              <a:rPr sz="1500" b="0" i="0">
                <a:solidFill>
                  <a:srgbClr val="1F2933"/>
                </a:solidFill>
                <a:latin typeface="Consolas"/>
              </a:rPr>
              <a:t>(t </a:t>
            </a:r>
            <a:r>
              <a:rPr sz="1500" b="1" i="0">
                <a:solidFill>
                  <a:srgbClr val="1D4ED8"/>
                </a:solidFill>
                <a:latin typeface="Consolas"/>
              </a:rPr>
              <a:t>for</a:t>
            </a:r>
            <a:r>
              <a:rPr sz="1500" b="0" i="0">
                <a:solidFill>
                  <a:srgbClr val="1F2933"/>
                </a:solidFill>
                <a:latin typeface="Consolas"/>
              </a:rPr>
              <a:t> t </a:t>
            </a:r>
            <a:r>
              <a:rPr sz="1500" b="1" i="0">
                <a:solidFill>
                  <a:srgbClr val="1D4ED8"/>
                </a:solidFill>
                <a:latin typeface="Consolas"/>
              </a:rPr>
              <a:t>in</a:t>
            </a:r>
            <a:r>
              <a:rPr sz="1500" b="0" i="0">
                <a:solidFill>
                  <a:srgbClr val="1F2933"/>
                </a:solidFill>
                <a:latin typeface="Consolas"/>
              </a:rPr>
              <a:t> (</a:t>
            </a:r>
            <a:r>
              <a:rPr sz="1500" b="0" i="0">
                <a:solidFill>
                  <a:srgbClr val="C2410C"/>
                </a:solidFill>
                <a:latin typeface="Consolas"/>
              </a:rPr>
              <a:t>1</a:t>
            </a:r>
            <a:r>
              <a:rPr sz="1500" b="0" i="0">
                <a:solidFill>
                  <a:srgbClr val="1F2933"/>
                </a:solidFill>
                <a:latin typeface="Consolas"/>
              </a:rPr>
              <a:t>, </a:t>
            </a:r>
            <a:r>
              <a:rPr sz="1500" b="0" i="0">
                <a:solidFill>
                  <a:srgbClr val="C2410C"/>
                </a:solidFill>
                <a:latin typeface="Consolas"/>
              </a:rPr>
              <a:t>2</a:t>
            </a:r>
            <a:r>
              <a:rPr sz="1500" b="0" i="0">
                <a:solidFill>
                  <a:srgbClr val="1F2933"/>
                </a:solidFill>
                <a:latin typeface="Consolas"/>
              </a:rPr>
              <a:t>, </a:t>
            </a:r>
            <a:r>
              <a:rPr sz="1500" b="0" i="0">
                <a:solidFill>
                  <a:srgbClr val="C2410C"/>
                </a:solidFill>
                <a:latin typeface="Consolas"/>
              </a:rPr>
              <a:t>4</a:t>
            </a:r>
            <a:r>
              <a:rPr sz="1500" b="0" i="0">
                <a:solidFill>
                  <a:srgbClr val="1F2933"/>
                </a:solidFill>
                <a:latin typeface="Consolas"/>
              </a:rPr>
              <a:t>, </a:t>
            </a:r>
            <a:r>
              <a:rPr sz="1500" b="0" i="0">
                <a:solidFill>
                  <a:srgbClr val="C2410C"/>
                </a:solidFill>
                <a:latin typeface="Consolas"/>
              </a:rPr>
              <a:t>8</a:t>
            </a:r>
            <a:r>
              <a:rPr sz="1500" b="0" i="0">
                <a:solidFill>
                  <a:srgbClr val="1F2933"/>
                </a:solidFill>
                <a:latin typeface="Consolas"/>
              </a:rPr>
              <a:t>) </a:t>
            </a:r>
            <a:r>
              <a:rPr sz="1500" b="1" i="0">
                <a:solidFill>
                  <a:srgbClr val="1D4ED8"/>
                </a:solidFill>
                <a:latin typeface="Consolas"/>
              </a:rPr>
              <a:t>if</a:t>
            </a:r>
            <a:r>
              <a:rPr sz="1500" b="0" i="0">
                <a:solidFill>
                  <a:srgbClr val="1F2933"/>
                </a:solidFill>
                <a:latin typeface="Consolas"/>
              </a:rPr>
              <a:t> plan(b, t)[</a:t>
            </a:r>
            <a:r>
              <a:rPr sz="1500" b="0" i="0">
                <a:solidFill>
                  <a:srgbClr val="C2410C"/>
                </a:solidFill>
                <a:latin typeface="Consolas"/>
              </a:rPr>
              <a:t>1</a:t>
            </a:r>
            <a:r>
              <a:rPr sz="1500" b="0" i="0">
                <a:solidFill>
                  <a:srgbClr val="1F2933"/>
                </a:solidFill>
                <a:latin typeface="Consolas"/>
              </a:rPr>
              <a:t>] &gt; </a:t>
            </a:r>
            <a:r>
              <a:rPr sz="1500" b="0" i="0">
                <a:solidFill>
                  <a:srgbClr val="C2410C"/>
                </a:solidFill>
                <a:latin typeface="Consolas"/>
              </a:rPr>
              <a:t>0</a:t>
            </a:r>
            <a:r>
              <a:rPr sz="1500" b="0" i="0">
                <a:solidFill>
                  <a:srgbClr val="1F2933"/>
                </a:solidFill>
                <a:latin typeface="Consolas"/>
              </a:rPr>
              <a:t>)</a:t>
            </a:r>
          </a:p>
          <a:p>
            <a:pPr algn="l">
              <a:lnSpc>
                <a:spcPct val="112000"/>
              </a:lnSpc>
            </a:pPr>
            <a:r>
              <a:rPr sz="1500" b="0" i="0">
                <a:solidFill>
                  <a:srgbClr val="1F2933"/>
                </a:solidFill>
                <a:latin typeface="Consolas"/>
              </a:rPr>
              <a:t>    </a:t>
            </a:r>
            <a:r>
              <a:rPr sz="1500" b="0" i="0">
                <a:solidFill>
                  <a:srgbClr val="0E7490"/>
                </a:solidFill>
                <a:latin typeface="Consolas"/>
              </a:rPr>
              <a:t>print</a:t>
            </a:r>
            <a:r>
              <a:rPr sz="1500" b="0" i="0">
                <a:solidFill>
                  <a:srgbClr val="1F2933"/>
                </a:solidFill>
                <a:latin typeface="Consolas"/>
              </a:rPr>
              <a:t>(</a:t>
            </a:r>
            <a:r>
              <a:rPr sz="1500" b="0" i="0">
                <a:solidFill>
                  <a:srgbClr val="B45309"/>
                </a:solidFill>
                <a:latin typeface="Consolas"/>
              </a:rPr>
              <a:t>f"{</a:t>
            </a:r>
            <a:r>
              <a:rPr sz="1500" b="0" i="0">
                <a:solidFill>
                  <a:srgbClr val="1F2933"/>
                </a:solidFill>
                <a:latin typeface="Consolas"/>
              </a:rPr>
              <a:t>fmt</a:t>
            </a:r>
            <a:r>
              <a:rPr sz="1500" b="0" i="0">
                <a:solidFill>
                  <a:srgbClr val="B45309"/>
                </a:solidFill>
                <a:latin typeface="Consolas"/>
              </a:rPr>
              <a:t>:6} smallest split that fits: TP={</a:t>
            </a:r>
            <a:r>
              <a:rPr sz="1500" b="0" i="0">
                <a:solidFill>
                  <a:srgbClr val="1F2933"/>
                </a:solidFill>
                <a:latin typeface="Consolas"/>
              </a:rPr>
              <a:t>tp</a:t>
            </a:r>
            <a:r>
              <a:rPr sz="1500" b="0" i="0">
                <a:solidFill>
                  <a:srgbClr val="B45309"/>
                </a:solidFill>
                <a:latin typeface="Consolas"/>
              </a:rPr>
              <a:t>}"</a:t>
            </a:r>
            <a:r>
              <a:rPr sz="1500" b="0" i="0">
                <a:solidFill>
                  <a:srgbClr val="1F2933"/>
                </a:solidFill>
                <a:latin typeface="Consolas"/>
              </a:rPr>
              <a:t>)</a:t>
            </a:r>
          </a:p>
        </p:txBody>
      </p:sp>
      <p:sp>
        <p:nvSpPr>
          <p:cNvPr id="8" name="Rounded Rectangle 7"/>
          <p:cNvSpPr/>
          <p:nvPr/>
        </p:nvSpPr>
        <p:spPr>
          <a:xfrm>
            <a:off x="640080" y="3401568"/>
            <a:ext cx="7315200" cy="1426464"/>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474720"/>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493008"/>
            <a:ext cx="5943600" cy="1152144"/>
          </a:xfrm>
          <a:prstGeom prst="rect">
            <a:avLst/>
          </a:prstGeom>
          <a:noFill/>
        </p:spPr>
        <p:txBody>
          <a:bodyPr wrap="square" lIns="0" rIns="0" tIns="0" bIns="0" anchor="t">
            <a:spAutoFit/>
          </a:bodyPr>
          <a:lstStyle/>
          <a:p>
            <a:pPr algn="l"/>
            <a:r>
              <a:rPr sz="1600" b="0" i="0">
                <a:solidFill>
                  <a:srgbClr val="E5E7EB"/>
                </a:solidFill>
                <a:latin typeface="Consolas"/>
              </a:rPr>
              <a:t>FP16   smallest split that fits: TP=8</a:t>
            </a:r>
          </a:p>
          <a:p>
            <a:pPr algn="l"/>
            <a:r>
              <a:rPr sz="1600" b="0" i="0">
                <a:solidFill>
                  <a:srgbClr val="E5E7EB"/>
                </a:solidFill>
                <a:latin typeface="Consolas"/>
              </a:rPr>
              <a:t>FP8    smallest split that fits: TP=4</a:t>
            </a:r>
          </a:p>
          <a:p>
            <a:pPr algn="l"/>
            <a:r>
              <a:rPr sz="1600" b="0" i="0">
                <a:solidFill>
                  <a:srgbClr val="E5E7EB"/>
                </a:solidFill>
                <a:latin typeface="Consolas"/>
              </a:rPr>
              <a:t>4-bit  smallest split that fits: TP=2</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Fewer bytes per weight means fewer GPUs</a:t>
            </a:r>
          </a:p>
          <a:p>
            <a:pPr>
              <a:spcAft>
                <a:spcPts val="1000"/>
              </a:spcAft>
            </a:pPr>
            <a:r>
              <a:rPr sz="1300">
                <a:solidFill>
                  <a:srgbClr val="1D4ED8"/>
                </a:solidFill>
                <a:latin typeface="Calibri"/>
              </a:rPr>
              <a:t>●  </a:t>
            </a:r>
            <a:r>
              <a:rPr sz="1900">
                <a:solidFill>
                  <a:srgbClr val="1F2933"/>
                </a:solidFill>
                <a:latin typeface="Calibri"/>
              </a:rPr>
              <a:t>The loop takes the first degree with room left</a:t>
            </a:r>
          </a:p>
          <a:p>
            <a:pPr>
              <a:spcAft>
                <a:spcPts val="1000"/>
              </a:spcAft>
            </a:pPr>
            <a:r>
              <a:rPr sz="1300">
                <a:solidFill>
                  <a:srgbClr val="1D4ED8"/>
                </a:solidFill>
                <a:latin typeface="Calibri"/>
              </a:rPr>
              <a:t>●  </a:t>
            </a:r>
            <a:r>
              <a:rPr sz="1900">
                <a:solidFill>
                  <a:srgbClr val="1F2933"/>
                </a:solidFill>
                <a:latin typeface="Calibri"/>
              </a:rPr>
              <a:t>plan() is defined on the next slide</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plan() splits the weights and reports the room</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554480"/>
            <a:ext cx="7315200" cy="1737360"/>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975103"/>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231136"/>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463040"/>
          </a:xfrm>
          <a:prstGeom prst="rect">
            <a:avLst/>
          </a:prstGeom>
          <a:noFill/>
        </p:spPr>
        <p:txBody>
          <a:bodyPr wrap="none" lIns="0" rIns="0" tIns="0" bIns="0">
            <a:noAutofit/>
          </a:bodyPr>
          <a:lstStyle/>
          <a:p>
            <a:pPr algn="l">
              <a:lnSpc>
                <a:spcPct val="112000"/>
              </a:lnSpc>
            </a:pPr>
            <a:r>
              <a:rPr sz="1500" b="1" i="0">
                <a:solidFill>
                  <a:srgbClr val="1D4ED8"/>
                </a:solidFill>
                <a:latin typeface="Consolas"/>
              </a:rPr>
              <a:t>def</a:t>
            </a:r>
            <a:r>
              <a:rPr sz="1500" b="0" i="0">
                <a:solidFill>
                  <a:srgbClr val="1F2933"/>
                </a:solidFill>
                <a:latin typeface="Consolas"/>
              </a:rPr>
              <a:t> </a:t>
            </a:r>
            <a:r>
              <a:rPr sz="1500" b="1" i="0">
                <a:solidFill>
                  <a:srgbClr val="1F2933"/>
                </a:solidFill>
                <a:latin typeface="Consolas"/>
              </a:rPr>
              <a:t>plan</a:t>
            </a:r>
            <a:r>
              <a:rPr sz="1500" b="0" i="0">
                <a:solidFill>
                  <a:srgbClr val="1F2933"/>
                </a:solidFill>
                <a:latin typeface="Consolas"/>
              </a:rPr>
              <a:t>(bytes_per_param, tp):</a:t>
            </a:r>
          </a:p>
          <a:p>
            <a:pPr algn="l">
              <a:lnSpc>
                <a:spcPct val="112000"/>
              </a:lnSpc>
            </a:pPr>
            <a:r>
              <a:rPr sz="1500" b="0" i="0">
                <a:solidFill>
                  <a:srgbClr val="1F2933"/>
                </a:solidFill>
                <a:latin typeface="Consolas"/>
              </a:rPr>
              <a:t>    weights_per_gpu = PARAMS_70B * bytes_per_param / tp</a:t>
            </a:r>
          </a:p>
          <a:p>
            <a:pPr algn="l">
              <a:lnSpc>
                <a:spcPct val="112000"/>
              </a:lnSpc>
            </a:pPr>
            <a:r>
              <a:rPr sz="1500" b="0" i="0">
                <a:solidFill>
                  <a:srgbClr val="1F2933"/>
                </a:solidFill>
                <a:latin typeface="Consolas"/>
              </a:rPr>
              <a:t>    room = L4_USABLE - weights_per_gpu</a:t>
            </a:r>
          </a:p>
          <a:p>
            <a:pPr algn="l">
              <a:lnSpc>
                <a:spcPct val="112000"/>
              </a:lnSpc>
            </a:pPr>
            <a:r>
              <a:rPr sz="1500" b="0" i="0">
                <a:solidFill>
                  <a:srgbClr val="1F2933"/>
                </a:solidFill>
                <a:latin typeface="Consolas"/>
              </a:rPr>
              <a:t>    kv_tokens = room * tp / KV_PER_TOKEN </a:t>
            </a:r>
            <a:r>
              <a:rPr sz="1500" b="1" i="0">
                <a:solidFill>
                  <a:srgbClr val="1D4ED8"/>
                </a:solidFill>
                <a:latin typeface="Consolas"/>
              </a:rPr>
              <a:t>if</a:t>
            </a:r>
            <a:r>
              <a:rPr sz="1500" b="0" i="0">
                <a:solidFill>
                  <a:srgbClr val="1F2933"/>
                </a:solidFill>
                <a:latin typeface="Consolas"/>
              </a:rPr>
              <a:t> room &gt; </a:t>
            </a:r>
            <a:r>
              <a:rPr sz="1500" b="0" i="0">
                <a:solidFill>
                  <a:srgbClr val="C2410C"/>
                </a:solidFill>
                <a:latin typeface="Consolas"/>
              </a:rPr>
              <a:t>0</a:t>
            </a:r>
            <a:r>
              <a:rPr sz="1500" b="0" i="0">
                <a:solidFill>
                  <a:srgbClr val="1F2933"/>
                </a:solidFill>
                <a:latin typeface="Consolas"/>
              </a:rPr>
              <a:t> </a:t>
            </a:r>
            <a:r>
              <a:rPr sz="1500" b="1" i="0">
                <a:solidFill>
                  <a:srgbClr val="1D4ED8"/>
                </a:solidFill>
                <a:latin typeface="Consolas"/>
              </a:rPr>
              <a:t>else</a:t>
            </a:r>
            <a:r>
              <a:rPr sz="1500" b="0" i="0">
                <a:solidFill>
                  <a:srgbClr val="1F2933"/>
                </a:solidFill>
                <a:latin typeface="Consolas"/>
              </a:rPr>
              <a:t> </a:t>
            </a:r>
            <a:r>
              <a:rPr sz="1500" b="0" i="0">
                <a:solidFill>
                  <a:srgbClr val="C2410C"/>
                </a:solidFill>
                <a:latin typeface="Consolas"/>
              </a:rPr>
              <a:t>0</a:t>
            </a:r>
          </a:p>
          <a:p>
            <a:pPr algn="l">
              <a:lnSpc>
                <a:spcPct val="112000"/>
              </a:lnSpc>
            </a:pPr>
            <a:r>
              <a:rPr sz="1500" b="0" i="0">
                <a:solidFill>
                  <a:srgbClr val="1F2933"/>
                </a:solidFill>
                <a:latin typeface="Consolas"/>
              </a:rPr>
              <a:t>    </a:t>
            </a:r>
            <a:r>
              <a:rPr sz="1500" b="1" i="0">
                <a:solidFill>
                  <a:srgbClr val="1D4ED8"/>
                </a:solidFill>
                <a:latin typeface="Consolas"/>
              </a:rPr>
              <a:t>return</a:t>
            </a:r>
            <a:r>
              <a:rPr sz="1500" b="0" i="0">
                <a:solidFill>
                  <a:srgbClr val="1F2933"/>
                </a:solidFill>
                <a:latin typeface="Consolas"/>
              </a:rPr>
              <a:t> weights_per_gpu, room, kv_tokens</a:t>
            </a:r>
          </a:p>
        </p:txBody>
      </p:sp>
      <p:sp>
        <p:nvSpPr>
          <p:cNvPr id="9" name="TextBox 8"/>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Weights per GPU: the total over the degree</a:t>
            </a:r>
          </a:p>
          <a:p>
            <a:pPr>
              <a:spcAft>
                <a:spcPts val="1000"/>
              </a:spcAft>
            </a:pPr>
            <a:r>
              <a:rPr sz="1300">
                <a:solidFill>
                  <a:srgbClr val="1D4ED8"/>
                </a:solidFill>
                <a:latin typeface="Calibri"/>
              </a:rPr>
              <a:t>●  </a:t>
            </a:r>
            <a:r>
              <a:rPr sz="1900">
                <a:solidFill>
                  <a:srgbClr val="1F2933"/>
                </a:solidFill>
                <a:latin typeface="Calibri"/>
              </a:rPr>
              <a:t>Room: usable memory minus those weights</a:t>
            </a:r>
          </a:p>
          <a:p>
            <a:pPr>
              <a:spcAft>
                <a:spcPts val="1000"/>
              </a:spcAft>
            </a:pPr>
            <a:r>
              <a:rPr sz="1300">
                <a:solidFill>
                  <a:srgbClr val="1D4ED8"/>
                </a:solidFill>
                <a:latin typeface="Calibri"/>
              </a:rPr>
              <a:t>●  </a:t>
            </a:r>
            <a:r>
              <a:rPr sz="1900">
                <a:solidFill>
                  <a:srgbClr val="1F2933"/>
                </a:solidFill>
                <a:latin typeface="Calibri"/>
              </a:rPr>
              <a:t>Cache tokens: room times the degree, per byte</a:t>
            </a:r>
          </a:p>
        </p:txBody>
      </p:sp>
      <p:sp>
        <p:nvSpPr>
          <p:cNvPr id="10" name="TextBox 9"/>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Quantization is rounding weights to fewer bits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Rounding prices</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Prices kept to the nearest 5 cents, plus one step note.</a:t>
            </a:r>
          </a:p>
        </p:txBody>
      </p:sp>
      <p:sp>
        <p:nvSpPr>
          <p:cNvPr id="9" name="Rounded Rectangle 8"/>
          <p:cNvSpPr/>
          <p:nvPr/>
        </p:nvSpPr>
        <p:spPr>
          <a:xfrm>
            <a:off x="6428232" y="1828800"/>
            <a:ext cx="5120640" cy="30175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1D4ED8"/>
                </a:solidFill>
                <a:latin typeface="Calibri"/>
              </a:rPr>
              <a:t>Quantization</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Weights or a KV cache kept as small numbers, plus a scale.</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1D4ED8"/>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rounded cents barely matter; rounded weights can change answers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Fewer bits per weight, with one shared scale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508760"/>
            <a:ext cx="10908792" cy="14173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Quantization stores each weight with fewer bits, and a group of weights shares one scale.</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1D4ED8"/>
                </a:solidFill>
                <a:latin typeface="Calibri"/>
              </a:rPr>
              <a:t>Format</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Bytes per number, weights or KV cache: 2 FP16, 1 FP8, about 0.5 INT4</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1D4ED8"/>
                </a:solidFill>
                <a:latin typeface="Calibri"/>
              </a:rPr>
              <a:t>Scale</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One shared number per group of weights</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1D4ED8"/>
                </a:solidFill>
                <a:latin typeface="Calibri"/>
              </a:rPr>
              <a:t>Data-free</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Rounds from the model file alone</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1D4ED8"/>
                </a:solidFill>
                <a:latin typeface="Calibri"/>
              </a:rPr>
              <a:t>Calibration</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Sample texts run first (AWQ, GPTQ)</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70B in FP8: about 66 GiB (ideal), so TP=4 fits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Measure the saved file, not the ideal arithmetic</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554480"/>
            <a:ext cx="7315200" cy="260786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3391814"/>
            <a:ext cx="7168896" cy="275539"/>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2333548"/>
          </a:xfrm>
          <a:prstGeom prst="rect">
            <a:avLst/>
          </a:prstGeom>
          <a:noFill/>
        </p:spPr>
        <p:txBody>
          <a:bodyPr wrap="none" lIns="0" rIns="0" tIns="0" bIns="0">
            <a:noAutofit/>
          </a:bodyPr>
          <a:lstStyle/>
          <a:p>
            <a:pPr algn="l">
              <a:lnSpc>
                <a:spcPct val="112000"/>
              </a:lnSpc>
            </a:pPr>
            <a:r>
              <a:rPr sz="1400" b="1" i="0">
                <a:solidFill>
                  <a:srgbClr val="1D4ED8"/>
                </a:solidFill>
                <a:latin typeface="Consolas"/>
              </a:rPr>
              <a:t>def</a:t>
            </a:r>
            <a:r>
              <a:rPr sz="1400" b="0" i="0">
                <a:solidFill>
                  <a:srgbClr val="1F2933"/>
                </a:solidFill>
                <a:latin typeface="Consolas"/>
              </a:rPr>
              <a:t> </a:t>
            </a:r>
            <a:r>
              <a:rPr sz="1400" b="1" i="0">
                <a:solidFill>
                  <a:srgbClr val="1F2933"/>
                </a:solidFill>
                <a:latin typeface="Consolas"/>
              </a:rPr>
              <a:t>read_sizes</a:t>
            </a:r>
            <a:r>
              <a:rPr sz="1400" b="0" i="0">
                <a:solidFill>
                  <a:srgbClr val="1F2933"/>
                </a:solidFill>
                <a:latin typeface="Consolas"/>
              </a:rPr>
              <a:t>(folder):</a:t>
            </a:r>
          </a:p>
          <a:p>
            <a:pPr algn="l">
              <a:lnSpc>
                <a:spcPct val="112000"/>
              </a:lnSpc>
            </a:pPr>
            <a:r>
              <a:rPr sz="1400" b="0" i="0">
                <a:solidFill>
                  <a:srgbClr val="1F2933"/>
                </a:solidFill>
                <a:latin typeface="Consolas"/>
              </a:rPr>
              <a:t>    total = linear = </a:t>
            </a:r>
            <a:r>
              <a:rPr sz="1400" b="0" i="0">
                <a:solidFill>
                  <a:srgbClr val="C2410C"/>
                </a:solidFill>
                <a:latin typeface="Consolas"/>
              </a:rPr>
              <a:t>0</a:t>
            </a:r>
          </a:p>
          <a:p>
            <a:pPr algn="l">
              <a:lnSpc>
                <a:spcPct val="112000"/>
              </a:lnSpc>
            </a:pPr>
            <a:r>
              <a:rPr sz="1400" b="0" i="0">
                <a:solidFill>
                  <a:srgbClr val="1F2933"/>
                </a:solidFill>
                <a:latin typeface="Consolas"/>
              </a:rPr>
              <a:t>    </a:t>
            </a:r>
            <a:r>
              <a:rPr sz="1400" b="1" i="0">
                <a:solidFill>
                  <a:srgbClr val="1D4ED8"/>
                </a:solidFill>
                <a:latin typeface="Consolas"/>
              </a:rPr>
              <a:t>with</a:t>
            </a:r>
            <a:r>
              <a:rPr sz="1400" b="0" i="0">
                <a:solidFill>
                  <a:srgbClr val="1F2933"/>
                </a:solidFill>
                <a:latin typeface="Consolas"/>
              </a:rPr>
              <a:t> safe_open(folder / </a:t>
            </a:r>
            <a:r>
              <a:rPr sz="1400" b="0" i="0">
                <a:solidFill>
                  <a:srgbClr val="B45309"/>
                </a:solidFill>
                <a:latin typeface="Consolas"/>
              </a:rPr>
              <a:t>"model.safetensors"</a:t>
            </a:r>
            <a:r>
              <a:rPr sz="1400" b="0" i="0">
                <a:solidFill>
                  <a:srgbClr val="1F2933"/>
                </a:solidFill>
                <a:latin typeface="Consolas"/>
              </a:rPr>
              <a:t>, </a:t>
            </a:r>
            <a:r>
              <a:rPr sz="1400" b="0" i="0">
                <a:solidFill>
                  <a:srgbClr val="B45309"/>
                </a:solidFill>
                <a:latin typeface="Consolas"/>
              </a:rPr>
              <a:t>"pt"</a:t>
            </a:r>
            <a:r>
              <a:rPr sz="1400" b="0" i="0">
                <a:solidFill>
                  <a:srgbClr val="1F2933"/>
                </a:solidFill>
                <a:latin typeface="Consolas"/>
              </a:rPr>
              <a:t>) </a:t>
            </a:r>
            <a:r>
              <a:rPr sz="1400" b="1" i="0">
                <a:solidFill>
                  <a:srgbClr val="1D4ED8"/>
                </a:solidFill>
                <a:latin typeface="Consolas"/>
              </a:rPr>
              <a:t>as</a:t>
            </a:r>
            <a:r>
              <a:rPr sz="1400" b="0" i="0">
                <a:solidFill>
                  <a:srgbClr val="1F2933"/>
                </a:solidFill>
                <a:latin typeface="Consolas"/>
              </a:rPr>
              <a:t> f:</a:t>
            </a:r>
          </a:p>
          <a:p>
            <a:pPr algn="l">
              <a:lnSpc>
                <a:spcPct val="112000"/>
              </a:lnSpc>
            </a:pPr>
            <a:r>
              <a:rPr sz="1400" b="0" i="0">
                <a:solidFill>
                  <a:srgbClr val="1F2933"/>
                </a:solidFill>
                <a:latin typeface="Consolas"/>
              </a:rPr>
              <a:t>        </a:t>
            </a:r>
            <a:r>
              <a:rPr sz="1400" b="1" i="0">
                <a:solidFill>
                  <a:srgbClr val="1D4ED8"/>
                </a:solidFill>
                <a:latin typeface="Consolas"/>
              </a:rPr>
              <a:t>for</a:t>
            </a:r>
            <a:r>
              <a:rPr sz="1400" b="0" i="0">
                <a:solidFill>
                  <a:srgbClr val="1F2933"/>
                </a:solidFill>
                <a:latin typeface="Consolas"/>
              </a:rPr>
              <a:t> key </a:t>
            </a:r>
            <a:r>
              <a:rPr sz="1400" b="1" i="0">
                <a:solidFill>
                  <a:srgbClr val="1D4ED8"/>
                </a:solidFill>
                <a:latin typeface="Consolas"/>
              </a:rPr>
              <a:t>in</a:t>
            </a:r>
            <a:r>
              <a:rPr sz="1400" b="0" i="0">
                <a:solidFill>
                  <a:srgbClr val="1F2933"/>
                </a:solidFill>
                <a:latin typeface="Consolas"/>
              </a:rPr>
              <a:t> f.keys():</a:t>
            </a:r>
          </a:p>
          <a:p>
            <a:pPr algn="l">
              <a:lnSpc>
                <a:spcPct val="112000"/>
              </a:lnSpc>
            </a:pPr>
            <a:r>
              <a:rPr sz="1400" b="0" i="0">
                <a:solidFill>
                  <a:srgbClr val="1F2933"/>
                </a:solidFill>
                <a:latin typeface="Consolas"/>
              </a:rPr>
              <a:t>            t = f.get_tensor(key)</a:t>
            </a:r>
          </a:p>
          <a:p>
            <a:pPr algn="l">
              <a:lnSpc>
                <a:spcPct val="112000"/>
              </a:lnSpc>
            </a:pPr>
            <a:r>
              <a:rPr sz="1400" b="0" i="0">
                <a:solidFill>
                  <a:srgbClr val="1F2933"/>
                </a:solidFill>
                <a:latin typeface="Consolas"/>
              </a:rPr>
              <a:t>            size = t.numel() * t.element_size()</a:t>
            </a:r>
          </a:p>
          <a:p>
            <a:pPr algn="l">
              <a:lnSpc>
                <a:spcPct val="112000"/>
              </a:lnSpc>
            </a:pPr>
            <a:r>
              <a:rPr sz="1400" b="0" i="0">
                <a:solidFill>
                  <a:srgbClr val="1F2933"/>
                </a:solidFill>
                <a:latin typeface="Consolas"/>
              </a:rPr>
              <a:t>            total += size</a:t>
            </a:r>
          </a:p>
          <a:p>
            <a:pPr algn="l">
              <a:lnSpc>
                <a:spcPct val="112000"/>
              </a:lnSpc>
            </a:pPr>
            <a:r>
              <a:rPr sz="1400" b="0" i="0">
                <a:solidFill>
                  <a:srgbClr val="1F2933"/>
                </a:solidFill>
                <a:latin typeface="Consolas"/>
              </a:rPr>
              <a:t>            linear += size </a:t>
            </a:r>
            <a:r>
              <a:rPr sz="1400" b="1" i="0">
                <a:solidFill>
                  <a:srgbClr val="1D4ED8"/>
                </a:solidFill>
                <a:latin typeface="Consolas"/>
              </a:rPr>
              <a:t>if</a:t>
            </a:r>
            <a:r>
              <a:rPr sz="1400" b="0" i="0">
                <a:solidFill>
                  <a:srgbClr val="1F2933"/>
                </a:solidFill>
                <a:latin typeface="Consolas"/>
              </a:rPr>
              <a:t> </a:t>
            </a:r>
            <a:r>
              <a:rPr sz="1400" b="0" i="0">
                <a:solidFill>
                  <a:srgbClr val="B45309"/>
                </a:solidFill>
                <a:latin typeface="Consolas"/>
              </a:rPr>
              <a:t>"_proj"</a:t>
            </a:r>
            <a:r>
              <a:rPr sz="1400" b="0" i="0">
                <a:solidFill>
                  <a:srgbClr val="1F2933"/>
                </a:solidFill>
                <a:latin typeface="Consolas"/>
              </a:rPr>
              <a:t> </a:t>
            </a:r>
            <a:r>
              <a:rPr sz="1400" b="1" i="0">
                <a:solidFill>
                  <a:srgbClr val="1D4ED8"/>
                </a:solidFill>
                <a:latin typeface="Consolas"/>
              </a:rPr>
              <a:t>in</a:t>
            </a:r>
            <a:r>
              <a:rPr sz="1400" b="0" i="0">
                <a:solidFill>
                  <a:srgbClr val="1F2933"/>
                </a:solidFill>
                <a:latin typeface="Consolas"/>
              </a:rPr>
              <a:t> key </a:t>
            </a:r>
            <a:r>
              <a:rPr sz="1400" b="1" i="0">
                <a:solidFill>
                  <a:srgbClr val="1D4ED8"/>
                </a:solidFill>
                <a:latin typeface="Consolas"/>
              </a:rPr>
              <a:t>else</a:t>
            </a:r>
            <a:r>
              <a:rPr sz="1400" b="0" i="0">
                <a:solidFill>
                  <a:srgbClr val="1F2933"/>
                </a:solidFill>
                <a:latin typeface="Consolas"/>
              </a:rPr>
              <a:t> </a:t>
            </a:r>
            <a:r>
              <a:rPr sz="1400" b="0" i="0">
                <a:solidFill>
                  <a:srgbClr val="C2410C"/>
                </a:solidFill>
                <a:latin typeface="Consolas"/>
              </a:rPr>
              <a:t>0</a:t>
            </a:r>
          </a:p>
          <a:p>
            <a:pPr algn="l">
              <a:lnSpc>
                <a:spcPct val="112000"/>
              </a:lnSpc>
            </a:pPr>
            <a:r>
              <a:rPr sz="1400" b="0" i="0">
                <a:solidFill>
                  <a:srgbClr val="1F2933"/>
                </a:solidFill>
                <a:latin typeface="Consolas"/>
              </a:rPr>
              <a:t>    </a:t>
            </a:r>
            <a:r>
              <a:rPr sz="1400" b="1" i="0">
                <a:solidFill>
                  <a:srgbClr val="1D4ED8"/>
                </a:solidFill>
                <a:latin typeface="Consolas"/>
              </a:rPr>
              <a:t>return</a:t>
            </a:r>
            <a:r>
              <a:rPr sz="1400" b="0" i="0">
                <a:solidFill>
                  <a:srgbClr val="1F2933"/>
                </a:solidFill>
                <a:latin typeface="Consolas"/>
              </a:rPr>
              <a:t> total, linear</a:t>
            </a:r>
          </a:p>
        </p:txBody>
      </p:sp>
      <p:sp>
        <p:nvSpPr>
          <p:cNvPr id="8" name="TextBox 7"/>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Linear layers are the tensors named *_proj</a:t>
            </a:r>
          </a:p>
          <a:p>
            <a:pPr>
              <a:spcAft>
                <a:spcPts val="1000"/>
              </a:spcAft>
            </a:pPr>
            <a:r>
              <a:rPr sz="1300">
                <a:solidFill>
                  <a:srgbClr val="1D4ED8"/>
                </a:solidFill>
                <a:latin typeface="Calibri"/>
              </a:rPr>
              <a:t>●  </a:t>
            </a:r>
            <a:r>
              <a:rPr sz="1900">
                <a:solidFill>
                  <a:srgbClr val="1F2933"/>
                </a:solidFill>
                <a:latin typeface="Calibri"/>
              </a:rPr>
              <a:t>In the lesson's small model, INT8 and FP8 files are 0.70 of FP16, not 0.50</a:t>
            </a:r>
          </a:p>
          <a:p>
            <a:pPr>
              <a:spcAft>
                <a:spcPts val="1000"/>
              </a:spcAft>
            </a:pPr>
            <a:r>
              <a:rPr sz="1300">
                <a:solidFill>
                  <a:srgbClr val="1D4ED8"/>
                </a:solidFill>
                <a:latin typeface="Calibri"/>
              </a:rPr>
              <a:t>●  </a:t>
            </a:r>
            <a:r>
              <a:rPr sz="1900">
                <a:solidFill>
                  <a:srgbClr val="1F2933"/>
                </a:solidFill>
                <a:latin typeface="Calibri"/>
              </a:rPr>
              <a:t>Embedding and output head stay full size</a:t>
            </a:r>
          </a:p>
        </p:txBody>
      </p:sp>
      <p:sp>
        <p:nvSpPr>
          <p:cNvPr id="9" name="TextBox 8"/>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Memory holds the stock, bandwidth sets the speed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warehouse</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Floor space holds stock; forklift speed sets how fast orders ship.</a:t>
            </a:r>
          </a:p>
        </p:txBody>
      </p:sp>
      <p:sp>
        <p:nvSpPr>
          <p:cNvPr id="9" name="Rounded Rectangle 8"/>
          <p:cNvSpPr/>
          <p:nvPr/>
        </p:nvSpPr>
        <p:spPr>
          <a:xfrm>
            <a:off x="6428232" y="1828800"/>
            <a:ext cx="5120640" cy="30175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1D4ED8"/>
                </a:solidFill>
                <a:latin typeface="Calibri"/>
              </a:rPr>
              <a:t>GPU memory</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Memory holds weights and cache; bandwidth sets speed.</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1D4ED8"/>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warehouse keeps no per-order copy; a GPU keeps each request's cache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Pick the smallest group that fits, then compare prices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508760"/>
            <a:ext cx="10908792" cy="14173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The cheapest option is the lowest price for the smallest group that fits, with room left for the cache.</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Memory</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Whether weights fit, and cache room left</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Bandwidth</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Decode floor: the fastest one token can be read from memory</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Group</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Fewest cards that hold weights, with cache room left</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8B FP16 decode floor: 53.3 ms on L4, 3.3 ms on H200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Weights set the group; room is what is left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554480"/>
            <a:ext cx="7315200" cy="2249424"/>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487168"/>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999232"/>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975103"/>
          </a:xfrm>
          <a:prstGeom prst="rect">
            <a:avLst/>
          </a:prstGeom>
          <a:noFill/>
        </p:spPr>
        <p:txBody>
          <a:bodyPr wrap="none" lIns="0" rIns="0" tIns="0" bIns="0">
            <a:noAutofit/>
          </a:bodyPr>
          <a:lstStyle/>
          <a:p>
            <a:pPr algn="l">
              <a:lnSpc>
                <a:spcPct val="112000"/>
              </a:lnSpc>
            </a:pPr>
            <a:r>
              <a:rPr sz="1500" b="1" i="0">
                <a:solidFill>
                  <a:srgbClr val="1D4ED8"/>
                </a:solidFill>
                <a:latin typeface="Consolas"/>
              </a:rPr>
              <a:t>def</a:t>
            </a:r>
            <a:r>
              <a:rPr sz="1500" b="0" i="0">
                <a:solidFill>
                  <a:srgbClr val="1F2933"/>
                </a:solidFill>
                <a:latin typeface="Consolas"/>
              </a:rPr>
              <a:t> </a:t>
            </a:r>
            <a:r>
              <a:rPr sz="1500" b="1" i="0">
                <a:solidFill>
                  <a:srgbClr val="1F2933"/>
                </a:solidFill>
                <a:latin typeface="Consolas"/>
              </a:rPr>
              <a:t>smallest_group</a:t>
            </a:r>
            <a:r>
              <a:rPr sz="1500" b="0" i="0">
                <a:solidFill>
                  <a:srgbClr val="1F2933"/>
                </a:solidFill>
                <a:latin typeface="Consolas"/>
              </a:rPr>
              <a:t>(name, bytes_per_param):</a:t>
            </a:r>
          </a:p>
          <a:p>
            <a:pPr algn="l">
              <a:lnSpc>
                <a:spcPct val="112000"/>
              </a:lnSpc>
            </a:pPr>
            <a:r>
              <a:rPr sz="1500" b="0" i="0">
                <a:solidFill>
                  <a:srgbClr val="1F2933"/>
                </a:solidFill>
                <a:latin typeface="Consolas"/>
              </a:rPr>
              <a:t>    usable = GPUS[name][</a:t>
            </a:r>
            <a:r>
              <a:rPr sz="1500" b="0" i="0">
                <a:solidFill>
                  <a:srgbClr val="B45309"/>
                </a:solidFill>
                <a:latin typeface="Consolas"/>
              </a:rPr>
              <a:t>"mem_gb"</a:t>
            </a:r>
            <a:r>
              <a:rPr sz="1500" b="0" i="0">
                <a:solidFill>
                  <a:srgbClr val="1F2933"/>
                </a:solidFill>
                <a:latin typeface="Consolas"/>
              </a:rPr>
              <a:t>] * </a:t>
            </a:r>
            <a:r>
              <a:rPr sz="1500" b="0" i="0">
                <a:solidFill>
                  <a:srgbClr val="C2410C"/>
                </a:solidFill>
                <a:latin typeface="Consolas"/>
              </a:rPr>
              <a:t>1e9</a:t>
            </a:r>
            <a:r>
              <a:rPr sz="1500" b="0" i="0">
                <a:solidFill>
                  <a:srgbClr val="1F2933"/>
                </a:solidFill>
                <a:latin typeface="Consolas"/>
              </a:rPr>
              <a:t> * UTIL</a:t>
            </a:r>
          </a:p>
          <a:p>
            <a:pPr algn="l">
              <a:lnSpc>
                <a:spcPct val="112000"/>
              </a:lnSpc>
            </a:pPr>
            <a:r>
              <a:rPr sz="1500" b="0" i="0">
                <a:solidFill>
                  <a:srgbClr val="1F2933"/>
                </a:solidFill>
                <a:latin typeface="Consolas"/>
              </a:rPr>
              <a:t>    </a:t>
            </a:r>
            <a:r>
              <a:rPr sz="1500" b="1" i="0">
                <a:solidFill>
                  <a:srgbClr val="1D4ED8"/>
                </a:solidFill>
                <a:latin typeface="Consolas"/>
              </a:rPr>
              <a:t>for</a:t>
            </a:r>
            <a:r>
              <a:rPr sz="1500" b="0" i="0">
                <a:solidFill>
                  <a:srgbClr val="1F2933"/>
                </a:solidFill>
                <a:latin typeface="Consolas"/>
              </a:rPr>
              <a:t> tp </a:t>
            </a:r>
            <a:r>
              <a:rPr sz="1500" b="1" i="0">
                <a:solidFill>
                  <a:srgbClr val="1D4ED8"/>
                </a:solidFill>
                <a:latin typeface="Consolas"/>
              </a:rPr>
              <a:t>in</a:t>
            </a:r>
            <a:r>
              <a:rPr sz="1500" b="0" i="0">
                <a:solidFill>
                  <a:srgbClr val="1F2933"/>
                </a:solidFill>
                <a:latin typeface="Consolas"/>
              </a:rPr>
              <a:t> (</a:t>
            </a:r>
            <a:r>
              <a:rPr sz="1500" b="0" i="0">
                <a:solidFill>
                  <a:srgbClr val="C2410C"/>
                </a:solidFill>
                <a:latin typeface="Consolas"/>
              </a:rPr>
              <a:t>1</a:t>
            </a:r>
            <a:r>
              <a:rPr sz="1500" b="0" i="0">
                <a:solidFill>
                  <a:srgbClr val="1F2933"/>
                </a:solidFill>
                <a:latin typeface="Consolas"/>
              </a:rPr>
              <a:t>, </a:t>
            </a:r>
            <a:r>
              <a:rPr sz="1500" b="0" i="0">
                <a:solidFill>
                  <a:srgbClr val="C2410C"/>
                </a:solidFill>
                <a:latin typeface="Consolas"/>
              </a:rPr>
              <a:t>2</a:t>
            </a:r>
            <a:r>
              <a:rPr sz="1500" b="0" i="0">
                <a:solidFill>
                  <a:srgbClr val="1F2933"/>
                </a:solidFill>
                <a:latin typeface="Consolas"/>
              </a:rPr>
              <a:t>, </a:t>
            </a:r>
            <a:r>
              <a:rPr sz="1500" b="0" i="0">
                <a:solidFill>
                  <a:srgbClr val="C2410C"/>
                </a:solidFill>
                <a:latin typeface="Consolas"/>
              </a:rPr>
              <a:t>4</a:t>
            </a:r>
            <a:r>
              <a:rPr sz="1500" b="0" i="0">
                <a:solidFill>
                  <a:srgbClr val="1F2933"/>
                </a:solidFill>
                <a:latin typeface="Consolas"/>
              </a:rPr>
              <a:t>, </a:t>
            </a:r>
            <a:r>
              <a:rPr sz="1500" b="0" i="0">
                <a:solidFill>
                  <a:srgbClr val="C2410C"/>
                </a:solidFill>
                <a:latin typeface="Consolas"/>
              </a:rPr>
              <a:t>8</a:t>
            </a:r>
            <a:r>
              <a:rPr sz="1500" b="0" i="0">
                <a:solidFill>
                  <a:srgbClr val="1F2933"/>
                </a:solidFill>
                <a:latin typeface="Consolas"/>
              </a:rPr>
              <a:t>):</a:t>
            </a:r>
          </a:p>
          <a:p>
            <a:pPr algn="l">
              <a:lnSpc>
                <a:spcPct val="112000"/>
              </a:lnSpc>
            </a:pPr>
            <a:r>
              <a:rPr sz="1500" b="0" i="0">
                <a:solidFill>
                  <a:srgbClr val="1F2933"/>
                </a:solidFill>
                <a:latin typeface="Consolas"/>
              </a:rPr>
              <a:t>        room = usable - PARAMS_70B * bytes_per_param / tp</a:t>
            </a:r>
          </a:p>
          <a:p>
            <a:pPr algn="l">
              <a:lnSpc>
                <a:spcPct val="112000"/>
              </a:lnSpc>
            </a:pPr>
            <a:r>
              <a:rPr sz="1500" b="0" i="0">
                <a:solidFill>
                  <a:srgbClr val="1F2933"/>
                </a:solidFill>
                <a:latin typeface="Consolas"/>
              </a:rPr>
              <a:t>        </a:t>
            </a:r>
            <a:r>
              <a:rPr sz="1500" b="1" i="0">
                <a:solidFill>
                  <a:srgbClr val="1D4ED8"/>
                </a:solidFill>
                <a:latin typeface="Consolas"/>
              </a:rPr>
              <a:t>if</a:t>
            </a:r>
            <a:r>
              <a:rPr sz="1500" b="0" i="0">
                <a:solidFill>
                  <a:srgbClr val="1F2933"/>
                </a:solidFill>
                <a:latin typeface="Consolas"/>
              </a:rPr>
              <a:t> room &gt; </a:t>
            </a:r>
            <a:r>
              <a:rPr sz="1500" b="0" i="0">
                <a:solidFill>
                  <a:srgbClr val="C2410C"/>
                </a:solidFill>
                <a:latin typeface="Consolas"/>
              </a:rPr>
              <a:t>0</a:t>
            </a:r>
            <a:r>
              <a:rPr sz="1500" b="0" i="0">
                <a:solidFill>
                  <a:srgbClr val="1F2933"/>
                </a:solidFill>
                <a:latin typeface="Consolas"/>
              </a:rPr>
              <a:t>:</a:t>
            </a:r>
          </a:p>
          <a:p>
            <a:pPr algn="l">
              <a:lnSpc>
                <a:spcPct val="112000"/>
              </a:lnSpc>
            </a:pPr>
            <a:r>
              <a:rPr sz="1500" b="0" i="0">
                <a:solidFill>
                  <a:srgbClr val="1F2933"/>
                </a:solidFill>
                <a:latin typeface="Consolas"/>
              </a:rPr>
              <a:t>            </a:t>
            </a:r>
            <a:r>
              <a:rPr sz="1500" b="1" i="0">
                <a:solidFill>
                  <a:srgbClr val="1D4ED8"/>
                </a:solidFill>
                <a:latin typeface="Consolas"/>
              </a:rPr>
              <a:t>return</a:t>
            </a:r>
            <a:r>
              <a:rPr sz="1500" b="0" i="0">
                <a:solidFill>
                  <a:srgbClr val="1F2933"/>
                </a:solidFill>
                <a:latin typeface="Consolas"/>
              </a:rPr>
              <a:t> tp, room</a:t>
            </a:r>
          </a:p>
          <a:p>
            <a:pPr algn="l">
              <a:lnSpc>
                <a:spcPct val="112000"/>
              </a:lnSpc>
            </a:pPr>
            <a:r>
              <a:rPr sz="1500" b="0" i="0">
                <a:solidFill>
                  <a:srgbClr val="1F2933"/>
                </a:solidFill>
                <a:latin typeface="Consolas"/>
              </a:rPr>
              <a:t>    </a:t>
            </a:r>
            <a:r>
              <a:rPr sz="1500" b="1" i="0">
                <a:solidFill>
                  <a:srgbClr val="1D4ED8"/>
                </a:solidFill>
                <a:latin typeface="Consolas"/>
              </a:rPr>
              <a:t>return</a:t>
            </a:r>
            <a:r>
              <a:rPr sz="1500" b="0" i="0">
                <a:solidFill>
                  <a:srgbClr val="1F2933"/>
                </a:solidFill>
                <a:latin typeface="Consolas"/>
              </a:rPr>
              <a:t> </a:t>
            </a:r>
            <a:r>
              <a:rPr sz="1500" b="1" i="0">
                <a:solidFill>
                  <a:srgbClr val="1D4ED8"/>
                </a:solidFill>
                <a:latin typeface="Consolas"/>
              </a:rPr>
              <a:t>None</a:t>
            </a:r>
            <a:r>
              <a:rPr sz="1500" b="0" i="0">
                <a:solidFill>
                  <a:srgbClr val="1F2933"/>
                </a:solidFill>
                <a:latin typeface="Consolas"/>
              </a:rPr>
              <a:t>, </a:t>
            </a:r>
            <a:r>
              <a:rPr sz="1500" b="1" i="0">
                <a:solidFill>
                  <a:srgbClr val="1D4ED8"/>
                </a:solidFill>
                <a:latin typeface="Consolas"/>
              </a:rPr>
              <a:t>None</a:t>
            </a:r>
          </a:p>
        </p:txBody>
      </p:sp>
      <p:sp>
        <p:nvSpPr>
          <p:cNvPr id="9" name="TextBox 8"/>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GPUS is the spec table: memory, bandwidth, FP8</a:t>
            </a:r>
          </a:p>
          <a:p>
            <a:pPr>
              <a:spcAft>
                <a:spcPts val="1000"/>
              </a:spcAft>
            </a:pPr>
            <a:r>
              <a:rPr sz="1300">
                <a:solidFill>
                  <a:srgbClr val="1D4ED8"/>
                </a:solidFill>
                <a:latin typeface="Calibri"/>
              </a:rPr>
              <a:t>●  </a:t>
            </a:r>
            <a:r>
              <a:rPr sz="1900">
                <a:solidFill>
                  <a:srgbClr val="1F2933"/>
                </a:solidFill>
                <a:latin typeface="Calibri"/>
              </a:rPr>
              <a:t>H100 80GB, FP16: TP=2, only 2.84 GiB room</a:t>
            </a:r>
          </a:p>
          <a:p>
            <a:pPr>
              <a:spcAft>
                <a:spcPts val="1000"/>
              </a:spcAft>
            </a:pPr>
            <a:r>
              <a:rPr sz="1300">
                <a:solidFill>
                  <a:srgbClr val="1D4ED8"/>
                </a:solidFill>
                <a:latin typeface="Calibri"/>
              </a:rPr>
              <a:t>●  </a:t>
            </a:r>
            <a:r>
              <a:rPr sz="1900">
                <a:solidFill>
                  <a:srgbClr val="1F2933"/>
                </a:solidFill>
                <a:latin typeface="Calibri"/>
              </a:rPr>
              <a:t>That is about 18,600 cache tokens for the group</a:t>
            </a:r>
          </a:p>
        </p:txBody>
      </p:sp>
      <p:sp>
        <p:nvSpPr>
          <p:cNvPr id="10" name="TextBox 9"/>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SLO gives three different fleets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645920"/>
            <a:ext cx="10908792"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flipH="1">
            <a:off x="1783080" y="2697480"/>
            <a:ext cx="4311396" cy="2011679"/>
          </a:xfrm>
          <a:prstGeom prst="line">
            <a:avLst/>
          </a:prstGeom>
          <a:ln w="19050">
            <a:solidFill>
              <a:srgbClr val="6183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822960" y="4709159"/>
            <a:ext cx="1920240" cy="6400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L4: FP8, TP=8, 4 replicas, 32 GPUs</a:t>
            </a:r>
          </a:p>
        </p:txBody>
      </p:sp>
      <p:cxnSp>
        <p:nvCxnSpPr>
          <p:cNvPr id="8" name="Connector 7"/>
          <p:cNvCxnSpPr/>
          <p:nvPr/>
        </p:nvCxnSpPr>
        <p:spPr>
          <a:xfrm>
            <a:off x="6094476" y="2697480"/>
            <a:ext cx="0" cy="2011679"/>
          </a:xfrm>
          <a:prstGeom prst="line">
            <a:avLst/>
          </a:prstGeom>
          <a:ln w="19050">
            <a:solidFill>
              <a:srgbClr val="6183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134356" y="4709159"/>
            <a:ext cx="1920240" cy="6400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H100: FP8, TP=2, 2 replicas, 4 GPUs</a:t>
            </a:r>
          </a:p>
        </p:txBody>
      </p:sp>
      <p:cxnSp>
        <p:nvCxnSpPr>
          <p:cNvPr id="10" name="Connector 9"/>
          <p:cNvCxnSpPr/>
          <p:nvPr/>
        </p:nvCxnSpPr>
        <p:spPr>
          <a:xfrm>
            <a:off x="6094476" y="2697480"/>
            <a:ext cx="4311396" cy="2011679"/>
          </a:xfrm>
          <a:prstGeom prst="line">
            <a:avLst/>
          </a:prstGeom>
          <a:ln w="19050">
            <a:solidFill>
              <a:srgbClr val="6183E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445752" y="4709159"/>
            <a:ext cx="1920240" cy="6400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H200: FP8, TP=1, 2 replicas, 2 GPUs</a:t>
            </a:r>
          </a:p>
        </p:txBody>
      </p:sp>
      <p:sp>
        <p:nvSpPr>
          <p:cNvPr id="12" name="Rounded Rectangle 11"/>
          <p:cNvSpPr/>
          <p:nvPr/>
        </p:nvSpPr>
        <p:spPr>
          <a:xfrm>
            <a:off x="4997196" y="2011680"/>
            <a:ext cx="2194560" cy="68580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600" b="1">
                <a:solidFill>
                  <a:srgbClr val="FFFFFF"/>
                </a:solidFill>
                <a:latin typeface="Calibri"/>
              </a:rPr>
              <a:t>Target: 6 req/s, first token in 0.5 s, 1,600-token prompt, 2 replicas minimum</a:t>
            </a:r>
          </a:p>
        </p:txBody>
      </p:sp>
      <p:sp>
        <p:nvSpPr>
          <p:cNvPr id="13" name="TextBox 12"/>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Ranked by GPU count, not price. Enter your prices.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Build path: from one card to a fleet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1</a:t>
            </a:r>
          </a:p>
        </p:txBody>
      </p:sp>
      <p:cxnSp>
        <p:nvCxnSpPr>
          <p:cNvPr id="8" name="Connector 7"/>
          <p:cNvCxnSpPr/>
          <p:nvPr/>
        </p:nvCxnSpPr>
        <p:spPr>
          <a:xfrm>
            <a:off x="1828800" y="2240280"/>
            <a:ext cx="1824228"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One card</a:t>
            </a:r>
          </a:p>
        </p:txBody>
      </p:sp>
      <p:sp>
        <p:nvSpPr>
          <p:cNvPr id="10" name="TextBox 9"/>
          <p:cNvSpPr txBox="1"/>
          <p:nvPr/>
        </p:nvSpPr>
        <p:spPr>
          <a:xfrm>
            <a:off x="914400"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Weights exceed 20.56 GiB</a:t>
            </a:r>
          </a:p>
        </p:txBody>
      </p:sp>
      <p:sp>
        <p:nvSpPr>
          <p:cNvPr id="11" name="Rounded Rectangle 10"/>
          <p:cNvSpPr/>
          <p:nvPr/>
        </p:nvSpPr>
        <p:spPr>
          <a:xfrm>
            <a:off x="3424428"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744468"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4468"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2</a:t>
            </a:r>
          </a:p>
        </p:txBody>
      </p:sp>
      <p:cxnSp>
        <p:nvCxnSpPr>
          <p:cNvPr id="14" name="Connector 13"/>
          <p:cNvCxnSpPr/>
          <p:nvPr/>
        </p:nvCxnSpPr>
        <p:spPr>
          <a:xfrm>
            <a:off x="4658868" y="2240280"/>
            <a:ext cx="1824228"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744468"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Split or shrink</a:t>
            </a:r>
          </a:p>
        </p:txBody>
      </p:sp>
      <p:sp>
        <p:nvSpPr>
          <p:cNvPr id="16" name="TextBox 15"/>
          <p:cNvSpPr txBox="1"/>
          <p:nvPr/>
        </p:nvSpPr>
        <p:spPr>
          <a:xfrm>
            <a:off x="3744468"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TP=8 at FP16, or TP=4 at FP8</a:t>
            </a:r>
          </a:p>
        </p:txBody>
      </p:sp>
      <p:sp>
        <p:nvSpPr>
          <p:cNvPr id="17" name="Rounded Rectangle 16"/>
          <p:cNvSpPr/>
          <p:nvPr/>
        </p:nvSpPr>
        <p:spPr>
          <a:xfrm>
            <a:off x="6254496"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74536"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36"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3</a:t>
            </a:r>
          </a:p>
        </p:txBody>
      </p:sp>
      <p:cxnSp>
        <p:nvCxnSpPr>
          <p:cNvPr id="20" name="Connector 19"/>
          <p:cNvCxnSpPr/>
          <p:nvPr/>
        </p:nvCxnSpPr>
        <p:spPr>
          <a:xfrm>
            <a:off x="7488936" y="2240280"/>
            <a:ext cx="1824227"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74536"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Measure</a:t>
            </a:r>
          </a:p>
        </p:txBody>
      </p:sp>
      <p:sp>
        <p:nvSpPr>
          <p:cNvPr id="22" name="TextBox 21"/>
          <p:cNvSpPr txBox="1"/>
          <p:nvPr/>
        </p:nvSpPr>
        <p:spPr>
          <a:xfrm>
            <a:off x="6574536"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All-reduces, quality, pipeline options</a:t>
            </a:r>
          </a:p>
        </p:txBody>
      </p:sp>
      <p:sp>
        <p:nvSpPr>
          <p:cNvPr id="23" name="Rounded Rectangle 22"/>
          <p:cNvSpPr/>
          <p:nvPr/>
        </p:nvSpPr>
        <p:spPr>
          <a:xfrm>
            <a:off x="9084563"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4604"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04604"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4</a:t>
            </a:r>
          </a:p>
        </p:txBody>
      </p:sp>
      <p:sp>
        <p:nvSpPr>
          <p:cNvPr id="26" name="TextBox 25"/>
          <p:cNvSpPr txBox="1"/>
          <p:nvPr/>
        </p:nvSpPr>
        <p:spPr>
          <a:xfrm>
            <a:off x="9404604"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Size the fleet</a:t>
            </a:r>
          </a:p>
        </p:txBody>
      </p:sp>
      <p:sp>
        <p:nvSpPr>
          <p:cNvPr id="27" name="TextBox 26"/>
          <p:cNvSpPr txBox="1"/>
          <p:nvPr/>
        </p:nvSpPr>
        <p:spPr>
          <a:xfrm>
            <a:off x="9404604"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Card, group, then replicas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before you size a GPU</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1D4ED8"/>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How many GPUs does FP16 70B need?</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1D4ED8"/>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Why does PCIe hurt prefill but not decode?</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1D4ED8"/>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Is a 2-point drop real?</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1D4ED8"/>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price changes your card choice?</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1D4ED8"/>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How much cache room per replica at peak?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Quantization, parallelism and hardware: fitting a 70B model</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