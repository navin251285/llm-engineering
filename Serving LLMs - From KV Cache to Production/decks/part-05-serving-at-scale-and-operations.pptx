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turns one model server into a fleet. Nine lessons, from a gateway in front of replicas to a rollout that can be rolled back. Every number in this deck is a run from one lesson's own notebook, and most of those runs use simulated replicas: no model ever answers. Lesson 29 ran live on the course machine, with its replicas simulated. The Docker tables in lessons 30, 33 and 37 are recorded runs of the same notebooks, and the eval gate in lesson 35 is a recorded run on the real vLLM engine. Each code or result slide says which kind it is. Start by asking the room how many model servers they run today, and whether any of them has ever failed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a hotel. Guests do not walk the corridors trying doors; they ask the front desk, which knows which rooms are free. Replicas are the rooms: identical copies of the same model server, each on its own GPU. In lesson 29 three simulated replicas stand behind one URL, and one of them is down. The desk does not clean the rooms or make them faster, and a gateway does not add capacity either. It chooses where each request goes. The analogy breaks when the desk must also know what each room already holds, which is the cache question that lesson 30 adds.</a:t>
            </a:r>
          </a:p>
          <a:p/>
          <a:p>
            <a:r>
              <a:t>From lessons: 29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exact definition is the lesson's own: a gateway is the single entry point in front of several identical replicas. Three jobs make it useful. It chooses a replica using a view of all the traffic, which no single app has. It retries a failed call on another replica and cools down a replica that keeps failing. And it hides the replica list, so a replica can be added or removed without touching any app. In the lesson's run the gateway is a LiteLLM proxy, configured with least-busy routing, two retries and a 30-second cooldown. The cost: one more hop, and one more component that must itself run twice.</a:t>
            </a:r>
          </a:p>
          <a:p/>
          <a:p>
            <a:r>
              <a:t>From lessons: 29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every app holds the replica list and picks one per request, so the links multiply. This picture has two apps and three replicas: six links, and two copies of the list, one in each app. The lesson's own fleet is larger: ten apps and four replicas make forty links and ten copies of the list that must be kept in step. None of the apps knows that another app is sending work to the same replica. Right: the apps see one URL and one model name, and the gateway holds the list and sees all the traffic. In the lesson's run the apps picked at random and sent a third of their traffic to replica b, which was down, so 40 of 120 requests failed. Ask the room: which of your apps keeps its own copy of a replica list today?</a:t>
            </a:r>
          </a:p>
          <a:p/>
          <a:p>
            <a:r>
              <a:t>From lessons: 29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lines are the lesson's own last cells. The first sends the same 120 requests through one gateway URL, and the second prints the table with both runs. Read the two rows. Without the gateway, 40 of 120 requests failed, and replica c, the slow one at 40 ms per token, answered 42 requests against a's 38. With the gateway all 120 answered and none failed. The faster replica a served 80 and c served 40, and the p95 wait fell from 10.3 s to 6.9 s. The gateway did not make c faster; it sent c less work, because c usually had calls in flight. This run was live on the course machine, but the replicas are simulated: the timing is measured, and no model ran.</a:t>
            </a:r>
          </a:p>
          <a:p/>
          <a:p>
            <a:r>
              <a:t>From lessons: 29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30 starts three simulated vLLM replicas in Docker Compose and sends the same 120 requests three ways. A block is 16 tokens of the prompt, and the prefix cache keeps the blocks already computed. Prefix-aware routing sends a request where its leading blocks are cached, the way the desk puts a group where its rooms are made up. Round-robin takes turns and ignores the prompt. Token budget sends the request to the replica with the fewest tokens in flight, counting prompt plus answer. The next slide shows the recorded results. Always read the hit rate next to the spread, because a rising hit rate with one idle replica is not a win.</a:t>
            </a:r>
          </a:p>
          <a:p/>
          <a:p>
            <a:r>
              <a:t>From lessons: 30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lesson's recorded table: the same 120 requests, each policy on the same three simulated replicas. Spread is the most requests minus the fewest that any one replica served; the lesson's own Try-it prints 0, 22 and 13. Round-robin is exactly even, with a 60 percent hit rate. Prefix-aware has the best hit rate, 84 percent, and the lowest p95, 2.09 seconds, but its counts are the least even. The lesson's guess for its misses: the cap that sends overflow to the lightest replica, and a cache of 200 blocks per replica that cannot hold three prompt families of 93 blocks each. Token-budget keeps counts closer than prefix-aware but hits only 58 percent. The p95 is simulated time, not measured vLLM latency.</a:t>
            </a:r>
          </a:p>
          <a:p/>
          <a:p>
            <a:r>
              <a:t>From lessons: 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restaurant with eight seats. When the room is full, the host says come back in ten minutes at the door, and guests do not wait an hour in a line inside. The engine does the same with a queue limit. The exact definition from lesson 33: a queue limit refuses a request with HTTP 503 while the engine's queue is full. The flag --max-num-queued-reqs sets it and counts running plus waiting requests. Example from the recorded run on the pinned image: twelve requests at once with a limit of 2 gave 2 answers and 10 refusals. Two traps: read the counter by its full name, with _total, and a 503 means the queue is full now, so a retry at once to the same replica meets the same full queue. The analogy breaks in one place: the host sees the whole room, but a replica sees only its own queue, so only the gateway can route the retry.</a:t>
            </a:r>
          </a:p>
          <a:p/>
          <a:p>
            <a:r>
              <a:t>From lessons: 33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 is lesson 33's send function, with the lines that count refusals and retries kept and the rest cut. The drill: 120 requests, 18 in flight, three simulated replicas, and r2 is stopped after 40 requests finish. Healthy: no refusals. Node loss: r1 and r3 each hold about nine requests against a limit of eight, so each refuses its ninth. That gives 8 refusals; five requests are rescued by a retry, and one uses all three tries and fails. Calls: 129 for 120 requests, because calls counts every try, retries included, so the nine extra calls are the retries. Recovered: r2 is back and nothing is refused. The counters agree with the client: 4 refusals on r1 and 4 on r3.</a:t>
            </a:r>
          </a:p>
          <a:p/>
          <a:p>
            <a:r>
              <a:t>From lessons: 33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31 scales replicas on the queue and the KV signals, not on GPU utilisation. GPU utilisation reads busy whenever the batch is full, so it cannot tell 5 waiting requests from 50, and vLLM keeps KV memory reserved whatever the load. The rule takes the largest replica count that each signal asks for, desired = ceil(current x value / target), and scales down only after a window. These are stand-in numbers in a simulation, not measurements: the arrivals, a 4-minute cold start, and six requests a minute per replica. In the burst, the utilisation rule gave 533 queue-minutes, the queue summed over simulated minutes, and a peak queue of 66. The queue and KV rule with the same cold start gave 212 and a peak of 56; with no cold start it gave 14. The cold start is mostly loading weights. A minimum of two replicas, in the lesson's Try-it, brought the cold-start figure to 120.</a:t>
            </a:r>
          </a:p>
          <a:p/>
          <a:p>
            <a:r>
              <a:t>From lessons: 31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kitchen that wants to change a recipe does not switch the whole menu at once. It cooks the new dish for a few tables, and the old recipe stays on the menu until the plates come back right. Lesson 35 does this with a model. Golden answers are the answers the stable version gives to a fixed set of cases, saved before the candidate starts. The gate runs the candidate on the same cases and checks its error rate and its agreement with the golden answers. Only then does a canary send 1%, then 5%, 25% and 100% of traffic, with a guard that reads the errors at each step. Rollback is a change of weights, not a redeploy, because the stable pool never stopped. The limit: a gate sees only its own cases.</a:t>
            </a:r>
          </a:p>
          <a:p/>
          <a:p>
            <a:r>
              <a:t>From lessons: 35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gate's error rule uses the lower end of the 95% Wilson interval, not the raw rate. With 20 cases, 4 errors is 20%, and the interval runs from 8% to 42%, far above the 1% budget, so the check fails. The agreement check passes: every served answer matches golden, 100% of 16. That is why the average over served answers is not enough. The candidate's context limit went from 2048 to 1600 tokens; the long cases needed more, so the engine refused them with HTTP 400, and those refusals have no answer to compare. The decision is roll back, and the rollout never starts. The code is the lesson's own wilson function, with the lines in the middle cut; the output is the lesson's recorded gate run on the pinned vLLM CPU image.</a:t>
            </a:r>
          </a:p>
          <a:p/>
          <a:p>
            <a:r>
              <a:t>From lessons: 35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32 packages the server as a pinned image, never latest, with its config taken from the environment and a startup probe long enough for the weights to load. A GPU pod asks for one GPU, selects it by node label and tolerates the GPU taint. Every manifest is checked offline with kubeconform before a cluster sees it. Lesson 34 splits prefill, which reads the prompt, from decode, which streams the answer. The prompt's KV cache moves once per request: 320 KiB per token for the 70B model, so about 500 MiB for the 1,600-token Brightside prompt. vLLM calls disaggregation experimental and says it does not improve throughput, so measure TTFT and p99 ITL first. Lesson 36 secures a shared endpoint. The --api-key flag covers only the /v1, /v2, /inference and /cohere paths, so /metrics stays open unless a proxy blocks it. A per-tenant cache_salt splits the prefix cache, and it is not a full isolation boundary. The log keeps counts and keyed hashes, never prompts.</a:t>
            </a:r>
          </a:p>
          <a:p/>
          <a:p>
            <a:r>
              <a:t>From lessons: 32, 34, 36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path, in the order the lessons build it. Start with one replica behind a gateway (29). Add routing that counts cache and tokens (30). Put a queue limit on each replica and count the refusals (33). Scale on the queue, allowing for the cold start (31). Gate every change on golden answers and ramp it by weight, with rollback as a weight change (35). Then prove it: kill a replica under load and read the counters (37). Deployment, the disaggregated split and security (32, 34, 36) sit around that loop. The checkpoint's gate has eight requirements, written before the drill, and the recorded run passes all eight: PASS or FAIL comes from the client's counts and /metrics, not from a dashboard someone describes. Its counts: 128 calls for 120 requests, 3 refusals, no failed call. The 8 extra calls are retries; 8 requests were rescued by a retry.</a:t>
            </a:r>
          </a:p>
          <a:p/>
          <a:p>
            <a:r>
              <a:t>From lessons: 29, 30, 31, 32, 33, 34, 35, 36, 37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in a design review or an interview. Each one points to an answer in this part: the gateway and its retry rule (29), cache and token routing (30), the queue limit and the 503 (33), the scale signal and its cold start (31), and the gate with its error bound (35). Ask for numbers, not adjectives: the queue limit, the p95 at 90 percent of capacity, the cold start measured on your own image, and the date of your golden set. If someone says we autoscale on GPU utilisation, ask what happens when the queue grows while utilisation reads 50 percent. Next, run lesson 37 on your own cluster and write the gate before the drill.</a:t>
            </a:r>
          </a:p>
          <a:p/>
          <a:p>
            <a:r>
              <a:t>From lessons: 29, 31, 33, 35, 37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ube 4"/>
          <p:cNvSpPr/>
          <p:nvPr/>
        </p:nvSpPr>
        <p:spPr>
          <a:xfrm>
            <a:off x="1028700" y="1668780"/>
            <a:ext cx="411480" cy="411480"/>
          </a:xfrm>
          <a:prstGeom prst="cub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Part 5: Serving at scale and operations</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4F46E5"/>
                </a:solidFill>
                <a:latin typeface="Calibri"/>
              </a:rPr>
              <a:t>KV Forge · learners of this course · lessons 29 to 37</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learners of this course (developers and platform engineers)</a:t>
            </a:r>
          </a:p>
        </p:txBody>
      </p:sp>
      <p:cxnSp>
        <p:nvCxnSpPr>
          <p:cNvPr id="9" name="Connector 8"/>
          <p:cNvCxnSpPr/>
          <p:nvPr/>
        </p:nvCxnSpPr>
        <p:spPr>
          <a:xfrm flipH="1" flipV="1">
            <a:off x="8686800" y="1188719"/>
            <a:ext cx="1371600" cy="91440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B9B5F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gateway works like a hotel front desk</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hotel front desk</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Guests ask the desk, which knows the free rooms</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Gateway</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Apps call one URL; it sends requests to free replicas</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The desk adds no rooms and cannot see each room's cache: lesson 30 adds that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gateway is one URL in front of replicas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508760"/>
            <a:ext cx="10908792" cy="14173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gateway is the single entry point in front of several identical replicas.</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Replica</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One running copy of the model server, with its own GPU</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Routing</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Sends each request to the least busy replica</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4F46E5"/>
                </a:solidFill>
                <a:latin typeface="Calibri"/>
              </a:rPr>
              <a:t>Retry and cooldown</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Retries a failed call; cools a failing replica down</a:t>
            </a:r>
          </a:p>
        </p:txBody>
      </p:sp>
      <p:sp>
        <p:nvSpPr>
          <p:cNvPr id="16" name="TextBox 15"/>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Three replicas behind one URL: 40 of 120 requests failed without it, 0 with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Apps that pick replicas cannot see each other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600200"/>
            <a:ext cx="5120640" cy="37947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19" y="1783080"/>
            <a:ext cx="4480560" cy="365760"/>
          </a:xfrm>
          <a:prstGeom prst="rect">
            <a:avLst/>
          </a:prstGeom>
          <a:noFill/>
        </p:spPr>
        <p:txBody>
          <a:bodyPr wrap="square" lIns="0" rIns="0" tIns="0" bIns="0" anchor="t">
            <a:spAutoFit/>
          </a:bodyPr>
          <a:lstStyle/>
          <a:p>
            <a:pPr algn="l"/>
            <a:r>
              <a:rPr sz="1800" b="1" i="0">
                <a:solidFill>
                  <a:srgbClr val="B91C1C"/>
                </a:solidFill>
                <a:latin typeface="Calibri"/>
              </a:rPr>
              <a:t>Without: each app keeps the list</a:t>
            </a:r>
          </a:p>
        </p:txBody>
      </p:sp>
      <p:cxnSp>
        <p:nvCxnSpPr>
          <p:cNvPr id="7" name="Connector 6"/>
          <p:cNvCxnSpPr/>
          <p:nvPr/>
        </p:nvCxnSpPr>
        <p:spPr>
          <a:xfrm flipV="1">
            <a:off x="2560320" y="2731770"/>
            <a:ext cx="1280160" cy="262890"/>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60320" y="2994660"/>
            <a:ext cx="1280160" cy="525780"/>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560320" y="2994660"/>
            <a:ext cx="1280160" cy="1314450"/>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560320" y="2731770"/>
            <a:ext cx="1280160" cy="1314450"/>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560320" y="3520440"/>
            <a:ext cx="1280160" cy="525780"/>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560320" y="4046220"/>
            <a:ext cx="1280160" cy="262890"/>
          </a:xfrm>
          <a:prstGeom prst="line">
            <a:avLst/>
          </a:prstGeom>
          <a:ln w="15875">
            <a:solidFill>
              <a:srgbClr val="EF9A9A"/>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60119" y="2743200"/>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App 1</a:t>
            </a:r>
          </a:p>
        </p:txBody>
      </p:sp>
      <p:sp>
        <p:nvSpPr>
          <p:cNvPr id="14" name="Rounded Rectangle 13"/>
          <p:cNvSpPr/>
          <p:nvPr/>
        </p:nvSpPr>
        <p:spPr>
          <a:xfrm>
            <a:off x="960119" y="3794760"/>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App 2</a:t>
            </a:r>
          </a:p>
        </p:txBody>
      </p:sp>
      <p:sp>
        <p:nvSpPr>
          <p:cNvPr id="15" name="Rounded Rectangle 14"/>
          <p:cNvSpPr/>
          <p:nvPr/>
        </p:nvSpPr>
        <p:spPr>
          <a:xfrm>
            <a:off x="3840480" y="2480310"/>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Replica a</a:t>
            </a:r>
          </a:p>
        </p:txBody>
      </p:sp>
      <p:sp>
        <p:nvSpPr>
          <p:cNvPr id="16" name="Rounded Rectangle 15"/>
          <p:cNvSpPr/>
          <p:nvPr/>
        </p:nvSpPr>
        <p:spPr>
          <a:xfrm>
            <a:off x="3840480" y="3268980"/>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Replica b</a:t>
            </a:r>
          </a:p>
        </p:txBody>
      </p:sp>
      <p:sp>
        <p:nvSpPr>
          <p:cNvPr id="17" name="Rounded Rectangle 16"/>
          <p:cNvSpPr/>
          <p:nvPr/>
        </p:nvSpPr>
        <p:spPr>
          <a:xfrm>
            <a:off x="3840480" y="4057650"/>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Replica c</a:t>
            </a:r>
          </a:p>
        </p:txBody>
      </p:sp>
      <p:sp>
        <p:nvSpPr>
          <p:cNvPr id="18" name="TextBox 17"/>
          <p:cNvSpPr txBox="1"/>
          <p:nvPr/>
        </p:nvSpPr>
        <p:spPr>
          <a:xfrm>
            <a:off x="960119" y="4892040"/>
            <a:ext cx="4480560" cy="320040"/>
          </a:xfrm>
          <a:prstGeom prst="rect">
            <a:avLst/>
          </a:prstGeom>
          <a:noFill/>
        </p:spPr>
        <p:txBody>
          <a:bodyPr wrap="square" lIns="0" rIns="0" tIns="0" bIns="0" anchor="t">
            <a:spAutoFit/>
          </a:bodyPr>
          <a:lstStyle/>
          <a:p>
            <a:pPr algn="l"/>
            <a:r>
              <a:rPr sz="1300" b="1" i="0">
                <a:solidFill>
                  <a:srgbClr val="B91C1C"/>
                </a:solidFill>
                <a:latin typeface="Calibri"/>
              </a:rPr>
              <a:t>2 × 3 = 6 custom links</a:t>
            </a:r>
          </a:p>
        </p:txBody>
      </p:sp>
      <p:sp>
        <p:nvSpPr>
          <p:cNvPr id="19" name="Rounded Rectangle 18"/>
          <p:cNvSpPr/>
          <p:nvPr/>
        </p:nvSpPr>
        <p:spPr>
          <a:xfrm>
            <a:off x="6428232" y="1600200"/>
            <a:ext cx="5120640" cy="379476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48272" y="1783080"/>
            <a:ext cx="4480560" cy="365760"/>
          </a:xfrm>
          <a:prstGeom prst="rect">
            <a:avLst/>
          </a:prstGeom>
          <a:noFill/>
        </p:spPr>
        <p:txBody>
          <a:bodyPr wrap="square" lIns="0" rIns="0" tIns="0" bIns="0" anchor="t">
            <a:spAutoFit/>
          </a:bodyPr>
          <a:lstStyle/>
          <a:p>
            <a:pPr algn="l"/>
            <a:r>
              <a:rPr sz="1800" b="1" i="0">
                <a:solidFill>
                  <a:srgbClr val="4F46E5"/>
                </a:solidFill>
                <a:latin typeface="Calibri"/>
              </a:rPr>
              <a:t>With: one gateway</a:t>
            </a:r>
          </a:p>
        </p:txBody>
      </p:sp>
      <p:cxnSp>
        <p:nvCxnSpPr>
          <p:cNvPr id="21" name="Connector 20"/>
          <p:cNvCxnSpPr/>
          <p:nvPr/>
        </p:nvCxnSpPr>
        <p:spPr>
          <a:xfrm>
            <a:off x="8348471" y="2994660"/>
            <a:ext cx="68581" cy="525779"/>
          </a:xfrm>
          <a:prstGeom prst="line">
            <a:avLst/>
          </a:prstGeom>
          <a:ln w="22225">
            <a:solidFill>
              <a:srgbClr val="4F46E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348471" y="3520439"/>
            <a:ext cx="68581" cy="525781"/>
          </a:xfrm>
          <a:prstGeom prst="line">
            <a:avLst/>
          </a:prstGeom>
          <a:ln w="22225">
            <a:solidFill>
              <a:srgbClr val="4F46E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9560052" y="2731770"/>
            <a:ext cx="68580" cy="788669"/>
          </a:xfrm>
          <a:prstGeom prst="line">
            <a:avLst/>
          </a:prstGeom>
          <a:ln w="22225">
            <a:solidFill>
              <a:srgbClr val="4F46E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560052" y="3520439"/>
            <a:ext cx="68580" cy="1"/>
          </a:xfrm>
          <a:prstGeom prst="line">
            <a:avLst/>
          </a:prstGeom>
          <a:ln w="22225">
            <a:solidFill>
              <a:srgbClr val="4F46E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560052" y="3520439"/>
            <a:ext cx="68580" cy="788671"/>
          </a:xfrm>
          <a:prstGeom prst="line">
            <a:avLst/>
          </a:prstGeom>
          <a:ln w="22225">
            <a:solidFill>
              <a:srgbClr val="4F46E5"/>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8417052" y="2948939"/>
            <a:ext cx="1143000" cy="1143000"/>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500" b="1">
                <a:solidFill>
                  <a:srgbClr val="FFFFFF"/>
                </a:solidFill>
                <a:latin typeface="Calibri"/>
              </a:rPr>
              <a:t>Gateway</a:t>
            </a:r>
          </a:p>
        </p:txBody>
      </p:sp>
      <p:sp>
        <p:nvSpPr>
          <p:cNvPr id="27" name="Rounded Rectangle 26"/>
          <p:cNvSpPr/>
          <p:nvPr/>
        </p:nvSpPr>
        <p:spPr>
          <a:xfrm>
            <a:off x="6748272" y="2743200"/>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App 1</a:t>
            </a:r>
          </a:p>
        </p:txBody>
      </p:sp>
      <p:sp>
        <p:nvSpPr>
          <p:cNvPr id="28" name="Rounded Rectangle 27"/>
          <p:cNvSpPr/>
          <p:nvPr/>
        </p:nvSpPr>
        <p:spPr>
          <a:xfrm>
            <a:off x="6748272" y="3794760"/>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App 2</a:t>
            </a:r>
          </a:p>
        </p:txBody>
      </p:sp>
      <p:sp>
        <p:nvSpPr>
          <p:cNvPr id="29" name="Rounded Rectangle 28"/>
          <p:cNvSpPr/>
          <p:nvPr/>
        </p:nvSpPr>
        <p:spPr>
          <a:xfrm>
            <a:off x="9628632" y="2480310"/>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Replica a</a:t>
            </a:r>
          </a:p>
        </p:txBody>
      </p:sp>
      <p:sp>
        <p:nvSpPr>
          <p:cNvPr id="30" name="Rounded Rectangle 29"/>
          <p:cNvSpPr/>
          <p:nvPr/>
        </p:nvSpPr>
        <p:spPr>
          <a:xfrm>
            <a:off x="9628632" y="3268980"/>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Replica b</a:t>
            </a:r>
          </a:p>
        </p:txBody>
      </p:sp>
      <p:sp>
        <p:nvSpPr>
          <p:cNvPr id="31" name="Rounded Rectangle 30"/>
          <p:cNvSpPr/>
          <p:nvPr/>
        </p:nvSpPr>
        <p:spPr>
          <a:xfrm>
            <a:off x="9628632" y="4057650"/>
            <a:ext cx="1600200" cy="50292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300" b="0">
                <a:solidFill>
                  <a:srgbClr val="1F2933"/>
                </a:solidFill>
                <a:latin typeface="Calibri"/>
              </a:rPr>
              <a:t>Replica c</a:t>
            </a:r>
          </a:p>
        </p:txBody>
      </p:sp>
      <p:sp>
        <p:nvSpPr>
          <p:cNvPr id="32" name="TextBox 31"/>
          <p:cNvSpPr txBox="1"/>
          <p:nvPr/>
        </p:nvSpPr>
        <p:spPr>
          <a:xfrm>
            <a:off x="6748272" y="4892040"/>
            <a:ext cx="4480560" cy="320040"/>
          </a:xfrm>
          <a:prstGeom prst="rect">
            <a:avLst/>
          </a:prstGeom>
          <a:noFill/>
        </p:spPr>
        <p:txBody>
          <a:bodyPr wrap="square" lIns="0" rIns="0" tIns="0" bIns="0" anchor="t">
            <a:spAutoFit/>
          </a:bodyPr>
          <a:lstStyle/>
          <a:p>
            <a:pPr algn="l"/>
            <a:r>
              <a:rPr sz="1300" b="1" i="0">
                <a:solidFill>
                  <a:srgbClr val="4F46E5"/>
                </a:solidFill>
                <a:latin typeface="Calibri"/>
              </a:rPr>
              <a:t>2 + 3 = 5 standard links</a:t>
            </a:r>
          </a:p>
        </p:txBody>
      </p:sp>
      <p:sp>
        <p:nvSpPr>
          <p:cNvPr id="33" name="TextBox 32"/>
          <p:cNvSpPr txBox="1"/>
          <p:nvPr/>
        </p:nvSpPr>
        <p:spPr>
          <a:xfrm>
            <a:off x="640080"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Two apps, three replicas: six links</a:t>
            </a:r>
          </a:p>
        </p:txBody>
      </p:sp>
      <p:sp>
        <p:nvSpPr>
          <p:cNvPr id="34" name="TextBox 33"/>
          <p:cNvSpPr txBox="1"/>
          <p:nvPr/>
        </p:nvSpPr>
        <p:spPr>
          <a:xfrm>
            <a:off x="6428232" y="5577840"/>
            <a:ext cx="5120640" cy="548640"/>
          </a:xfrm>
          <a:prstGeom prst="rect">
            <a:avLst/>
          </a:prstGeom>
          <a:noFill/>
        </p:spPr>
        <p:txBody>
          <a:bodyPr wrap="square" lIns="0" rIns="0" tIns="0" bIns="0" anchor="t">
            <a:spAutoFit/>
          </a:bodyPr>
          <a:lstStyle/>
          <a:p>
            <a:pPr algn="l"/>
            <a:r>
              <a:rPr sz="1400" b="0" i="0">
                <a:solidFill>
                  <a:srgbClr val="6B7280"/>
                </a:solidFill>
                <a:latin typeface="Calibri"/>
              </a:rPr>
              <a:t>One URL; the gateway sees all traffic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Same 120 requests: 40 fail without, none with</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554480"/>
            <a:ext cx="7315200" cy="1097280"/>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1719072"/>
            <a:ext cx="7168896" cy="309676"/>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822960"/>
          </a:xfrm>
          <a:prstGeom prst="rect">
            <a:avLst/>
          </a:prstGeom>
          <a:noFill/>
        </p:spPr>
        <p:txBody>
          <a:bodyPr wrap="none" lIns="0" rIns="0" tIns="0" bIns="0">
            <a:noAutofit/>
          </a:bodyPr>
          <a:lstStyle/>
          <a:p>
            <a:pPr algn="l">
              <a:lnSpc>
                <a:spcPct val="112000"/>
              </a:lnSpc>
            </a:pPr>
            <a:r>
              <a:rPr sz="1600" b="1" i="0">
                <a:solidFill>
                  <a:srgbClr val="4F46E5"/>
                </a:solidFill>
                <a:latin typeface="Consolas"/>
              </a:rPr>
              <a:t>await</a:t>
            </a:r>
            <a:r>
              <a:rPr sz="1600" b="0" i="0">
                <a:solidFill>
                  <a:srgbClr val="1F2933"/>
                </a:solidFill>
                <a:latin typeface="Consolas"/>
              </a:rPr>
              <a:t> load(</a:t>
            </a:r>
            <a:r>
              <a:rPr sz="1600" b="0" i="0">
                <a:solidFill>
                  <a:srgbClr val="B45309"/>
                </a:solidFill>
                <a:latin typeface="Consolas"/>
              </a:rPr>
              <a:t>"with: one gateway"</a:t>
            </a:r>
            <a:r>
              <a:rPr sz="1600" b="0" i="0">
                <a:solidFill>
                  <a:srgbClr val="1F2933"/>
                </a:solidFill>
                <a:latin typeface="Consolas"/>
              </a:rPr>
              <a:t>, </a:t>
            </a:r>
            <a:r>
              <a:rPr sz="1600" b="1" i="0">
                <a:solidFill>
                  <a:srgbClr val="4F46E5"/>
                </a:solidFill>
                <a:latin typeface="Consolas"/>
              </a:rPr>
              <a:t>lambda</a:t>
            </a:r>
            <a:r>
              <a:rPr sz="1600" b="0" i="0">
                <a:solidFill>
                  <a:srgbClr val="1F2933"/>
                </a:solidFill>
                <a:latin typeface="Consolas"/>
              </a:rPr>
              <a:t> _rng: GATEWAY)</a:t>
            </a:r>
          </a:p>
          <a:p>
            <a:pPr algn="l">
              <a:lnSpc>
                <a:spcPct val="112000"/>
              </a:lnSpc>
            </a:pPr>
            <a:r>
              <a:rPr sz="1600" b="0" i="0">
                <a:solidFill>
                  <a:srgbClr val="1F2933"/>
                </a:solidFill>
                <a:latin typeface="Consolas"/>
              </a:rPr>
              <a:t>show()</a:t>
            </a:r>
          </a:p>
        </p:txBody>
      </p:sp>
      <p:sp>
        <p:nvSpPr>
          <p:cNvPr id="8" name="Rounded Rectangle 7"/>
          <p:cNvSpPr/>
          <p:nvPr/>
        </p:nvSpPr>
        <p:spPr>
          <a:xfrm>
            <a:off x="640080" y="2761488"/>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34640"/>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2852928"/>
            <a:ext cx="5943600" cy="768096"/>
          </a:xfrm>
          <a:prstGeom prst="rect">
            <a:avLst/>
          </a:prstGeom>
          <a:noFill/>
        </p:spPr>
        <p:txBody>
          <a:bodyPr wrap="square" lIns="0" rIns="0" tIns="0" bIns="0" anchor="t">
            <a:spAutoFit/>
          </a:bodyPr>
          <a:lstStyle/>
          <a:p>
            <a:pPr algn="l"/>
            <a:r>
              <a:rPr sz="1600" b="0" i="0">
                <a:solidFill>
                  <a:srgbClr val="E5E7EB"/>
                </a:solidFill>
                <a:latin typeface="Consolas"/>
              </a:rPr>
              <a:t>without: apps pick   ok   80  errors  40  served: a   38 b down c   42  p95  10.3 s</a:t>
            </a:r>
          </a:p>
          <a:p>
            <a:pPr algn="l"/>
            <a:r>
              <a:rPr sz="1600" b="0" i="0">
                <a:solidFill>
                  <a:srgbClr val="E5E7EB"/>
                </a:solidFill>
                <a:latin typeface="Consolas"/>
              </a:rPr>
              <a:t>with: one gateway    ok  120  errors   0  served: a   80 b down c   40  p95   6.9 s</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One URL: the apps change one line</a:t>
            </a:r>
          </a:p>
          <a:p>
            <a:pPr>
              <a:spcAft>
                <a:spcPts val="1000"/>
              </a:spcAft>
            </a:pPr>
            <a:r>
              <a:rPr sz="1300">
                <a:solidFill>
                  <a:srgbClr val="4F46E5"/>
                </a:solidFill>
                <a:latin typeface="Calibri"/>
              </a:rPr>
              <a:t>●  </a:t>
            </a:r>
            <a:r>
              <a:rPr sz="1900">
                <a:solidFill>
                  <a:srgbClr val="1F2933"/>
                </a:solidFill>
                <a:latin typeface="Calibri"/>
              </a:rPr>
              <a:t>Replica c is slower; the gateway sends it less</a:t>
            </a:r>
          </a:p>
          <a:p>
            <a:pPr>
              <a:spcAft>
                <a:spcPts val="1000"/>
              </a:spcAft>
            </a:pPr>
            <a:r>
              <a:rPr sz="1300">
                <a:solidFill>
                  <a:srgbClr val="4F46E5"/>
                </a:solidFill>
                <a:latin typeface="Calibri"/>
              </a:rPr>
              <a:t>●  </a:t>
            </a:r>
            <a:r>
              <a:rPr sz="1900">
                <a:solidFill>
                  <a:srgbClr val="1F2933"/>
                </a:solidFill>
                <a:latin typeface="Calibri"/>
              </a:rPr>
              <a:t>The p95 wait falls from 10.3 s to 6.9 s</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Live run on this machine · replicas simulated · no model ran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hotel desk seats groups where rooms are ready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hotel desk</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Puts a group where its rooms are made up</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Prefix-aware routing</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Sends a request where its cached prompt blocks are</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Prefix-aware can pile load on one replica; counting tokens scatters prompts and loses hits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Recorded: prefix-aware wins on hits, spreads 22</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Round-robin</a:t>
            </a:r>
          </a:p>
        </p:txBody>
      </p:sp>
      <p:sp>
        <p:nvSpPr>
          <p:cNvPr id="7" name="TextBox 6"/>
          <p:cNvSpPr txBox="1"/>
          <p:nvPr/>
        </p:nvSpPr>
        <p:spPr>
          <a:xfrm>
            <a:off x="1005840"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Prefix hit rate 60%</a:t>
            </a:r>
          </a:p>
          <a:p>
            <a:pPr>
              <a:spcAft>
                <a:spcPts val="1000"/>
              </a:spcAft>
            </a:pPr>
            <a:r>
              <a:rPr sz="1200">
                <a:solidFill>
                  <a:srgbClr val="4F46E5"/>
                </a:solidFill>
                <a:latin typeface="Calibri"/>
              </a:rPr>
              <a:t>●  </a:t>
            </a:r>
            <a:r>
              <a:rPr sz="1800">
                <a:solidFill>
                  <a:srgbClr val="1F2933"/>
                </a:solidFill>
                <a:latin typeface="Calibri"/>
              </a:rPr>
              <a:t>Spread 0 (40, 40, 40)</a:t>
            </a:r>
          </a:p>
          <a:p>
            <a:pPr>
              <a:spcAft>
                <a:spcPts val="1000"/>
              </a:spcAft>
            </a:pPr>
            <a:r>
              <a:rPr sz="1200">
                <a:solidFill>
                  <a:srgbClr val="4F46E5"/>
                </a:solidFill>
                <a:latin typeface="Calibri"/>
              </a:rPr>
              <a:t>●  </a:t>
            </a:r>
            <a:r>
              <a:rPr sz="1800">
                <a:solidFill>
                  <a:srgbClr val="1F2933"/>
                </a:solidFill>
                <a:latin typeface="Calibri"/>
              </a:rPr>
              <a:t>p95 2.42 s</a:t>
            </a:r>
          </a:p>
        </p:txBody>
      </p:sp>
      <p:sp>
        <p:nvSpPr>
          <p:cNvPr id="8" name="Rounded Rectangle 7"/>
          <p:cNvSpPr/>
          <p:nvPr/>
        </p:nvSpPr>
        <p:spPr>
          <a:xfrm>
            <a:off x="4383024" y="1828800"/>
            <a:ext cx="3422904" cy="338328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48784" y="2148840"/>
            <a:ext cx="2691384" cy="548640"/>
          </a:xfrm>
          <a:prstGeom prst="rect">
            <a:avLst/>
          </a:prstGeom>
          <a:noFill/>
        </p:spPr>
        <p:txBody>
          <a:bodyPr wrap="square" lIns="0" rIns="0" tIns="0" bIns="0" anchor="t">
            <a:spAutoFit/>
          </a:bodyPr>
          <a:lstStyle/>
          <a:p>
            <a:pPr algn="l"/>
            <a:r>
              <a:rPr sz="2400" b="1" i="0">
                <a:solidFill>
                  <a:srgbClr val="4F46E5"/>
                </a:solidFill>
                <a:latin typeface="Calibri"/>
              </a:rPr>
              <a:t>Prefix-aware</a:t>
            </a:r>
          </a:p>
        </p:txBody>
      </p:sp>
      <p:sp>
        <p:nvSpPr>
          <p:cNvPr id="10" name="TextBox 9"/>
          <p:cNvSpPr txBox="1"/>
          <p:nvPr/>
        </p:nvSpPr>
        <p:spPr>
          <a:xfrm>
            <a:off x="4748784"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Prefix hit rate 84%</a:t>
            </a:r>
          </a:p>
          <a:p>
            <a:pPr>
              <a:spcAft>
                <a:spcPts val="1000"/>
              </a:spcAft>
            </a:pPr>
            <a:r>
              <a:rPr sz="1200">
                <a:solidFill>
                  <a:srgbClr val="4F46E5"/>
                </a:solidFill>
                <a:latin typeface="Calibri"/>
              </a:rPr>
              <a:t>●  </a:t>
            </a:r>
            <a:r>
              <a:rPr sz="1800">
                <a:solidFill>
                  <a:srgbClr val="1F2933"/>
                </a:solidFill>
                <a:latin typeface="Calibri"/>
              </a:rPr>
              <a:t>Spread 22 (54, 34, 32)</a:t>
            </a:r>
          </a:p>
          <a:p>
            <a:pPr>
              <a:spcAft>
                <a:spcPts val="1000"/>
              </a:spcAft>
            </a:pPr>
            <a:r>
              <a:rPr sz="1200">
                <a:solidFill>
                  <a:srgbClr val="4F46E5"/>
                </a:solidFill>
                <a:latin typeface="Calibri"/>
              </a:rPr>
              <a:t>●  </a:t>
            </a:r>
            <a:r>
              <a:rPr sz="1800">
                <a:solidFill>
                  <a:srgbClr val="1F2933"/>
                </a:solidFill>
                <a:latin typeface="Calibri"/>
              </a:rPr>
              <a:t>p95 2.09 s</a:t>
            </a:r>
          </a:p>
        </p:txBody>
      </p:sp>
      <p:sp>
        <p:nvSpPr>
          <p:cNvPr id="11" name="Rounded Rectangle 10"/>
          <p:cNvSpPr/>
          <p:nvPr/>
        </p:nvSpPr>
        <p:spPr>
          <a:xfrm>
            <a:off x="8125968" y="1828800"/>
            <a:ext cx="3422904"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91728" y="2148840"/>
            <a:ext cx="2691384" cy="548640"/>
          </a:xfrm>
          <a:prstGeom prst="rect">
            <a:avLst/>
          </a:prstGeom>
          <a:noFill/>
        </p:spPr>
        <p:txBody>
          <a:bodyPr wrap="square" lIns="0" rIns="0" tIns="0" bIns="0" anchor="t">
            <a:spAutoFit/>
          </a:bodyPr>
          <a:lstStyle/>
          <a:p>
            <a:pPr algn="l"/>
            <a:r>
              <a:rPr sz="2400" b="1" i="0">
                <a:solidFill>
                  <a:srgbClr val="1F2933"/>
                </a:solidFill>
                <a:latin typeface="Calibri"/>
              </a:rPr>
              <a:t>Token-budget</a:t>
            </a:r>
          </a:p>
        </p:txBody>
      </p:sp>
      <p:sp>
        <p:nvSpPr>
          <p:cNvPr id="13" name="TextBox 12"/>
          <p:cNvSpPr txBox="1"/>
          <p:nvPr/>
        </p:nvSpPr>
        <p:spPr>
          <a:xfrm>
            <a:off x="8491728" y="2926080"/>
            <a:ext cx="2691384" cy="2194560"/>
          </a:xfrm>
          <a:prstGeom prst="rect">
            <a:avLst/>
          </a:prstGeom>
          <a:noFill/>
        </p:spPr>
        <p:txBody>
          <a:bodyPr wrap="square" lIns="0" rIns="0" tIns="0" bIns="0">
            <a:spAutoFit/>
          </a:bodyPr>
          <a:lstStyle/>
          <a:p>
            <a:pPr>
              <a:spcAft>
                <a:spcPts val="1000"/>
              </a:spcAft>
            </a:pPr>
            <a:r>
              <a:rPr sz="1200">
                <a:solidFill>
                  <a:srgbClr val="4F46E5"/>
                </a:solidFill>
                <a:latin typeface="Calibri"/>
              </a:rPr>
              <a:t>●  </a:t>
            </a:r>
            <a:r>
              <a:rPr sz="1800">
                <a:solidFill>
                  <a:srgbClr val="1F2933"/>
                </a:solidFill>
                <a:latin typeface="Calibri"/>
              </a:rPr>
              <a:t>Prefix hit rate 58%</a:t>
            </a:r>
          </a:p>
          <a:p>
            <a:pPr>
              <a:spcAft>
                <a:spcPts val="1000"/>
              </a:spcAft>
            </a:pPr>
            <a:r>
              <a:rPr sz="1200">
                <a:solidFill>
                  <a:srgbClr val="4F46E5"/>
                </a:solidFill>
                <a:latin typeface="Calibri"/>
              </a:rPr>
              <a:t>●  </a:t>
            </a:r>
            <a:r>
              <a:rPr sz="1800">
                <a:solidFill>
                  <a:srgbClr val="1F2933"/>
                </a:solidFill>
                <a:latin typeface="Calibri"/>
              </a:rPr>
              <a:t>Spread 13 (35, 48, 37)</a:t>
            </a:r>
          </a:p>
          <a:p>
            <a:pPr>
              <a:spcAft>
                <a:spcPts val="1000"/>
              </a:spcAft>
            </a:pPr>
            <a:r>
              <a:rPr sz="1200">
                <a:solidFill>
                  <a:srgbClr val="4F46E5"/>
                </a:solidFill>
                <a:latin typeface="Calibri"/>
              </a:rPr>
              <a:t>●  </a:t>
            </a:r>
            <a:r>
              <a:rPr sz="1800">
                <a:solidFill>
                  <a:srgbClr val="1F2933"/>
                </a:solidFill>
                <a:latin typeface="Calibri"/>
              </a:rPr>
              <a:t>p95 2.37 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restaurant host stops the queue at the door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full restaurant</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host says come back later, at the door</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Queue limit</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The engine refuses at once with HTTP 503 when full</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One replica sees only its own queue; retry on another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Node loss: 8 refusals, 1 failed call</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554480"/>
            <a:ext cx="7315200" cy="248716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999232"/>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3511296"/>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212848"/>
          </a:xfrm>
          <a:prstGeom prst="rect">
            <a:avLst/>
          </a:prstGeom>
          <a:noFill/>
        </p:spPr>
        <p:txBody>
          <a:bodyPr wrap="none" lIns="0" rIns="0" tIns="0" bIns="0">
            <a:noAutofit/>
          </a:bodyPr>
          <a:lstStyle/>
          <a:p>
            <a:pPr algn="l">
              <a:lnSpc>
                <a:spcPct val="112000"/>
              </a:lnSpc>
            </a:pPr>
            <a:r>
              <a:rPr sz="1500" b="1" i="0">
                <a:solidFill>
                  <a:srgbClr val="4F46E5"/>
                </a:solidFill>
                <a:latin typeface="Consolas"/>
              </a:rPr>
              <a:t>async</a:t>
            </a:r>
            <a:r>
              <a:rPr sz="1500" b="0" i="0">
                <a:solidFill>
                  <a:srgbClr val="1F2933"/>
                </a:solidFill>
                <a:latin typeface="Consolas"/>
              </a:rPr>
              <a:t> </a:t>
            </a:r>
            <a:r>
              <a:rPr sz="1500" b="1" i="0">
                <a:solidFill>
                  <a:srgbClr val="4F46E5"/>
                </a:solidFill>
                <a:latin typeface="Consolas"/>
              </a:rPr>
              <a:t>def</a:t>
            </a:r>
            <a:r>
              <a:rPr sz="1500" b="0" i="0">
                <a:solidFill>
                  <a:srgbClr val="1F2933"/>
                </a:solidFill>
                <a:latin typeface="Consolas"/>
              </a:rPr>
              <a:t> </a:t>
            </a:r>
            <a:r>
              <a:rPr sz="1500" b="1" i="0">
                <a:solidFill>
                  <a:srgbClr val="1F2933"/>
                </a:solidFill>
                <a:latin typeface="Consolas"/>
              </a:rPr>
              <a:t>send</a:t>
            </a:r>
            <a:r>
              <a:rPr sz="1500" b="0" i="0">
                <a:solidFill>
                  <a:srgbClr val="1F2933"/>
                </a:solidFill>
                <a:latin typeface="Consolas"/>
              </a:rPr>
              <a:t>(client, gw, words, stats):</a:t>
            </a:r>
          </a:p>
          <a:p>
            <a:pPr algn="l">
              <a:lnSpc>
                <a:spcPct val="112000"/>
              </a:lnSpc>
            </a:pPr>
            <a:r>
              <a:rPr sz="1500" b="0" i="0">
                <a:solidFill>
                  <a:srgbClr val="1F2933"/>
                </a:solidFill>
                <a:latin typeface="Consolas"/>
              </a:rPr>
              <a:t>    </a:t>
            </a:r>
            <a:r>
              <a:rPr sz="1500" b="1" i="0">
                <a:solidFill>
                  <a:srgbClr val="4F46E5"/>
                </a:solidFill>
                <a:latin typeface="Consolas"/>
              </a:rPr>
              <a:t>for</a:t>
            </a:r>
            <a:r>
              <a:rPr sz="1500" b="0" i="0">
                <a:solidFill>
                  <a:srgbClr val="1F2933"/>
                </a:solidFill>
                <a:latin typeface="Consolas"/>
              </a:rPr>
              <a:t> attempt </a:t>
            </a:r>
            <a:r>
              <a:rPr sz="1500" b="1" i="0">
                <a:solidFill>
                  <a:srgbClr val="4F46E5"/>
                </a:solidFill>
                <a:latin typeface="Consolas"/>
              </a:rPr>
              <a:t>in</a:t>
            </a:r>
            <a:r>
              <a:rPr sz="1500" b="0" i="0">
                <a:solidFill>
                  <a:srgbClr val="1F2933"/>
                </a:solidFill>
                <a:latin typeface="Consolas"/>
              </a:rPr>
              <a:t> </a:t>
            </a:r>
            <a:r>
              <a:rPr sz="1500" b="0" i="0">
                <a:solidFill>
                  <a:srgbClr val="0E7490"/>
                </a:solidFill>
                <a:latin typeface="Consolas"/>
              </a:rPr>
              <a:t>range</a:t>
            </a:r>
            <a:r>
              <a:rPr sz="1500" b="0" i="0">
                <a:solidFill>
                  <a:srgbClr val="1F2933"/>
                </a:solidFill>
                <a:latin typeface="Consolas"/>
              </a:rPr>
              <a:t>(TRIES):</a:t>
            </a:r>
          </a:p>
          <a:p>
            <a:pPr algn="l">
              <a:lnSpc>
                <a:spcPct val="112000"/>
              </a:lnSpc>
            </a:pPr>
            <a:r>
              <a:rPr sz="1500" b="0" i="0">
                <a:solidFill>
                  <a:srgbClr val="1F2933"/>
                </a:solidFill>
                <a:latin typeface="Consolas"/>
              </a:rPr>
              <a:t>        ...</a:t>
            </a:r>
          </a:p>
          <a:p>
            <a:pPr algn="l">
              <a:lnSpc>
                <a:spcPct val="112000"/>
              </a:lnSpc>
            </a:pPr>
            <a:r>
              <a:rPr sz="1500" b="0" i="0">
                <a:solidFill>
                  <a:srgbClr val="1F2933"/>
                </a:solidFill>
                <a:latin typeface="Consolas"/>
              </a:rPr>
              <a:t>        </a:t>
            </a:r>
            <a:r>
              <a:rPr sz="1500" b="1" i="0">
                <a:solidFill>
                  <a:srgbClr val="4F46E5"/>
                </a:solidFill>
                <a:latin typeface="Consolas"/>
              </a:rPr>
              <a:t>if</a:t>
            </a:r>
            <a:r>
              <a:rPr sz="1500" b="0" i="0">
                <a:solidFill>
                  <a:srgbClr val="1F2933"/>
                </a:solidFill>
                <a:latin typeface="Consolas"/>
              </a:rPr>
              <a:t> resp.status_code == </a:t>
            </a:r>
            <a:r>
              <a:rPr sz="1500" b="0" i="0">
                <a:solidFill>
                  <a:srgbClr val="C2410C"/>
                </a:solidFill>
                <a:latin typeface="Consolas"/>
              </a:rPr>
              <a:t>200</a:t>
            </a:r>
            <a:r>
              <a:rPr sz="1500" b="0" i="0">
                <a:solidFill>
                  <a:srgbClr val="1F2933"/>
                </a:solidFill>
                <a:latin typeface="Consolas"/>
              </a:rPr>
              <a:t>:</a:t>
            </a:r>
          </a:p>
          <a:p>
            <a:pPr algn="l">
              <a:lnSpc>
                <a:spcPct val="112000"/>
              </a:lnSpc>
            </a:pPr>
            <a:r>
              <a:rPr sz="1500" b="0" i="0">
                <a:solidFill>
                  <a:srgbClr val="1F2933"/>
                </a:solidFill>
                <a:latin typeface="Consolas"/>
              </a:rPr>
              <a:t>            stats[</a:t>
            </a:r>
            <a:r>
              <a:rPr sz="1500" b="0" i="0">
                <a:solidFill>
                  <a:srgbClr val="B45309"/>
                </a:solidFill>
                <a:latin typeface="Consolas"/>
              </a:rPr>
              <a:t>"ok"</a:t>
            </a:r>
            <a:r>
              <a:rPr sz="1500" b="0" i="0">
                <a:solidFill>
                  <a:srgbClr val="1F2933"/>
                </a:solidFill>
                <a:latin typeface="Consolas"/>
              </a:rPr>
              <a:t>] += </a:t>
            </a:r>
            <a:r>
              <a:rPr sz="1500" b="0" i="0">
                <a:solidFill>
                  <a:srgbClr val="C2410C"/>
                </a:solidFill>
                <a:latin typeface="Consolas"/>
              </a:rPr>
              <a:t>1</a:t>
            </a:r>
            <a:r>
              <a:rPr sz="1500" b="0" i="0">
                <a:solidFill>
                  <a:srgbClr val="1F2933"/>
                </a:solidFill>
                <a:latin typeface="Consolas"/>
              </a:rPr>
              <a:t>; stats[</a:t>
            </a:r>
            <a:r>
              <a:rPr sz="1500" b="0" i="0">
                <a:solidFill>
                  <a:srgbClr val="B45309"/>
                </a:solidFill>
                <a:latin typeface="Consolas"/>
              </a:rPr>
              <a:t>"served"</a:t>
            </a:r>
            <a:r>
              <a:rPr sz="1500" b="0" i="0">
                <a:solidFill>
                  <a:srgbClr val="1F2933"/>
                </a:solidFill>
                <a:latin typeface="Consolas"/>
              </a:rPr>
              <a:t>][r] += </a:t>
            </a:r>
            <a:r>
              <a:rPr sz="1500" b="0" i="0">
                <a:solidFill>
                  <a:srgbClr val="C2410C"/>
                </a:solidFill>
                <a:latin typeface="Consolas"/>
              </a:rPr>
              <a:t>1</a:t>
            </a:r>
          </a:p>
          <a:p>
            <a:pPr algn="l">
              <a:lnSpc>
                <a:spcPct val="112000"/>
              </a:lnSpc>
            </a:pPr>
            <a:r>
              <a:rPr sz="1500" b="0" i="0">
                <a:solidFill>
                  <a:srgbClr val="1F2933"/>
                </a:solidFill>
                <a:latin typeface="Consolas"/>
              </a:rPr>
              <a:t>            </a:t>
            </a:r>
            <a:r>
              <a:rPr sz="1500" b="1" i="0">
                <a:solidFill>
                  <a:srgbClr val="4F46E5"/>
                </a:solidFill>
                <a:latin typeface="Consolas"/>
              </a:rPr>
              <a:t>if</a:t>
            </a:r>
            <a:r>
              <a:rPr sz="1500" b="0" i="0">
                <a:solidFill>
                  <a:srgbClr val="1F2933"/>
                </a:solidFill>
                <a:latin typeface="Consolas"/>
              </a:rPr>
              <a:t> attempt: stats[</a:t>
            </a:r>
            <a:r>
              <a:rPr sz="1500" b="0" i="0">
                <a:solidFill>
                  <a:srgbClr val="B45309"/>
                </a:solidFill>
                <a:latin typeface="Consolas"/>
              </a:rPr>
              <a:t>"retried_ok"</a:t>
            </a:r>
            <a:r>
              <a:rPr sz="1500" b="0" i="0">
                <a:solidFill>
                  <a:srgbClr val="1F2933"/>
                </a:solidFill>
                <a:latin typeface="Consolas"/>
              </a:rPr>
              <a:t>] += </a:t>
            </a:r>
            <a:r>
              <a:rPr sz="1500" b="0" i="0">
                <a:solidFill>
                  <a:srgbClr val="C2410C"/>
                </a:solidFill>
                <a:latin typeface="Consolas"/>
              </a:rPr>
              <a:t>1</a:t>
            </a:r>
          </a:p>
          <a:p>
            <a:pPr algn="l">
              <a:lnSpc>
                <a:spcPct val="112000"/>
              </a:lnSpc>
            </a:pPr>
            <a:r>
              <a:rPr sz="1500" b="0" i="0">
                <a:solidFill>
                  <a:srgbClr val="1F2933"/>
                </a:solidFill>
                <a:latin typeface="Consolas"/>
              </a:rPr>
              <a:t>            </a:t>
            </a:r>
            <a:r>
              <a:rPr sz="1500" b="1" i="0">
                <a:solidFill>
                  <a:srgbClr val="4F46E5"/>
                </a:solidFill>
                <a:latin typeface="Consolas"/>
              </a:rPr>
              <a:t>return</a:t>
            </a:r>
          </a:p>
          <a:p>
            <a:pPr algn="l">
              <a:lnSpc>
                <a:spcPct val="112000"/>
              </a:lnSpc>
            </a:pPr>
            <a:r>
              <a:rPr sz="1500" b="0" i="0">
                <a:solidFill>
                  <a:srgbClr val="1F2933"/>
                </a:solidFill>
                <a:latin typeface="Consolas"/>
              </a:rPr>
              <a:t>        stats[</a:t>
            </a:r>
            <a:r>
              <a:rPr sz="1500" b="0" i="0">
                <a:solidFill>
                  <a:srgbClr val="B45309"/>
                </a:solidFill>
                <a:latin typeface="Consolas"/>
              </a:rPr>
              <a:t>"503"</a:t>
            </a:r>
            <a:r>
              <a:rPr sz="1500" b="0" i="0">
                <a:solidFill>
                  <a:srgbClr val="1F2933"/>
                </a:solidFill>
                <a:latin typeface="Consolas"/>
              </a:rPr>
              <a:t>] += </a:t>
            </a:r>
            <a:r>
              <a:rPr sz="1500" b="0" i="0">
                <a:solidFill>
                  <a:srgbClr val="C2410C"/>
                </a:solidFill>
                <a:latin typeface="Consolas"/>
              </a:rPr>
              <a:t>1</a:t>
            </a:r>
            <a:r>
              <a:rPr sz="1500" b="0" i="0">
                <a:solidFill>
                  <a:srgbClr val="1F2933"/>
                </a:solidFill>
                <a:latin typeface="Consolas"/>
              </a:rPr>
              <a:t> </a:t>
            </a:r>
            <a:r>
              <a:rPr sz="1500" b="0" i="1">
                <a:solidFill>
                  <a:srgbClr val="6B7280"/>
                </a:solidFill>
                <a:latin typeface="Consolas"/>
              </a:rPr>
              <a:t># queue full: refused at the door</a:t>
            </a:r>
          </a:p>
          <a:p>
            <a:pPr algn="l">
              <a:lnSpc>
                <a:spcPct val="112000"/>
              </a:lnSpc>
            </a:pPr>
            <a:r>
              <a:rPr sz="1500" b="0" i="0">
                <a:solidFill>
                  <a:srgbClr val="1F2933"/>
                </a:solidFill>
                <a:latin typeface="Consolas"/>
              </a:rPr>
              <a:t>        ...</a:t>
            </a:r>
          </a:p>
          <a:p>
            <a:pPr algn="l">
              <a:lnSpc>
                <a:spcPct val="112000"/>
              </a:lnSpc>
            </a:pPr>
            <a:r>
              <a:rPr sz="1500" b="0" i="0">
                <a:solidFill>
                  <a:srgbClr val="1F2933"/>
                </a:solidFill>
                <a:latin typeface="Consolas"/>
              </a:rPr>
              <a:t>    stats[</a:t>
            </a:r>
            <a:r>
              <a:rPr sz="1500" b="0" i="0">
                <a:solidFill>
                  <a:srgbClr val="B45309"/>
                </a:solidFill>
                <a:latin typeface="Consolas"/>
              </a:rPr>
              <a:t>"failed"</a:t>
            </a:r>
            <a:r>
              <a:rPr sz="1500" b="0" i="0">
                <a:solidFill>
                  <a:srgbClr val="1F2933"/>
                </a:solidFill>
                <a:latin typeface="Consolas"/>
              </a:rPr>
              <a:t>] += </a:t>
            </a:r>
            <a:r>
              <a:rPr sz="1500" b="0" i="0">
                <a:solidFill>
                  <a:srgbClr val="C2410C"/>
                </a:solidFill>
                <a:latin typeface="Consolas"/>
              </a:rPr>
              <a:t>1</a:t>
            </a:r>
          </a:p>
        </p:txBody>
      </p:sp>
      <p:sp>
        <p:nvSpPr>
          <p:cNvPr id="9" name="Rounded Rectangle 8"/>
          <p:cNvSpPr/>
          <p:nvPr/>
        </p:nvSpPr>
        <p:spPr>
          <a:xfrm>
            <a:off x="640080" y="4151376"/>
            <a:ext cx="7315200" cy="1810512"/>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2452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242816"/>
            <a:ext cx="5943600" cy="1536192"/>
          </a:xfrm>
          <a:prstGeom prst="rect">
            <a:avLst/>
          </a:prstGeom>
          <a:noFill/>
        </p:spPr>
        <p:txBody>
          <a:bodyPr wrap="square" lIns="0" rIns="0" tIns="0" bIns="0" anchor="t">
            <a:spAutoFit/>
          </a:bodyPr>
          <a:lstStyle/>
          <a:p>
            <a:pPr algn="l"/>
            <a:r>
              <a:rPr sz="1600" b="0" i="0">
                <a:solidFill>
                  <a:srgbClr val="E5E7EB"/>
                </a:solidFill>
                <a:latin typeface="Consolas"/>
              </a:rPr>
              <a:t>phase      calls   ok  503s retried ok failed    r1   r2   r3  rejected</a:t>
            </a:r>
          </a:p>
          <a:p>
            <a:pPr algn="l"/>
            <a:r>
              <a:rPr sz="1600" b="0" i="0">
                <a:solidFill>
                  <a:srgbClr val="E5E7EB"/>
                </a:solidFill>
                <a:latin typeface="Consolas"/>
              </a:rPr>
              <a:t>healthy      120  120     0          0      0    40   40   40         0</a:t>
            </a:r>
          </a:p>
          <a:p>
            <a:pPr algn="l"/>
            <a:r>
              <a:rPr sz="1600" b="0" i="0">
                <a:solidFill>
                  <a:srgbClr val="E5E7EB"/>
                </a:solidFill>
                <a:latin typeface="Consolas"/>
              </a:rPr>
              <a:t>node loss    129  119     8          5      1    47   26   46         8</a:t>
            </a:r>
          </a:p>
          <a:p>
            <a:pPr algn="l"/>
            <a:r>
              <a:rPr sz="1600" b="0" i="0">
                <a:solidFill>
                  <a:srgbClr val="E5E7EB"/>
                </a:solidFill>
                <a:latin typeface="Consolas"/>
              </a:rPr>
              <a:t>recovered    120  120     0          0      0    40   40   40         0</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calls 129 vs requests 120: the 9 extra calls are retries</a:t>
            </a:r>
          </a:p>
          <a:p>
            <a:pPr>
              <a:spcAft>
                <a:spcPts val="1000"/>
              </a:spcAft>
            </a:pPr>
            <a:r>
              <a:rPr sz="1300">
                <a:solidFill>
                  <a:srgbClr val="4F46E5"/>
                </a:solidFill>
                <a:latin typeface="Calibri"/>
              </a:rPr>
              <a:t>●  </a:t>
            </a:r>
            <a:r>
              <a:rPr sz="1900">
                <a:solidFill>
                  <a:srgbClr val="1F2933"/>
                </a:solidFill>
                <a:latin typeface="Calibri"/>
              </a:rPr>
              <a:t>8 refusals counted: 4 on r1 and 4 on r3, the survivors</a:t>
            </a:r>
          </a:p>
          <a:p>
            <a:pPr>
              <a:spcAft>
                <a:spcPts val="1000"/>
              </a:spcAft>
            </a:pPr>
            <a:r>
              <a:rPr sz="1300">
                <a:solidFill>
                  <a:srgbClr val="4F46E5"/>
                </a:solidFill>
                <a:latin typeface="Calibri"/>
              </a:rPr>
              <a:t>●  </a:t>
            </a:r>
            <a:r>
              <a:rPr sz="1900">
                <a:solidFill>
                  <a:srgbClr val="1F2933"/>
                </a:solidFill>
                <a:latin typeface="Calibri"/>
              </a:rPr>
              <a:t>5 requests rescued by a retry; 1 failed after 3 tries</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Recorded run · simulated replicas · no model ran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Scale on the queue, before it forms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645920"/>
            <a:ext cx="6949440"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131820"/>
            <a:ext cx="1453895"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Read queue and KV</a:t>
            </a:r>
          </a:p>
        </p:txBody>
      </p:sp>
      <p:cxnSp>
        <p:nvCxnSpPr>
          <p:cNvPr id="7" name="Connector 6"/>
          <p:cNvCxnSpPr/>
          <p:nvPr/>
        </p:nvCxnSpPr>
        <p:spPr>
          <a:xfrm>
            <a:off x="2322575" y="3703320"/>
            <a:ext cx="164593"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532888" y="3131820"/>
            <a:ext cx="1453895"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Largest count wins</a:t>
            </a:r>
          </a:p>
        </p:txBody>
      </p:sp>
      <p:cxnSp>
        <p:nvCxnSpPr>
          <p:cNvPr id="9" name="Connector 8"/>
          <p:cNvCxnSpPr/>
          <p:nvPr/>
        </p:nvCxnSpPr>
        <p:spPr>
          <a:xfrm>
            <a:off x="4032503" y="3703320"/>
            <a:ext cx="164593"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42816" y="3131820"/>
            <a:ext cx="1453895"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Scale down after a window</a:t>
            </a:r>
          </a:p>
        </p:txBody>
      </p:sp>
      <p:cxnSp>
        <p:nvCxnSpPr>
          <p:cNvPr id="11" name="Connector 10"/>
          <p:cNvCxnSpPr/>
          <p:nvPr/>
        </p:nvCxnSpPr>
        <p:spPr>
          <a:xfrm>
            <a:off x="5742431" y="3703320"/>
            <a:ext cx="164593" cy="0"/>
          </a:xfrm>
          <a:prstGeom prst="line">
            <a:avLst/>
          </a:prstGeom>
          <a:ln w="25400">
            <a:solidFill>
              <a:srgbClr val="4F46E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952744" y="3131820"/>
            <a:ext cx="1453895" cy="1143000"/>
          </a:xfrm>
          <a:prstGeom prst="roundRect">
            <a:avLst>
              <a:gd name="adj" fmla="val 12000"/>
            </a:avLst>
          </a:prstGeom>
          <a:solidFill>
            <a:srgbClr val="4F46E5"/>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FFFFFF"/>
                </a:solidFill>
                <a:latin typeface="Calibri"/>
              </a:rPr>
              <a:t>Cold start: weights load</a:t>
            </a:r>
          </a:p>
        </p:txBody>
      </p:sp>
      <p:sp>
        <p:nvSpPr>
          <p:cNvPr id="13" name="TextBox 12"/>
          <p:cNvSpPr txBox="1"/>
          <p:nvPr/>
        </p:nvSpPr>
        <p:spPr>
          <a:xfrm>
            <a:off x="8001000" y="1920240"/>
            <a:ext cx="3566160" cy="3657600"/>
          </a:xfrm>
          <a:prstGeom prst="rect">
            <a:avLst/>
          </a:prstGeom>
          <a:noFill/>
        </p:spPr>
        <p:txBody>
          <a:bodyPr wrap="square" lIns="0" rIns="0" tIns="0" bIns="0">
            <a:spAutoFit/>
          </a:bodyPr>
          <a:lstStyle/>
          <a:p>
            <a:pPr>
              <a:spcAft>
                <a:spcPts val="1000"/>
              </a:spcAft>
            </a:pPr>
            <a:r>
              <a:rPr sz="1100">
                <a:solidFill>
                  <a:srgbClr val="4F46E5"/>
                </a:solidFill>
                <a:latin typeface="Calibri"/>
              </a:rPr>
              <a:t>●  </a:t>
            </a:r>
            <a:r>
              <a:rPr sz="1700">
                <a:solidFill>
                  <a:srgbClr val="1F2933"/>
                </a:solidFill>
                <a:latin typeface="Calibri"/>
              </a:rPr>
              <a:t>Queue-minutes: 533 utilisation, 212 queue/KV, 14 no cold start</a:t>
            </a:r>
          </a:p>
          <a:p>
            <a:pPr>
              <a:spcAft>
                <a:spcPts val="1000"/>
              </a:spcAft>
            </a:pPr>
            <a:r>
              <a:rPr sz="1100">
                <a:solidFill>
                  <a:srgbClr val="4F46E5"/>
                </a:solidFill>
                <a:latin typeface="Calibri"/>
              </a:rPr>
              <a:t>●  </a:t>
            </a:r>
            <a:r>
              <a:rPr sz="1700">
                <a:solidFill>
                  <a:srgbClr val="1F2933"/>
                </a:solidFill>
                <a:latin typeface="Calibri"/>
              </a:rPr>
              <a:t>KV usage: share of KV cache in use</a:t>
            </a:r>
          </a:p>
          <a:p>
            <a:pPr>
              <a:spcAft>
                <a:spcPts val="1000"/>
              </a:spcAft>
            </a:pPr>
            <a:r>
              <a:rPr sz="1100">
                <a:solidFill>
                  <a:srgbClr val="4F46E5"/>
                </a:solidFill>
                <a:latin typeface="Calibri"/>
              </a:rPr>
              <a:t>●  </a:t>
            </a:r>
            <a:r>
              <a:rPr sz="1700">
                <a:solidFill>
                  <a:srgbClr val="1F2933"/>
                </a:solidFill>
                <a:latin typeface="Calibri"/>
              </a:rPr>
              <a:t>Cold start: time until a replica answers</a:t>
            </a:r>
          </a:p>
        </p:txBody>
      </p:sp>
      <p:sp>
        <p:nvSpPr>
          <p:cNvPr id="14" name="TextBox 13"/>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Simulated: stand-in numbers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Test a new recipe on a few tables first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kitchen trying a new recipe</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New dish goes to few tables; old menu stays on</a:t>
            </a:r>
          </a:p>
        </p:txBody>
      </p:sp>
      <p:sp>
        <p:nvSpPr>
          <p:cNvPr id="9" name="Rounded Rectangle 8"/>
          <p:cNvSpPr/>
          <p:nvPr/>
        </p:nvSpPr>
        <p:spPr>
          <a:xfrm>
            <a:off x="6428232" y="1828800"/>
            <a:ext cx="5120640" cy="3017520"/>
          </a:xfrm>
          <a:prstGeom prst="roundRect">
            <a:avLst>
              <a:gd name="adj" fmla="val 12000"/>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4F46E5"/>
                </a:solidFill>
                <a:latin typeface="Calibri"/>
              </a:rPr>
              <a:t>Eval gate and canary</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Golden-answer cases must pass before any traffic</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4F46E5"/>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gate sees only its own cases, so it can miss a regression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gate uses the error bound, not the average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554480"/>
            <a:ext cx="7315200" cy="1908047"/>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299411"/>
            <a:ext cx="7168896" cy="326745"/>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879750"/>
            <a:ext cx="7168896" cy="326745"/>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633727"/>
          </a:xfrm>
          <a:prstGeom prst="rect">
            <a:avLst/>
          </a:prstGeom>
          <a:noFill/>
        </p:spPr>
        <p:txBody>
          <a:bodyPr wrap="none" lIns="0" rIns="0" tIns="0" bIns="0">
            <a:noAutofit/>
          </a:bodyPr>
          <a:lstStyle/>
          <a:p>
            <a:pPr algn="l">
              <a:lnSpc>
                <a:spcPct val="112000"/>
              </a:lnSpc>
            </a:pPr>
            <a:r>
              <a:rPr sz="1700" b="1" i="0">
                <a:solidFill>
                  <a:srgbClr val="4F46E5"/>
                </a:solidFill>
                <a:latin typeface="Consolas"/>
              </a:rPr>
              <a:t>def</a:t>
            </a:r>
            <a:r>
              <a:rPr sz="1700" b="0" i="0">
                <a:solidFill>
                  <a:srgbClr val="1F2933"/>
                </a:solidFill>
                <a:latin typeface="Consolas"/>
              </a:rPr>
              <a:t> </a:t>
            </a:r>
            <a:r>
              <a:rPr sz="1700" b="1" i="0">
                <a:solidFill>
                  <a:srgbClr val="1F2933"/>
                </a:solidFill>
                <a:latin typeface="Consolas"/>
              </a:rPr>
              <a:t>wilson</a:t>
            </a:r>
            <a:r>
              <a:rPr sz="1700" b="0" i="0">
                <a:solidFill>
                  <a:srgbClr val="1F2933"/>
                </a:solidFill>
                <a:latin typeface="Consolas"/>
              </a:rPr>
              <a:t>(passes, n, z=</a:t>
            </a:r>
            <a:r>
              <a:rPr sz="1700" b="0" i="0">
                <a:solidFill>
                  <a:srgbClr val="C2410C"/>
                </a:solidFill>
                <a:latin typeface="Consolas"/>
              </a:rPr>
              <a:t>1.96</a:t>
            </a:r>
            <a:r>
              <a:rPr sz="1700" b="0" i="0">
                <a:solidFill>
                  <a:srgbClr val="1F2933"/>
                </a:solidFill>
                <a:latin typeface="Consolas"/>
              </a:rPr>
              <a:t>):</a:t>
            </a:r>
          </a:p>
          <a:p>
            <a:pPr algn="l">
              <a:lnSpc>
                <a:spcPct val="112000"/>
              </a:lnSpc>
            </a:pPr>
            <a:r>
              <a:rPr sz="1700" b="0" i="0">
                <a:solidFill>
                  <a:srgbClr val="1F2933"/>
                </a:solidFill>
                <a:latin typeface="Consolas"/>
              </a:rPr>
              <a:t>    p = passes / n</a:t>
            </a:r>
          </a:p>
          <a:p>
            <a:pPr algn="l">
              <a:lnSpc>
                <a:spcPct val="112000"/>
              </a:lnSpc>
            </a:pPr>
            <a:r>
              <a:rPr sz="1700" b="0" i="0">
                <a:solidFill>
                  <a:srgbClr val="1F2933"/>
                </a:solidFill>
                <a:latin typeface="Consolas"/>
              </a:rPr>
              <a:t>    centre = (p + z * z / (</a:t>
            </a:r>
            <a:r>
              <a:rPr sz="1700" b="0" i="0">
                <a:solidFill>
                  <a:srgbClr val="C2410C"/>
                </a:solidFill>
                <a:latin typeface="Consolas"/>
              </a:rPr>
              <a:t>2</a:t>
            </a:r>
            <a:r>
              <a:rPr sz="1700" b="0" i="0">
                <a:solidFill>
                  <a:srgbClr val="1F2933"/>
                </a:solidFill>
                <a:latin typeface="Consolas"/>
              </a:rPr>
              <a:t> * n)) / (</a:t>
            </a:r>
            <a:r>
              <a:rPr sz="1700" b="0" i="0">
                <a:solidFill>
                  <a:srgbClr val="C2410C"/>
                </a:solidFill>
                <a:latin typeface="Consolas"/>
              </a:rPr>
              <a:t>1</a:t>
            </a:r>
            <a:r>
              <a:rPr sz="1700" b="0" i="0">
                <a:solidFill>
                  <a:srgbClr val="1F2933"/>
                </a:solidFill>
                <a:latin typeface="Consolas"/>
              </a:rPr>
              <a:t> + z * z / n)</a:t>
            </a:r>
          </a:p>
          <a:p>
            <a:pPr algn="l">
              <a:lnSpc>
                <a:spcPct val="112000"/>
              </a:lnSpc>
            </a:pPr>
            <a:r>
              <a:rPr sz="1700" b="0" i="0">
                <a:solidFill>
                  <a:srgbClr val="1F2933"/>
                </a:solidFill>
                <a:latin typeface="Consolas"/>
              </a:rPr>
              <a:t>    ...</a:t>
            </a:r>
          </a:p>
          <a:p>
            <a:pPr algn="l">
              <a:lnSpc>
                <a:spcPct val="112000"/>
              </a:lnSpc>
            </a:pPr>
            <a:r>
              <a:rPr sz="1700" b="0" i="0">
                <a:solidFill>
                  <a:srgbClr val="1F2933"/>
                </a:solidFill>
                <a:latin typeface="Consolas"/>
              </a:rPr>
              <a:t>    </a:t>
            </a:r>
            <a:r>
              <a:rPr sz="1700" b="1" i="0">
                <a:solidFill>
                  <a:srgbClr val="4F46E5"/>
                </a:solidFill>
                <a:latin typeface="Consolas"/>
              </a:rPr>
              <a:t>return</a:t>
            </a:r>
            <a:r>
              <a:rPr sz="1700" b="0" i="0">
                <a:solidFill>
                  <a:srgbClr val="1F2933"/>
                </a:solidFill>
                <a:latin typeface="Consolas"/>
              </a:rPr>
              <a:t> p, centre - half, centre + half</a:t>
            </a:r>
          </a:p>
        </p:txBody>
      </p:sp>
      <p:sp>
        <p:nvSpPr>
          <p:cNvPr id="9" name="Rounded Rectangle 8"/>
          <p:cNvSpPr/>
          <p:nvPr/>
        </p:nvSpPr>
        <p:spPr>
          <a:xfrm>
            <a:off x="640080" y="3572255"/>
            <a:ext cx="7315200" cy="1426464"/>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645407"/>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3663695"/>
            <a:ext cx="5943600" cy="1152144"/>
          </a:xfrm>
          <a:prstGeom prst="rect">
            <a:avLst/>
          </a:prstGeom>
          <a:noFill/>
        </p:spPr>
        <p:txBody>
          <a:bodyPr wrap="square" lIns="0" rIns="0" tIns="0" bIns="0" anchor="t">
            <a:spAutoFit/>
          </a:bodyPr>
          <a:lstStyle/>
          <a:p>
            <a:pPr algn="l"/>
            <a:r>
              <a:rPr sz="1600" b="0" i="0">
                <a:solidFill>
                  <a:srgbClr val="E5E7EB"/>
                </a:solidFill>
                <a:latin typeface="Consolas"/>
              </a:rPr>
              <a:t>candidate errors: 4 of 20 (20%, 95% CI 8% to 42%); served answers matching golden: 100% of 16</a:t>
            </a:r>
          </a:p>
          <a:p>
            <a:pPr algn="l"/>
            <a:r>
              <a:rPr sz="1600" b="0" i="0">
                <a:solidFill>
                  <a:srgbClr val="E5E7EB"/>
                </a:solidFill>
                <a:latin typeface="Consolas"/>
              </a:rPr>
              <a:t>  FAIL: error rate, lower 95% bound at most 1%</a:t>
            </a:r>
          </a:p>
          <a:p>
            <a:pPr algn="l"/>
            <a:r>
              <a:rPr sz="1600" b="0" i="0">
                <a:solidFill>
                  <a:srgbClr val="E5E7EB"/>
                </a:solidFill>
                <a:latin typeface="Consolas"/>
              </a:rPr>
              <a:t>decision: roll back</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4F46E5"/>
                </a:solidFill>
                <a:latin typeface="Calibri"/>
              </a:rPr>
              <a:t>●  </a:t>
            </a:r>
            <a:r>
              <a:rPr sz="1900">
                <a:solidFill>
                  <a:srgbClr val="1F2933"/>
                </a:solidFill>
                <a:latin typeface="Calibri"/>
              </a:rPr>
              <a:t>We pass only if even the optimistic end of the error range is ≤ 1%</a:t>
            </a:r>
          </a:p>
          <a:p>
            <a:pPr>
              <a:spcAft>
                <a:spcPts val="1000"/>
              </a:spcAft>
            </a:pPr>
            <a:r>
              <a:rPr sz="1300">
                <a:solidFill>
                  <a:srgbClr val="4F46E5"/>
                </a:solidFill>
                <a:latin typeface="Calibri"/>
              </a:rPr>
              <a:t>●  </a:t>
            </a:r>
            <a:r>
              <a:rPr sz="1900">
                <a:solidFill>
                  <a:srgbClr val="1F2933"/>
                </a:solidFill>
                <a:latin typeface="Calibri"/>
              </a:rPr>
              <a:t>Gate first: golden-answer cases must pass before any traffic</a:t>
            </a:r>
          </a:p>
          <a:p>
            <a:pPr>
              <a:spcAft>
                <a:spcPts val="1000"/>
              </a:spcAft>
            </a:pPr>
            <a:r>
              <a:rPr sz="1300">
                <a:solidFill>
                  <a:srgbClr val="4F46E5"/>
                </a:solidFill>
                <a:latin typeface="Calibri"/>
              </a:rPr>
              <a:t>●  </a:t>
            </a:r>
            <a:r>
              <a:rPr sz="1900">
                <a:solidFill>
                  <a:srgbClr val="1F2933"/>
                </a:solidFill>
                <a:latin typeface="Calibri"/>
              </a:rPr>
              <a:t>Canary: 1%, 5%, 25%, 100% of traffic, guarded per step</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Recorded run, real vLLM engine (pinned image)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Three lessons add seven words to know</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05840"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ube 6"/>
          <p:cNvSpPr/>
          <p:nvPr/>
        </p:nvSpPr>
        <p:spPr>
          <a:xfrm>
            <a:off x="1200150" y="2388870"/>
            <a:ext cx="388620" cy="388620"/>
          </a:xfrm>
          <a:prstGeom prst="cub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Deploy</a:t>
            </a:r>
          </a:p>
        </p:txBody>
      </p:sp>
      <p:sp>
        <p:nvSpPr>
          <p:cNvPr id="9" name="TextBox 8"/>
          <p:cNvSpPr txBox="1"/>
          <p:nvPr/>
        </p:nvSpPr>
        <p:spPr>
          <a:xfrm>
            <a:off x="1005840"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Probe: waits for slow starts. Taint: keeps pods off unless tolerated.</a:t>
            </a:r>
          </a:p>
        </p:txBody>
      </p:sp>
      <p:sp>
        <p:nvSpPr>
          <p:cNvPr id="10" name="Rounded Rectangle 9"/>
          <p:cNvSpPr/>
          <p:nvPr/>
        </p:nvSpPr>
        <p:spPr>
          <a:xfrm>
            <a:off x="3447287"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813048"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007358" y="2388870"/>
            <a:ext cx="388620" cy="388620"/>
          </a:xfrm>
          <a:prstGeom prst="rightArrow">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13048"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Split</a:t>
            </a:r>
          </a:p>
        </p:txBody>
      </p:sp>
      <p:sp>
        <p:nvSpPr>
          <p:cNvPr id="14" name="TextBox 13"/>
          <p:cNvSpPr txBox="1"/>
          <p:nvPr/>
        </p:nvSpPr>
        <p:spPr>
          <a:xfrm>
            <a:off x="3813048"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Prefill reads the prompt; decode streams the answer. Experimental, no throughput gain.</a:t>
            </a:r>
          </a:p>
        </p:txBody>
      </p:sp>
      <p:sp>
        <p:nvSpPr>
          <p:cNvPr id="15" name="Rounded Rectangle 14"/>
          <p:cNvSpPr/>
          <p:nvPr/>
        </p:nvSpPr>
        <p:spPr>
          <a:xfrm>
            <a:off x="6254496"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620256"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n 16"/>
          <p:cNvSpPr/>
          <p:nvPr/>
        </p:nvSpPr>
        <p:spPr>
          <a:xfrm>
            <a:off x="6814566" y="2388870"/>
            <a:ext cx="388620" cy="388620"/>
          </a:xfrm>
          <a:prstGeom prst="can">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0256"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Measure</a:t>
            </a:r>
          </a:p>
        </p:txBody>
      </p:sp>
      <p:sp>
        <p:nvSpPr>
          <p:cNvPr id="19" name="TextBox 18"/>
          <p:cNvSpPr txBox="1"/>
          <p:nvPr/>
        </p:nvSpPr>
        <p:spPr>
          <a:xfrm>
            <a:off x="6620256"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TTFT: time to first token. ITL: gap between streamed tokens.</a:t>
            </a:r>
          </a:p>
        </p:txBody>
      </p:sp>
      <p:sp>
        <p:nvSpPr>
          <p:cNvPr id="20" name="Rounded Rectangle 19"/>
          <p:cNvSpPr/>
          <p:nvPr/>
        </p:nvSpPr>
        <p:spPr>
          <a:xfrm>
            <a:off x="9061703" y="1828800"/>
            <a:ext cx="2487168" cy="356616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27463" y="2194560"/>
            <a:ext cx="777240" cy="77724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cument 21"/>
          <p:cNvSpPr/>
          <p:nvPr/>
        </p:nvSpPr>
        <p:spPr>
          <a:xfrm>
            <a:off x="9621774" y="2388870"/>
            <a:ext cx="388620" cy="388620"/>
          </a:xfrm>
          <a:prstGeom prst="flowChartDocumen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7463" y="3200400"/>
            <a:ext cx="1755647" cy="731520"/>
          </a:xfrm>
          <a:prstGeom prst="rect">
            <a:avLst/>
          </a:prstGeom>
          <a:noFill/>
        </p:spPr>
        <p:txBody>
          <a:bodyPr wrap="square" lIns="0" rIns="0" tIns="0" bIns="0" anchor="t">
            <a:spAutoFit/>
          </a:bodyPr>
          <a:lstStyle/>
          <a:p>
            <a:pPr algn="l"/>
            <a:r>
              <a:rPr sz="2200" b="1" i="0">
                <a:solidFill>
                  <a:srgbClr val="1F2933"/>
                </a:solidFill>
                <a:latin typeface="Calibri"/>
              </a:rPr>
              <a:t>Secure</a:t>
            </a:r>
          </a:p>
        </p:txBody>
      </p:sp>
      <p:sp>
        <p:nvSpPr>
          <p:cNvPr id="24" name="TextBox 23"/>
          <p:cNvSpPr txBox="1"/>
          <p:nvPr/>
        </p:nvSpPr>
        <p:spPr>
          <a:xfrm>
            <a:off x="9427463" y="3931920"/>
            <a:ext cx="1755647" cy="1371600"/>
          </a:xfrm>
          <a:prstGeom prst="rect">
            <a:avLst/>
          </a:prstGeom>
          <a:noFill/>
        </p:spPr>
        <p:txBody>
          <a:bodyPr wrap="square" lIns="0" rIns="0" tIns="0" bIns="0" anchor="t">
            <a:spAutoFit/>
          </a:bodyPr>
          <a:lstStyle/>
          <a:p>
            <a:pPr algn="l"/>
            <a:r>
              <a:rPr sz="1700" b="0" i="0">
                <a:solidFill>
                  <a:srgbClr val="1F2933"/>
                </a:solidFill>
                <a:latin typeface="Calibri"/>
              </a:rPr>
              <a:t>cache_salt: per-tenant tag, not isolation.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From one gateway to a drill-tested fleet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1</a:t>
            </a:r>
          </a:p>
        </p:txBody>
      </p:sp>
      <p:cxnSp>
        <p:nvCxnSpPr>
          <p:cNvPr id="8" name="Connector 7"/>
          <p:cNvCxnSpPr/>
          <p:nvPr/>
        </p:nvCxnSpPr>
        <p:spPr>
          <a:xfrm>
            <a:off x="1828800"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One gateway (29)</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One URL; routes and retries</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2</a:t>
            </a:r>
          </a:p>
        </p:txBody>
      </p:sp>
      <p:cxnSp>
        <p:nvCxnSpPr>
          <p:cNvPr id="14" name="Connector 13"/>
          <p:cNvCxnSpPr/>
          <p:nvPr/>
        </p:nvCxnSpPr>
        <p:spPr>
          <a:xfrm>
            <a:off x="4092854"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Route on cache (30)</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Cache hits and tokens</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3</a:t>
            </a:r>
          </a:p>
        </p:txBody>
      </p:sp>
      <p:cxnSp>
        <p:nvCxnSpPr>
          <p:cNvPr id="20" name="Connector 19"/>
          <p:cNvCxnSpPr/>
          <p:nvPr/>
        </p:nvCxnSpPr>
        <p:spPr>
          <a:xfrm>
            <a:off x="6356908" y="2240280"/>
            <a:ext cx="1258215"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Limit the queue (33)</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503 at the door, counted</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4</a:t>
            </a:r>
          </a:p>
        </p:txBody>
      </p:sp>
      <p:cxnSp>
        <p:nvCxnSpPr>
          <p:cNvPr id="26" name="Connector 25"/>
          <p:cNvCxnSpPr/>
          <p:nvPr/>
        </p:nvCxnSpPr>
        <p:spPr>
          <a:xfrm>
            <a:off x="8620963" y="2240280"/>
            <a:ext cx="1258214" cy="0"/>
          </a:xfrm>
          <a:prstGeom prst="line">
            <a:avLst/>
          </a:prstGeom>
          <a:ln w="25400">
            <a:solidFill>
              <a:srgbClr val="4F46E5"/>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Scale, gate (31, 35)</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Queue signal; golden answers</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4F46E5"/>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Drill it (37)</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Recorded: kill a replica; gate 8/8 PASS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to answer before you ship</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KV Forge: Mastering LLM Inference, from KV Cache to Production</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AE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4F46E5"/>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is your queue limit? What does a 503 cost?</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4F46E5"/>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happens to p95 if a replica dies at peak?</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4F46E5"/>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Does scale-up start before the cold start ends?</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4F46E5"/>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Who saved the golden answers, and when?</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4F46E5"/>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log fields answer an audit without prompts?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5: Serving at scale and operations</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