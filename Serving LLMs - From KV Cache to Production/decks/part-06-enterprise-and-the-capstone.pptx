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Picture a restaurant with two kitchens. If one kitchen closes in the middle of service, the orders already taken but not yet cooked are what you could lose, and the time until guests are served again is the outage. Lesson 38 uses this picture to separate two words. RPO, the recovery point objective, counts the data or work you can lose. RTO, the recovery time objective, counts how long the service is down. Where the picture stops: a GPU replica is not a cook hired in an hour. It must first read about 70 GB of FP8 weights, which the lesson estimates at 35 to 350 seconds, using read rates it labels as assumed. Say that before the room assumes a second kitchen is free.</a:t>
            </a:r>
          </a:p>
          <a:p/>
          <a:p>
            <a:r>
              <a:t>From lessons: 38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two definitions slowly, because the interviewer will test whether you keep them apart. RPO is about data: a service can lose nothing and still be down for ten minutes. RTO is about time: how long until it serves again. Lesson 38's table gives each failure domain its own pair. An engine or GPU failure loses no stored data, but the streams in flight are cut and the client retries, because the KV cache lives in GPU memory and dies with the replica. A node restart costs 35 to 350 seconds of weight loading, which the lesson derives from assumed read rates, not from a measurement. Google Cloud's storage documentation, as the lesson cites it, gives dual-region weight buckets up to 12 hours of RPO by default. RPO is zero only when the weights are already in both regions. Treat every RTO as a design target until your own drill measures it.</a:t>
            </a:r>
          </a:p>
          <a:p/>
          <a:p>
            <a:r>
              <a:t>From lessons: 38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smallest working piece: one function that returns the share of the survivors' token rate that the peak needs. Lesson 38 sets the peak at 1,000 requests a second with 250 answer tokens each, which is 250,000 output tokens a second. TOK_S is the rate per GPU, and the lesson labels it DERIVED: MLPerf Inference v5.0 reports 33,072 tokens a second for Llama 2 70B on 8 H200 GPUs, divided by 8 and by 1.43 for an H100, giving about 2,891. That is an optimistic ceiling, so replace it with your own goodput measurement from lesson 27. The printed line is the lesson's own call: 1,000 requests a second on 125 planned GPUs, with 42 lost, gives 1.04, shown as 104 percent. Read the output: 125 planned GPUs over three zones, one zone of 42 GPUs lost, and the survivors need 104 percent of their capacity. Above 100 percent the queue grows without bound, and users time out and retry.</a:t>
            </a:r>
          </a:p>
          <a:p/>
          <a:p>
            <a:r>
              <a:t>From lessons: 38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planned fleet is 125 GPUs: the 10x peak divided by the 70 percent target, which leaves headroom for bursts. Lose one zone of three and the survivors need 104 percent of their capacity, which is an outage. The zone-proof fleet is 188 GPUs: 125 times three over two, so the two surviving zones still run at about 69 percent after a zone is lost. The price is 50 percent more GPUs. Two regions, each zone-proof and each carrying the full peak, come to 376 GPUs, about $18,000 a day at the assumed $2 per GPU-hour. These are decode-only counts: prefill needs its own share, which lesson 27 measures. Ask the team whether the zone rule is written in the design, or whether it only holds while every GPU is up.</a:t>
            </a:r>
          </a:p>
          <a:p/>
          <a:p>
            <a:r>
              <a:t>From lessons: 38</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monthly mobile data allowance. You may spend it, and when it is gone the rules change: you stop streaming until the next month. An error budget works the same way for failures. Lesson 39 defines it as 1 minus the SLO, counted in events over the window. For the capstone's 10,000 requests a second over 28 days, a 99 percent success target allows 241,920,000 failed requests. Where the comparison stops: you cannot buy more failures, and the budget alone does not say what happens when it is gone. A written error budget policy does that. It names who decides and which risky releases freeze, and the lesson's point is that the policy turns that trade into a rule instead of a meeting.</a:t>
            </a:r>
          </a:p>
          <a:p/>
          <a:p>
            <a:r>
              <a:t>From lessons: 39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parts, in order. The SLI is the measurement: good events divided by total events, such as the share of requests whose first token arrives under a threshold. The SLO is the target for that ratio over a window. The Google SRE Workbook, which lesson 39 cites, advises five or fewer SLIs and a four-week rolling window. The error budget is what the SLO allows to fail. The error budget policy is the written part: who wrote it, who approves it, the review dates, and what happens when the budget runs out. For LLM serving, keep one set of SLIs per tenant tier, because one platform-wide number hides the tenant with the longest prompts. The average hides the tenant that hurts.</a:t>
            </a:r>
          </a:p>
          <a:p/>
          <a:p>
            <a:r>
              <a:t>From lessons: 39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arithmetic is short enough to check by hand. Requests in the window: 10,000 a second, times 28 days, times 86,400 seconds, which is 24,192,000,000. The budget is 1 percent of that: 241,920,000 failed requests. The lesson then uses made-up failures, 180,000,000 so far, to show that 74 percent of the budget is spent and 61,920,000 are left. The same kind of cell rebuilds DeepSeek's published daily cost from its own inputs: 226.75 nodes times 8 GPUs times $2 an hour times 24 hours, which is $87,072. That shows what a published number is made of: arithmetic on an assumed price, not a measured bill. The failures in the example are invented, so read the output as the method, not as a result.</a:t>
            </a:r>
          </a:p>
          <a:p/>
          <a:p>
            <a:r>
              <a:t>From lessons: 39</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Picture a restaurant at the lunch rush with one cook off sick. The host does not let every table wait an hour. Some guests are seated and served, and the rest are told at the door that the kitchen is full. That is a degraded mode: the service keeps running at lower capacity, and it refuses the excess early instead of queueing it. Lesson 40 needs this for its two regional options. Where the picture stops: the host can see the whole room, while a server must refuse by rule, per tenant tier. The refused caller still gets an error, so the design must say which tenants are refused first, and that promise must be written down before the outage, not during it.</a:t>
            </a:r>
          </a:p>
          <a:p/>
          <a:p>
            <a:r>
              <a:t>From lessons: 40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capstone has to choose between two promises, and the table prices each one. Option A sizes each region for the full peak: 1,518 replicas per region, 3,036 GPUs across both regions, about $4.43 million a month at the assumed $2 per GPU-hour. A region loss keeps the full 10,000 requests a second. Option B sizes each region for half the peak: 759 replicas per region, 1,518 GPUs, about $2.22 million a month. After a region loss the survivor's 759 replicas at 8.57 requests a second serve about 6.5k of the 10k, which is 65 percent of the peak, and the rest is refused early. The three tenants have shares of 60, 30 and 10 percent. The lesson's rule is that the design states which promise it makes. Tenant rate ceilings are each tenant's share plus 20 percent, so one tenant's burst cannot take the others' capacity.</a:t>
            </a:r>
          </a:p>
          <a:p/>
          <a:p>
            <a:r>
              <a:t>From lessons: 40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arithmetic behind the choice. fleet() from step 3 gives the replicas per region from the peak, with 30 percent headroom and at least two replicas, using 8.57 requests a second per replica. That 8.57 comes from the lesson's prefill and decode arithmetic for one H200 at FP8, with one GPU per replica. It is a model number, so lesson 27's measured rate replaces it before anyone quotes a cost. Option A calls fleet with the full 10,000 requests a second, and option B with half. Each region's GPU count is twice its replicas because there are two regions, one GPU per replica. The output is the table that step 3 prints; its cost column comes from monthly(), which multiplies GPUs by the price per GPU-hour and by 730 hours. Change the price and the measured rate, and the table changes with them.</a:t>
            </a:r>
          </a:p>
          <a:p/>
          <a:p>
            <a:r>
              <a:t>From lessons: 40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two-region drill, run as a recording of the Compose lab. Its replicas are simulated: they run no model, they apply a queue limit and they answer with their name, so you can see where each request went. Healthy: region a answered all ten calls, alternating its two replicas. Region a down: the first two calls that reached the dead region returned HTTP 504 before the gateway marked region a as failed. Then seven calls reached region b. One more 504 came late, at the tenth call. The lesson reads it as most likely a retry of region a once the fail timeout had passed; the drill does not time each call, so that is a reading, not a measurement. Region a back: after an 11-second wait, region a took all ten calls again. Be careful with the claim. An earlier run without the wait sent calls back to region b, so the lesson says the design does not promise a clean fail-back and needs its own drill. The lab shows routing and the failure window, not the speed of a real engine.</a:t>
            </a:r>
          </a:p>
          <a:p/>
          <a:p>
            <a:r>
              <a:t>From lessons: 40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path in order; it is the same design each time. First one replica: the H200 FP8 model gives 8.57 requests a second, a model number until you measure it. Then the two regional options, with option A at 3,036 GPUs. Then the levers: the lesson assumes a 45 percent prefix-cache hit, and an 80 percent hit with the trace's 69-token mean answers cuts option A to 1,042 GPUs, about $1.5 million a month. Then the price: $0.84 per million output tokens at peak, counting both regions' GPUs, because option A pays for the standby region. Then tenants with shares of 60, 30 and 10 percent, and the drill. The numbers block the notebook writes to data/40 is the evidence page of the design: each line is a number printed by a cell.</a:t>
            </a:r>
          </a:p>
          <a:p/>
          <a:p>
            <a:r>
              <a:t>From lessons: 38, 39, 40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these in a design review or an interview. Ask for an RPO and an RTO for every failure domain, not one number for the whole service. Ask which GPU rate was measured and which is DERIVED or ASSUMED: the lesson's 2,891 tokens a second is an optimistic ceiling, and lesson 27's measurement replaces it. Ask who owns the error budget policy, who approves a risky change while the budget is low, and what gets frozen first. Ask for option A or B in one paragraph, with the first lever to cut and why. Then ask whether the design still holds after a region loss, with the second region's model weights checked before traffic moves. A good answer names a number, its source and its owner.</a:t>
            </a:r>
          </a:p>
          <a:p/>
          <a:p>
            <a:r>
              <a:t>From lessons: 38, 39, 40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3" name="TextBox 2"/>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a:t>
            </a:r>
          </a:p>
        </p:txBody>
      </p:sp>
      <p:sp>
        <p:nvSpPr>
          <p:cNvPr id="4" name="Oval 3"/>
          <p:cNvSpPr/>
          <p:nvPr/>
        </p:nvSpPr>
        <p:spPr>
          <a:xfrm>
            <a:off x="822960" y="146304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ube 4"/>
          <p:cNvSpPr/>
          <p:nvPr/>
        </p:nvSpPr>
        <p:spPr>
          <a:xfrm>
            <a:off x="1028700" y="1668780"/>
            <a:ext cx="411480" cy="411480"/>
          </a:xfrm>
          <a:prstGeom prst="cub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560320"/>
            <a:ext cx="7863840" cy="1463040"/>
          </a:xfrm>
          <a:prstGeom prst="rect">
            <a:avLst/>
          </a:prstGeom>
          <a:noFill/>
        </p:spPr>
        <p:txBody>
          <a:bodyPr wrap="square" lIns="0" rIns="0" tIns="0" bIns="0" anchor="b">
            <a:spAutoFit/>
          </a:bodyPr>
          <a:lstStyle/>
          <a:p>
            <a:pPr algn="l"/>
            <a:r>
              <a:rPr sz="4000" b="1" i="0">
                <a:solidFill>
                  <a:srgbClr val="1F2933"/>
                </a:solidFill>
                <a:latin typeface="Calibri"/>
              </a:rPr>
              <a:t>Enterprise and the capstone: size, fail over and defend an LLM platform</a:t>
            </a:r>
          </a:p>
        </p:txBody>
      </p:sp>
      <p:sp>
        <p:nvSpPr>
          <p:cNvPr id="7" name="TextBox 6"/>
          <p:cNvSpPr txBox="1"/>
          <p:nvPr/>
        </p:nvSpPr>
        <p:spPr>
          <a:xfrm>
            <a:off x="822960" y="4160520"/>
            <a:ext cx="10515600" cy="548640"/>
          </a:xfrm>
          <a:prstGeom prst="rect">
            <a:avLst/>
          </a:prstGeom>
          <a:noFill/>
        </p:spPr>
        <p:txBody>
          <a:bodyPr wrap="square" lIns="0" rIns="0" tIns="0" bIns="0" anchor="t">
            <a:spAutoFit/>
          </a:bodyPr>
          <a:lstStyle/>
          <a:p>
            <a:pPr algn="l"/>
            <a:r>
              <a:rPr sz="2000" b="0" i="0">
                <a:solidFill>
                  <a:srgbClr val="4F46E5"/>
                </a:solidFill>
                <a:latin typeface="Calibri"/>
              </a:rPr>
              <a:t>KV Forge · Part 6 · Lessons 38 to 40</a:t>
            </a:r>
          </a:p>
        </p:txBody>
      </p:sp>
      <p:sp>
        <p:nvSpPr>
          <p:cNvPr id="8" name="TextBox 7"/>
          <p:cNvSpPr txBox="1"/>
          <p:nvPr/>
        </p:nvSpPr>
        <p:spPr>
          <a:xfrm>
            <a:off x="822960" y="4800600"/>
            <a:ext cx="6858000" cy="457200"/>
          </a:xfrm>
          <a:prstGeom prst="rect">
            <a:avLst/>
          </a:prstGeom>
          <a:noFill/>
        </p:spPr>
        <p:txBody>
          <a:bodyPr wrap="square" lIns="0" rIns="0" tIns="0" bIns="0" anchor="t">
            <a:spAutoFit/>
          </a:bodyPr>
          <a:lstStyle/>
          <a:p>
            <a:pPr algn="l"/>
            <a:r>
              <a:rPr sz="1400" b="0" i="0">
                <a:solidFill>
                  <a:srgbClr val="6B7280"/>
                </a:solidFill>
                <a:latin typeface="Calibri"/>
              </a:rPr>
              <a:t>For learners of this course: developers and platform engineers who run LLM serving</a:t>
            </a:r>
          </a:p>
        </p:txBody>
      </p:sp>
      <p:cxnSp>
        <p:nvCxnSpPr>
          <p:cNvPr id="9" name="Connector 8"/>
          <p:cNvCxnSpPr/>
          <p:nvPr/>
        </p:nvCxnSpPr>
        <p:spPr>
          <a:xfrm flipH="1" flipV="1">
            <a:off x="8686800" y="1188719"/>
            <a:ext cx="1371600" cy="914401"/>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8430768" y="93268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V="1">
            <a:off x="10058400" y="1097279"/>
            <a:ext cx="1280160" cy="1005841"/>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1082528" y="84124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H="1">
            <a:off x="8595360" y="2103120"/>
            <a:ext cx="1463040" cy="914400"/>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339328" y="276148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10058400" y="2103120"/>
            <a:ext cx="1371600" cy="1005840"/>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1173968" y="2852928"/>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V="1">
            <a:off x="10058400" y="548639"/>
            <a:ext cx="0" cy="1554481"/>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9802368" y="29260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555480" y="1600199"/>
            <a:ext cx="1005840" cy="1005840"/>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Two kitchens: losing one must not stop service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2</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A restaurant with two kitchens</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If one kitchen closes, orders must reach the other</a:t>
            </a:r>
          </a:p>
        </p:txBody>
      </p:sp>
      <p:sp>
        <p:nvSpPr>
          <p:cNvPr id="9" name="Rounded Rectangle 8"/>
          <p:cNvSpPr/>
          <p:nvPr/>
        </p:nvSpPr>
        <p:spPr>
          <a:xfrm>
            <a:off x="6428232" y="1828800"/>
            <a:ext cx="5120640" cy="30175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4F46E5"/>
                </a:solidFill>
                <a:latin typeface="Calibri"/>
              </a:rPr>
              <a:t>Two regions</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If one region fails, the other carries the peak</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4F46E5"/>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cook is hired in hours; a GPU replica must first reload its weights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RPO: data lost. RTO: time to serve again</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3</a:t>
            </a:r>
          </a:p>
        </p:txBody>
      </p:sp>
      <p:sp>
        <p:nvSpPr>
          <p:cNvPr id="5" name="Rounded Rectangle 4"/>
          <p:cNvSpPr/>
          <p:nvPr/>
        </p:nvSpPr>
        <p:spPr>
          <a:xfrm>
            <a:off x="640080" y="1508760"/>
            <a:ext cx="10908792" cy="14173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RPO is the data you can lose, counted back in time; RTO is how long the service is down before it serves again.</a:t>
            </a:r>
          </a:p>
        </p:txBody>
      </p:sp>
      <p:sp>
        <p:nvSpPr>
          <p:cNvPr id="7" name="Rounded Rectangle 6"/>
          <p:cNvSpPr/>
          <p:nvPr/>
        </p:nvSpPr>
        <p:spPr>
          <a:xfrm>
            <a:off x="640080"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2904744" cy="777240"/>
          </a:xfrm>
          <a:prstGeom prst="rect">
            <a:avLst/>
          </a:prstGeom>
          <a:noFill/>
        </p:spPr>
        <p:txBody>
          <a:bodyPr wrap="square" lIns="0" rIns="0" tIns="0" bIns="0" anchor="b">
            <a:spAutoFit/>
          </a:bodyPr>
          <a:lstStyle/>
          <a:p>
            <a:pPr algn="l"/>
            <a:r>
              <a:rPr sz="2100" b="1" i="0">
                <a:solidFill>
                  <a:srgbClr val="4F46E5"/>
                </a:solidFill>
                <a:latin typeface="Calibri"/>
              </a:rPr>
              <a:t>RPO (recovery point)</a:t>
            </a:r>
          </a:p>
        </p:txBody>
      </p:sp>
      <p:sp>
        <p:nvSpPr>
          <p:cNvPr id="9" name="TextBox 8"/>
          <p:cNvSpPr txBox="1"/>
          <p:nvPr/>
        </p:nvSpPr>
        <p:spPr>
          <a:xfrm>
            <a:off x="914400"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Data lost, counted back in time</a:t>
            </a:r>
          </a:p>
        </p:txBody>
      </p:sp>
      <p:sp>
        <p:nvSpPr>
          <p:cNvPr id="10" name="Rounded Rectangle 9"/>
          <p:cNvSpPr/>
          <p:nvPr/>
        </p:nvSpPr>
        <p:spPr>
          <a:xfrm>
            <a:off x="4367784"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42104" y="3337560"/>
            <a:ext cx="2904744" cy="777240"/>
          </a:xfrm>
          <a:prstGeom prst="rect">
            <a:avLst/>
          </a:prstGeom>
          <a:noFill/>
        </p:spPr>
        <p:txBody>
          <a:bodyPr wrap="square" lIns="0" rIns="0" tIns="0" bIns="0" anchor="b">
            <a:spAutoFit/>
          </a:bodyPr>
          <a:lstStyle/>
          <a:p>
            <a:pPr algn="l"/>
            <a:r>
              <a:rPr sz="2100" b="1" i="0">
                <a:solidFill>
                  <a:srgbClr val="4F46E5"/>
                </a:solidFill>
                <a:latin typeface="Calibri"/>
              </a:rPr>
              <a:t>RTO (recovery time)</a:t>
            </a:r>
          </a:p>
        </p:txBody>
      </p:sp>
      <p:sp>
        <p:nvSpPr>
          <p:cNvPr id="12" name="TextBox 11"/>
          <p:cNvSpPr txBox="1"/>
          <p:nvPr/>
        </p:nvSpPr>
        <p:spPr>
          <a:xfrm>
            <a:off x="4642104"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Time until it serves again</a:t>
            </a:r>
          </a:p>
        </p:txBody>
      </p:sp>
      <p:sp>
        <p:nvSpPr>
          <p:cNvPr id="13" name="Rounded Rectangle 12"/>
          <p:cNvSpPr/>
          <p:nvPr/>
        </p:nvSpPr>
        <p:spPr>
          <a:xfrm>
            <a:off x="8095488"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9808" y="3337560"/>
            <a:ext cx="2904744" cy="777240"/>
          </a:xfrm>
          <a:prstGeom prst="rect">
            <a:avLst/>
          </a:prstGeom>
          <a:noFill/>
        </p:spPr>
        <p:txBody>
          <a:bodyPr wrap="square" lIns="0" rIns="0" tIns="0" bIns="0" anchor="b">
            <a:spAutoFit/>
          </a:bodyPr>
          <a:lstStyle/>
          <a:p>
            <a:pPr algn="l"/>
            <a:r>
              <a:rPr sz="2100" b="1" i="0">
                <a:solidFill>
                  <a:srgbClr val="4F46E5"/>
                </a:solidFill>
                <a:latin typeface="Calibri"/>
              </a:rPr>
              <a:t>Failure domain</a:t>
            </a:r>
          </a:p>
        </p:txBody>
      </p:sp>
      <p:sp>
        <p:nvSpPr>
          <p:cNvPr id="15" name="TextBox 14"/>
          <p:cNvSpPr txBox="1"/>
          <p:nvPr/>
        </p:nvSpPr>
        <p:spPr>
          <a:xfrm>
            <a:off x="8369808"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Each one gets its own pair</a:t>
            </a:r>
          </a:p>
        </p:txBody>
      </p:sp>
      <p:sp>
        <p:nvSpPr>
          <p:cNvPr id="16" name="TextBox 15"/>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region loss: RPO 0 only if weights sit in both; default copy: up to 12 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One zone lost: the survivors need 104%</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4</a:t>
            </a:r>
          </a:p>
        </p:txBody>
      </p:sp>
      <p:sp>
        <p:nvSpPr>
          <p:cNvPr id="5" name="Rounded Rectangle 4"/>
          <p:cNvSpPr/>
          <p:nvPr/>
        </p:nvSpPr>
        <p:spPr>
          <a:xfrm>
            <a:off x="640080" y="1554480"/>
            <a:ext cx="7315200" cy="1276502"/>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265273"/>
            <a:ext cx="7168896" cy="309676"/>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6858000" cy="1002182"/>
          </a:xfrm>
          <a:prstGeom prst="rect">
            <a:avLst/>
          </a:prstGeom>
          <a:noFill/>
        </p:spPr>
        <p:txBody>
          <a:bodyPr wrap="none" lIns="0" rIns="0" tIns="0" bIns="0">
            <a:noAutofit/>
          </a:bodyPr>
          <a:lstStyle/>
          <a:p>
            <a:pPr algn="l">
              <a:lnSpc>
                <a:spcPct val="112000"/>
              </a:lnSpc>
            </a:pPr>
            <a:r>
              <a:rPr sz="1600" b="0" i="1">
                <a:solidFill>
                  <a:srgbClr val="6B7280"/>
                </a:solidFill>
                <a:latin typeface="Consolas"/>
              </a:rPr>
              <a:t># the share of the survivors' token rate the peak needs</a:t>
            </a:r>
          </a:p>
          <a:p>
            <a:pPr algn="l">
              <a:lnSpc>
                <a:spcPct val="112000"/>
              </a:lnSpc>
            </a:pPr>
            <a:r>
              <a:rPr sz="1600" b="1" i="0">
                <a:solidFill>
                  <a:srgbClr val="4F46E5"/>
                </a:solidFill>
                <a:latin typeface="Consolas"/>
              </a:rPr>
              <a:t>def</a:t>
            </a:r>
            <a:r>
              <a:rPr sz="1600" b="0" i="0">
                <a:solidFill>
                  <a:srgbClr val="1F2933"/>
                </a:solidFill>
                <a:latin typeface="Consolas"/>
              </a:rPr>
              <a:t> </a:t>
            </a:r>
            <a:r>
              <a:rPr sz="1600" b="1" i="0">
                <a:solidFill>
                  <a:srgbClr val="1F2933"/>
                </a:solidFill>
                <a:latin typeface="Consolas"/>
              </a:rPr>
              <a:t>util_after_loss</a:t>
            </a:r>
            <a:r>
              <a:rPr sz="1600" b="0" i="0">
                <a:solidFill>
                  <a:srgbClr val="1F2933"/>
                </a:solidFill>
                <a:latin typeface="Consolas"/>
              </a:rPr>
              <a:t>(qps, gpus, lost, out_tok=OUT_TOK):</a:t>
            </a:r>
          </a:p>
          <a:p>
            <a:pPr algn="l">
              <a:lnSpc>
                <a:spcPct val="112000"/>
              </a:lnSpc>
            </a:pPr>
            <a:r>
              <a:rPr sz="1600" b="0" i="0">
                <a:solidFill>
                  <a:srgbClr val="1F2933"/>
                </a:solidFill>
                <a:latin typeface="Consolas"/>
              </a:rPr>
              <a:t>    </a:t>
            </a:r>
            <a:r>
              <a:rPr sz="1600" b="1" i="0">
                <a:solidFill>
                  <a:srgbClr val="4F46E5"/>
                </a:solidFill>
                <a:latin typeface="Consolas"/>
              </a:rPr>
              <a:t>return</a:t>
            </a:r>
            <a:r>
              <a:rPr sz="1600" b="0" i="0">
                <a:solidFill>
                  <a:srgbClr val="1F2933"/>
                </a:solidFill>
                <a:latin typeface="Consolas"/>
              </a:rPr>
              <a:t> qps * out_tok / ((gpus - lost) * TOK_S)</a:t>
            </a:r>
          </a:p>
        </p:txBody>
      </p:sp>
      <p:sp>
        <p:nvSpPr>
          <p:cNvPr id="8" name="Rounded Rectangle 7"/>
          <p:cNvSpPr/>
          <p:nvPr/>
        </p:nvSpPr>
        <p:spPr>
          <a:xfrm>
            <a:off x="640080" y="2940710"/>
            <a:ext cx="7315200" cy="658368"/>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013862"/>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0" name="TextBox 9"/>
          <p:cNvSpPr txBox="1"/>
          <p:nvPr/>
        </p:nvSpPr>
        <p:spPr>
          <a:xfrm>
            <a:off x="1828800" y="3032150"/>
            <a:ext cx="5943600" cy="384048"/>
          </a:xfrm>
          <a:prstGeom prst="rect">
            <a:avLst/>
          </a:prstGeom>
          <a:noFill/>
        </p:spPr>
        <p:txBody>
          <a:bodyPr wrap="square" lIns="0" rIns="0" tIns="0" bIns="0" anchor="t">
            <a:spAutoFit/>
          </a:bodyPr>
          <a:lstStyle/>
          <a:p>
            <a:pPr algn="l"/>
            <a:r>
              <a:rPr sz="1600" b="0" i="0">
                <a:solidFill>
                  <a:srgbClr val="E5E7EB"/>
                </a:solidFill>
                <a:latin typeface="Consolas"/>
              </a:rPr>
              <a:t>10x, 125 GPUs over 3 zones: losing a zone (42 GPUs) leaves survivors at 104%</a:t>
            </a:r>
          </a:p>
        </p:txBody>
      </p:sp>
      <p:sp>
        <p:nvSpPr>
          <p:cNvPr id="11" name="TextBox 10"/>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4F46E5"/>
                </a:solidFill>
                <a:latin typeface="Calibri"/>
              </a:rPr>
              <a:t>●  </a:t>
            </a:r>
            <a:r>
              <a:rPr sz="1900">
                <a:solidFill>
                  <a:srgbClr val="1F2933"/>
                </a:solidFill>
                <a:latin typeface="Calibri"/>
              </a:rPr>
              <a:t>Output: the lesson's printed line for the 10x plan</a:t>
            </a:r>
          </a:p>
          <a:p>
            <a:pPr>
              <a:spcAft>
                <a:spcPts val="1000"/>
              </a:spcAft>
            </a:pPr>
            <a:r>
              <a:rPr sz="1300">
                <a:solidFill>
                  <a:srgbClr val="4F46E5"/>
                </a:solidFill>
                <a:latin typeface="Calibri"/>
              </a:rPr>
              <a:t>●  </a:t>
            </a:r>
            <a:r>
              <a:rPr sz="1900">
                <a:solidFill>
                  <a:srgbClr val="1F2933"/>
                </a:solidFill>
                <a:latin typeface="Calibri"/>
              </a:rPr>
              <a:t>Above 100% the queue grows without bound</a:t>
            </a:r>
          </a:p>
        </p:txBody>
      </p:sp>
      <p:sp>
        <p:nvSpPr>
          <p:cNvPr id="12" name="TextBox 11"/>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Zone-proof fleet holds when a zone fails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5</a:t>
            </a:r>
          </a:p>
        </p:txBody>
      </p:sp>
      <p:sp>
        <p:nvSpPr>
          <p:cNvPr id="5" name="Rounded Rectangle 4"/>
          <p:cNvSpPr/>
          <p:nvPr/>
        </p:nvSpPr>
        <p:spPr>
          <a:xfrm>
            <a:off x="640080" y="1600200"/>
            <a:ext cx="5120640" cy="37947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19" y="1783080"/>
            <a:ext cx="4480560" cy="365760"/>
          </a:xfrm>
          <a:prstGeom prst="rect">
            <a:avLst/>
          </a:prstGeom>
          <a:noFill/>
        </p:spPr>
        <p:txBody>
          <a:bodyPr wrap="square" lIns="0" rIns="0" tIns="0" bIns="0" anchor="t">
            <a:spAutoFit/>
          </a:bodyPr>
          <a:lstStyle/>
          <a:p>
            <a:pPr algn="l"/>
            <a:r>
              <a:rPr sz="1800" b="1" i="0">
                <a:solidFill>
                  <a:srgbClr val="B91C1C"/>
                </a:solidFill>
                <a:latin typeface="Calibri"/>
              </a:rPr>
              <a:t>Planned: 125 GPUs</a:t>
            </a:r>
          </a:p>
        </p:txBody>
      </p:sp>
      <p:sp>
        <p:nvSpPr>
          <p:cNvPr id="7" name="Rounded Rectangle 6"/>
          <p:cNvSpPr/>
          <p:nvPr/>
        </p:nvSpPr>
        <p:spPr>
          <a:xfrm>
            <a:off x="731519"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10x peak: 125 GPUs</a:t>
            </a:r>
          </a:p>
        </p:txBody>
      </p:sp>
      <p:cxnSp>
        <p:nvCxnSpPr>
          <p:cNvPr id="8" name="Connector 7"/>
          <p:cNvCxnSpPr/>
          <p:nvPr/>
        </p:nvCxnSpPr>
        <p:spPr>
          <a:xfrm>
            <a:off x="2252471" y="3520440"/>
            <a:ext cx="164593"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462784"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Zone lost: 42 GPUs out</a:t>
            </a:r>
          </a:p>
        </p:txBody>
      </p:sp>
      <p:cxnSp>
        <p:nvCxnSpPr>
          <p:cNvPr id="10" name="Connector 9"/>
          <p:cNvCxnSpPr/>
          <p:nvPr/>
        </p:nvCxnSpPr>
        <p:spPr>
          <a:xfrm>
            <a:off x="3983736" y="3520440"/>
            <a:ext cx="164592"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194048"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Survivors at 104%: outage</a:t>
            </a:r>
          </a:p>
        </p:txBody>
      </p:sp>
      <p:sp>
        <p:nvSpPr>
          <p:cNvPr id="12" name="TextBox 11"/>
          <p:cNvSpPr txBox="1"/>
          <p:nvPr/>
        </p:nvSpPr>
        <p:spPr>
          <a:xfrm>
            <a:off x="960119" y="4892040"/>
            <a:ext cx="4480560" cy="320040"/>
          </a:xfrm>
          <a:prstGeom prst="rect">
            <a:avLst/>
          </a:prstGeom>
          <a:noFill/>
        </p:spPr>
        <p:txBody>
          <a:bodyPr wrap="square" lIns="0" rIns="0" tIns="0" bIns="0" anchor="t">
            <a:spAutoFit/>
          </a:bodyPr>
          <a:lstStyle/>
          <a:p>
            <a:pPr algn="l"/>
            <a:r>
              <a:rPr sz="1300" b="1" i="0">
                <a:solidFill>
                  <a:srgbClr val="B91C1C"/>
                </a:solidFill>
                <a:latin typeface="Calibri"/>
              </a:rPr>
              <a:t/>
            </a:r>
          </a:p>
        </p:txBody>
      </p:sp>
      <p:sp>
        <p:nvSpPr>
          <p:cNvPr id="13" name="Rounded Rectangle 12"/>
          <p:cNvSpPr/>
          <p:nvPr/>
        </p:nvSpPr>
        <p:spPr>
          <a:xfrm>
            <a:off x="6428232" y="1600200"/>
            <a:ext cx="5120640" cy="379476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48272" y="1783080"/>
            <a:ext cx="4480560" cy="365760"/>
          </a:xfrm>
          <a:prstGeom prst="rect">
            <a:avLst/>
          </a:prstGeom>
          <a:noFill/>
        </p:spPr>
        <p:txBody>
          <a:bodyPr wrap="square" lIns="0" rIns="0" tIns="0" bIns="0" anchor="t">
            <a:spAutoFit/>
          </a:bodyPr>
          <a:lstStyle/>
          <a:p>
            <a:pPr algn="l"/>
            <a:r>
              <a:rPr sz="1800" b="1" i="0">
                <a:solidFill>
                  <a:srgbClr val="4F46E5"/>
                </a:solidFill>
                <a:latin typeface="Calibri"/>
              </a:rPr>
              <a:t>Zone-proof: 188 GPUs</a:t>
            </a:r>
          </a:p>
        </p:txBody>
      </p:sp>
      <p:sp>
        <p:nvSpPr>
          <p:cNvPr id="15" name="Rounded Rectangle 14"/>
          <p:cNvSpPr/>
          <p:nvPr/>
        </p:nvSpPr>
        <p:spPr>
          <a:xfrm>
            <a:off x="6519672"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10x peak: 188 GPUs</a:t>
            </a:r>
          </a:p>
        </p:txBody>
      </p:sp>
      <p:cxnSp>
        <p:nvCxnSpPr>
          <p:cNvPr id="16" name="Connector 15"/>
          <p:cNvCxnSpPr/>
          <p:nvPr/>
        </p:nvCxnSpPr>
        <p:spPr>
          <a:xfrm>
            <a:off x="8040624" y="3520440"/>
            <a:ext cx="164591"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250936"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Zone lost: 63 GPUs out</a:t>
            </a:r>
          </a:p>
        </p:txBody>
      </p:sp>
      <p:cxnSp>
        <p:nvCxnSpPr>
          <p:cNvPr id="18" name="Connector 17"/>
          <p:cNvCxnSpPr/>
          <p:nvPr/>
        </p:nvCxnSpPr>
        <p:spPr>
          <a:xfrm>
            <a:off x="9771888" y="3520440"/>
            <a:ext cx="164591"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982200" y="3086100"/>
            <a:ext cx="1475232" cy="868680"/>
          </a:xfrm>
          <a:prstGeom prst="roundRect">
            <a:avLst>
              <a:gd name="adj" fmla="val 12000"/>
            </a:avLst>
          </a:prstGeom>
          <a:solidFill>
            <a:srgbClr val="4F46E5"/>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1">
                <a:solidFill>
                  <a:srgbClr val="FFFFFF"/>
                </a:solidFill>
                <a:latin typeface="Calibri"/>
              </a:rPr>
              <a:t>Survivors at 69%: holds</a:t>
            </a:r>
          </a:p>
        </p:txBody>
      </p:sp>
      <p:sp>
        <p:nvSpPr>
          <p:cNvPr id="20" name="TextBox 19"/>
          <p:cNvSpPr txBox="1"/>
          <p:nvPr/>
        </p:nvSpPr>
        <p:spPr>
          <a:xfrm>
            <a:off x="6748272" y="4892040"/>
            <a:ext cx="4480560" cy="320040"/>
          </a:xfrm>
          <a:prstGeom prst="rect">
            <a:avLst/>
          </a:prstGeom>
          <a:noFill/>
        </p:spPr>
        <p:txBody>
          <a:bodyPr wrap="square" lIns="0" rIns="0" tIns="0" bIns="0" anchor="t">
            <a:spAutoFit/>
          </a:bodyPr>
          <a:lstStyle/>
          <a:p>
            <a:pPr algn="l"/>
            <a:r>
              <a:rPr sz="1300" b="1" i="0">
                <a:solidFill>
                  <a:srgbClr val="4F46E5"/>
                </a:solidFill>
                <a:latin typeface="Calibri"/>
              </a:rPr>
              <a:t/>
            </a:r>
          </a:p>
        </p:txBody>
      </p:sp>
      <p:sp>
        <p:nvSpPr>
          <p:cNvPr id="21" name="TextBox 20"/>
          <p:cNvSpPr txBox="1"/>
          <p:nvPr/>
        </p:nvSpPr>
        <p:spPr>
          <a:xfrm>
            <a:off x="640080" y="5577840"/>
            <a:ext cx="5120640" cy="548640"/>
          </a:xfrm>
          <a:prstGeom prst="rect">
            <a:avLst/>
          </a:prstGeom>
          <a:noFill/>
        </p:spPr>
        <p:txBody>
          <a:bodyPr wrap="square" lIns="0" rIns="0" tIns="0" bIns="0" anchor="t">
            <a:spAutoFit/>
          </a:bodyPr>
          <a:lstStyle/>
          <a:p>
            <a:pPr algn="l"/>
            <a:r>
              <a:rPr sz="1400" b="0" i="0">
                <a:solidFill>
                  <a:srgbClr val="6B7280"/>
                </a:solidFill>
                <a:latin typeface="Calibri"/>
              </a:rPr>
              <a:t>Holds only while every GPU is up</a:t>
            </a:r>
          </a:p>
        </p:txBody>
      </p:sp>
      <p:sp>
        <p:nvSpPr>
          <p:cNvPr id="22" name="TextBox 21"/>
          <p:cNvSpPr txBox="1"/>
          <p:nvPr/>
        </p:nvSpPr>
        <p:spPr>
          <a:xfrm>
            <a:off x="6428232" y="5577840"/>
            <a:ext cx="5120640" cy="548640"/>
          </a:xfrm>
          <a:prstGeom prst="rect">
            <a:avLst/>
          </a:prstGeom>
          <a:noFill/>
        </p:spPr>
        <p:txBody>
          <a:bodyPr wrap="square" lIns="0" rIns="0" tIns="0" bIns="0" anchor="t">
            <a:spAutoFit/>
          </a:bodyPr>
          <a:lstStyle/>
          <a:p>
            <a:pPr algn="l"/>
            <a:r>
              <a:rPr sz="1400" b="0" i="0">
                <a:solidFill>
                  <a:srgbClr val="6B7280"/>
                </a:solidFill>
                <a:latin typeface="Calibri"/>
              </a:rPr>
              <a:t>About 50% more GPUs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data allowance: spend it, then rules change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6</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A monthly mobile data plan</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A fixed allowance; spent, then you stop until next month</a:t>
            </a:r>
          </a:p>
        </p:txBody>
      </p:sp>
      <p:sp>
        <p:nvSpPr>
          <p:cNvPr id="9" name="Rounded Rectangle 8"/>
          <p:cNvSpPr/>
          <p:nvPr/>
        </p:nvSpPr>
        <p:spPr>
          <a:xfrm>
            <a:off x="6428232" y="1828800"/>
            <a:ext cx="5120640" cy="30175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4F46E5"/>
                </a:solidFill>
                <a:latin typeface="Calibri"/>
              </a:rPr>
              <a:t>Error budget</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Allowed failures per window; spent, then risky releases freeze</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4F46E5"/>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the allowance is not enough on its own; a written policy must say who freezes what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The error budget: failures the SLO allows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7</a:t>
            </a:r>
          </a:p>
        </p:txBody>
      </p:sp>
      <p:sp>
        <p:nvSpPr>
          <p:cNvPr id="5" name="Rounded Rectangle 4"/>
          <p:cNvSpPr/>
          <p:nvPr/>
        </p:nvSpPr>
        <p:spPr>
          <a:xfrm>
            <a:off x="640080" y="1508760"/>
            <a:ext cx="10908792" cy="14173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The error budget is 1 minus the SLO, counted in events over the window.</a:t>
            </a:r>
          </a:p>
        </p:txBody>
      </p:sp>
      <p:sp>
        <p:nvSpPr>
          <p:cNvPr id="7" name="Rounded Rectangle 6"/>
          <p:cNvSpPr/>
          <p:nvPr/>
        </p:nvSpPr>
        <p:spPr>
          <a:xfrm>
            <a:off x="640080"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SLI</a:t>
            </a:r>
          </a:p>
        </p:txBody>
      </p:sp>
      <p:sp>
        <p:nvSpPr>
          <p:cNvPr id="9" name="TextBox 8"/>
          <p:cNvSpPr txBox="1"/>
          <p:nvPr/>
        </p:nvSpPr>
        <p:spPr>
          <a:xfrm>
            <a:off x="914400"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A measured ratio: good events over total events</a:t>
            </a:r>
          </a:p>
        </p:txBody>
      </p:sp>
      <p:sp>
        <p:nvSpPr>
          <p:cNvPr id="10" name="Rounded Rectangle 9"/>
          <p:cNvSpPr/>
          <p:nvPr/>
        </p:nvSpPr>
        <p:spPr>
          <a:xfrm>
            <a:off x="3435857"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10177"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SLO</a:t>
            </a:r>
          </a:p>
        </p:txBody>
      </p:sp>
      <p:sp>
        <p:nvSpPr>
          <p:cNvPr id="12" name="TextBox 11"/>
          <p:cNvSpPr txBox="1"/>
          <p:nvPr/>
        </p:nvSpPr>
        <p:spPr>
          <a:xfrm>
            <a:off x="3710177"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The target for that ratio over a window</a:t>
            </a:r>
          </a:p>
        </p:txBody>
      </p:sp>
      <p:sp>
        <p:nvSpPr>
          <p:cNvPr id="13" name="Rounded Rectangle 12"/>
          <p:cNvSpPr/>
          <p:nvPr/>
        </p:nvSpPr>
        <p:spPr>
          <a:xfrm>
            <a:off x="6231636"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5955"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Error budget</a:t>
            </a:r>
          </a:p>
        </p:txBody>
      </p:sp>
      <p:sp>
        <p:nvSpPr>
          <p:cNvPr id="15" name="TextBox 14"/>
          <p:cNvSpPr txBox="1"/>
          <p:nvPr/>
        </p:nvSpPr>
        <p:spPr>
          <a:xfrm>
            <a:off x="6505955"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The failures the target allows</a:t>
            </a:r>
          </a:p>
        </p:txBody>
      </p:sp>
      <p:sp>
        <p:nvSpPr>
          <p:cNvPr id="16" name="Rounded Rectangle 15"/>
          <p:cNvSpPr/>
          <p:nvPr/>
        </p:nvSpPr>
        <p:spPr>
          <a:xfrm>
            <a:off x="9027413"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01734"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Error budget policy</a:t>
            </a:r>
          </a:p>
        </p:txBody>
      </p:sp>
      <p:sp>
        <p:nvSpPr>
          <p:cNvPr id="18" name="TextBox 17"/>
          <p:cNvSpPr txBox="1"/>
          <p:nvPr/>
        </p:nvSpPr>
        <p:spPr>
          <a:xfrm>
            <a:off x="9301734"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Written rules for an exhausted budget</a:t>
            </a:r>
          </a:p>
        </p:txBody>
      </p:sp>
      <p:sp>
        <p:nvSpPr>
          <p:cNvPr id="19" name="TextBox 18"/>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99% success over 28 days at 10,000 requests a second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The budget is 1% of 24 billion requests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8</a:t>
            </a:r>
          </a:p>
        </p:txBody>
      </p:sp>
      <p:sp>
        <p:nvSpPr>
          <p:cNvPr id="5" name="Rounded Rectangle 4"/>
          <p:cNvSpPr/>
          <p:nvPr/>
        </p:nvSpPr>
        <p:spPr>
          <a:xfrm>
            <a:off x="640080" y="1554480"/>
            <a:ext cx="7315200" cy="1617878"/>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009241"/>
            <a:ext cx="7168896" cy="326745"/>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2299411"/>
            <a:ext cx="7168896" cy="326745"/>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6858000" cy="1343558"/>
          </a:xfrm>
          <a:prstGeom prst="rect">
            <a:avLst/>
          </a:prstGeom>
          <a:noFill/>
        </p:spPr>
        <p:txBody>
          <a:bodyPr wrap="none" lIns="0" rIns="0" tIns="0" bIns="0">
            <a:noAutofit/>
          </a:bodyPr>
          <a:lstStyle/>
          <a:p>
            <a:pPr algn="l">
              <a:lnSpc>
                <a:spcPct val="112000"/>
              </a:lnSpc>
            </a:pPr>
            <a:r>
              <a:rPr sz="1700" b="0" i="1">
                <a:solidFill>
                  <a:srgbClr val="6B7280"/>
                </a:solidFill>
                <a:latin typeface="Consolas"/>
              </a:rPr>
              <a:t># set above: qps 10,000 a second, 28 days, SLO 99%</a:t>
            </a:r>
          </a:p>
          <a:p>
            <a:pPr algn="l">
              <a:lnSpc>
                <a:spcPct val="112000"/>
              </a:lnSpc>
            </a:pPr>
            <a:r>
              <a:rPr sz="1700" b="0" i="0">
                <a:solidFill>
                  <a:srgbClr val="1F2933"/>
                </a:solidFill>
                <a:latin typeface="Consolas"/>
              </a:rPr>
              <a:t>requests = qps * window_days * </a:t>
            </a:r>
            <a:r>
              <a:rPr sz="1700" b="0" i="0">
                <a:solidFill>
                  <a:srgbClr val="C2410C"/>
                </a:solidFill>
                <a:latin typeface="Consolas"/>
              </a:rPr>
              <a:t>24</a:t>
            </a:r>
            <a:r>
              <a:rPr sz="1700" b="0" i="0">
                <a:solidFill>
                  <a:srgbClr val="1F2933"/>
                </a:solidFill>
                <a:latin typeface="Consolas"/>
              </a:rPr>
              <a:t> * </a:t>
            </a:r>
            <a:r>
              <a:rPr sz="1700" b="0" i="0">
                <a:solidFill>
                  <a:srgbClr val="C2410C"/>
                </a:solidFill>
                <a:latin typeface="Consolas"/>
              </a:rPr>
              <a:t>3600</a:t>
            </a:r>
          </a:p>
          <a:p>
            <a:pPr algn="l">
              <a:lnSpc>
                <a:spcPct val="112000"/>
              </a:lnSpc>
            </a:pPr>
            <a:r>
              <a:rPr sz="1700" b="0" i="0">
                <a:solidFill>
                  <a:srgbClr val="1F2933"/>
                </a:solidFill>
                <a:latin typeface="Consolas"/>
              </a:rPr>
              <a:t>budget = </a:t>
            </a:r>
            <a:r>
              <a:rPr sz="1700" b="0" i="0">
                <a:solidFill>
                  <a:srgbClr val="0E7490"/>
                </a:solidFill>
                <a:latin typeface="Consolas"/>
              </a:rPr>
              <a:t>round</a:t>
            </a:r>
            <a:r>
              <a:rPr sz="1700" b="0" i="0">
                <a:solidFill>
                  <a:srgbClr val="1F2933"/>
                </a:solidFill>
                <a:latin typeface="Consolas"/>
              </a:rPr>
              <a:t>(requests * (</a:t>
            </a:r>
            <a:r>
              <a:rPr sz="1700" b="0" i="0">
                <a:solidFill>
                  <a:srgbClr val="C2410C"/>
                </a:solidFill>
                <a:latin typeface="Consolas"/>
              </a:rPr>
              <a:t>1</a:t>
            </a:r>
            <a:r>
              <a:rPr sz="1700" b="0" i="0">
                <a:solidFill>
                  <a:srgbClr val="1F2933"/>
                </a:solidFill>
                <a:latin typeface="Consolas"/>
              </a:rPr>
              <a:t> - slo))</a:t>
            </a:r>
          </a:p>
          <a:p>
            <a:pPr algn="l">
              <a:lnSpc>
                <a:spcPct val="112000"/>
              </a:lnSpc>
            </a:pPr>
            <a:r>
              <a:rPr sz="1700" b="0" i="0">
                <a:solidFill>
                  <a:srgbClr val="0E7490"/>
                </a:solidFill>
                <a:latin typeface="Consolas"/>
              </a:rPr>
              <a:t>print</a:t>
            </a:r>
            <a:r>
              <a:rPr sz="1700" b="0" i="0">
                <a:solidFill>
                  <a:srgbClr val="1F2933"/>
                </a:solidFill>
                <a:latin typeface="Consolas"/>
              </a:rPr>
              <a:t>(</a:t>
            </a:r>
            <a:r>
              <a:rPr sz="1700" b="0" i="0">
                <a:solidFill>
                  <a:srgbClr val="B45309"/>
                </a:solidFill>
                <a:latin typeface="Consolas"/>
              </a:rPr>
              <a:t>f"requests in the window: {</a:t>
            </a:r>
            <a:r>
              <a:rPr sz="1700" b="0" i="0">
                <a:solidFill>
                  <a:srgbClr val="1F2933"/>
                </a:solidFill>
                <a:latin typeface="Consolas"/>
              </a:rPr>
              <a:t>requests</a:t>
            </a:r>
            <a:r>
              <a:rPr sz="1700" b="0" i="0">
                <a:solidFill>
                  <a:srgbClr val="B45309"/>
                </a:solidFill>
                <a:latin typeface="Consolas"/>
              </a:rPr>
              <a:t>:,}"</a:t>
            </a:r>
            <a:r>
              <a:rPr sz="1700" b="0" i="0">
                <a:solidFill>
                  <a:srgbClr val="1F2933"/>
                </a:solidFill>
                <a:latin typeface="Consolas"/>
              </a:rPr>
              <a:t>)</a:t>
            </a:r>
          </a:p>
        </p:txBody>
      </p:sp>
      <p:sp>
        <p:nvSpPr>
          <p:cNvPr id="9" name="Rounded Rectangle 8"/>
          <p:cNvSpPr/>
          <p:nvPr/>
        </p:nvSpPr>
        <p:spPr>
          <a:xfrm>
            <a:off x="640080" y="3282086"/>
            <a:ext cx="7315200" cy="658368"/>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355238"/>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1" name="TextBox 10"/>
          <p:cNvSpPr txBox="1"/>
          <p:nvPr/>
        </p:nvSpPr>
        <p:spPr>
          <a:xfrm>
            <a:off x="1828800" y="3373526"/>
            <a:ext cx="5943600" cy="384048"/>
          </a:xfrm>
          <a:prstGeom prst="rect">
            <a:avLst/>
          </a:prstGeom>
          <a:noFill/>
        </p:spPr>
        <p:txBody>
          <a:bodyPr wrap="square" lIns="0" rIns="0" tIns="0" bIns="0" anchor="t">
            <a:spAutoFit/>
          </a:bodyPr>
          <a:lstStyle/>
          <a:p>
            <a:pPr algn="l"/>
            <a:r>
              <a:rPr sz="1600" b="0" i="0">
                <a:solidFill>
                  <a:srgbClr val="E5E7EB"/>
                </a:solidFill>
                <a:latin typeface="Consolas"/>
              </a:rPr>
              <a:t>requests in the window: 24,192,000,000</a:t>
            </a:r>
          </a:p>
        </p:txBody>
      </p:sp>
      <p:sp>
        <p:nvSpPr>
          <p:cNvPr id="12" name="TextBox 11"/>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4F46E5"/>
                </a:solidFill>
                <a:latin typeface="Calibri"/>
              </a:rPr>
              <a:t>●  </a:t>
            </a:r>
            <a:r>
              <a:rPr sz="1900">
                <a:solidFill>
                  <a:srgbClr val="1F2933"/>
                </a:solidFill>
                <a:latin typeface="Calibri"/>
              </a:rPr>
              <a:t>Budget line: 1% of that, 241,920,000 failed requests</a:t>
            </a:r>
          </a:p>
          <a:p>
            <a:pPr>
              <a:spcAft>
                <a:spcPts val="1000"/>
              </a:spcAft>
            </a:pPr>
            <a:r>
              <a:rPr sz="1300">
                <a:solidFill>
                  <a:srgbClr val="4F46E5"/>
                </a:solidFill>
                <a:latin typeface="Calibri"/>
              </a:rPr>
              <a:t>●  </a:t>
            </a:r>
            <a:r>
              <a:rPr sz="1900">
                <a:solidFill>
                  <a:srgbClr val="1F2933"/>
                </a:solidFill>
                <a:latin typeface="Calibri"/>
              </a:rPr>
              <a:t>Same arithmetic rebuilds DeepSeek's daily cost</a:t>
            </a:r>
          </a:p>
        </p:txBody>
      </p:sp>
      <p:sp>
        <p:nvSpPr>
          <p:cNvPr id="13" name="TextBox 12"/>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Lunch rush: turn guests away early</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9</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A restaurant at the lunch rush</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One cook is off: the host seats fewer, early</a:t>
            </a:r>
          </a:p>
        </p:txBody>
      </p:sp>
      <p:sp>
        <p:nvSpPr>
          <p:cNvPr id="9" name="Rounded Rectangle 8"/>
          <p:cNvSpPr/>
          <p:nvPr/>
        </p:nvSpPr>
        <p:spPr>
          <a:xfrm>
            <a:off x="6428232" y="1828800"/>
            <a:ext cx="5120640" cy="30175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4F46E5"/>
                </a:solidFill>
                <a:latin typeface="Calibri"/>
              </a:rPr>
              <a:t>Degraded mode</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Serve less; refuse the excess fast, not queue it</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4F46E5"/>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host sees the whole room; a server must refuse by rule, per tenant tier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Degraded mode: serve less, refuse early</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10</a:t>
            </a:r>
          </a:p>
        </p:txBody>
      </p:sp>
      <p:sp>
        <p:nvSpPr>
          <p:cNvPr id="5" name="Rounded Rectangle 4"/>
          <p:cNvSpPr/>
          <p:nvPr/>
        </p:nvSpPr>
        <p:spPr>
          <a:xfrm>
            <a:off x="640080" y="1508760"/>
            <a:ext cx="10908792" cy="14173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A degraded mode keeps the service running at lower capacity after a failure, refusing the excess early instead of queueing it.</a:t>
            </a:r>
          </a:p>
        </p:txBody>
      </p:sp>
      <p:sp>
        <p:nvSpPr>
          <p:cNvPr id="7" name="Rounded Rectangle 6"/>
          <p:cNvSpPr/>
          <p:nvPr/>
        </p:nvSpPr>
        <p:spPr>
          <a:xfrm>
            <a:off x="640080"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2904744" cy="777240"/>
          </a:xfrm>
          <a:prstGeom prst="rect">
            <a:avLst/>
          </a:prstGeom>
          <a:noFill/>
        </p:spPr>
        <p:txBody>
          <a:bodyPr wrap="square" lIns="0" rIns="0" tIns="0" bIns="0" anchor="b">
            <a:spAutoFit/>
          </a:bodyPr>
          <a:lstStyle/>
          <a:p>
            <a:pPr algn="l"/>
            <a:r>
              <a:rPr sz="2100" b="1" i="0">
                <a:solidFill>
                  <a:srgbClr val="4F46E5"/>
                </a:solidFill>
                <a:latin typeface="Calibri"/>
              </a:rPr>
              <a:t>Lower capacity</a:t>
            </a:r>
          </a:p>
        </p:txBody>
      </p:sp>
      <p:sp>
        <p:nvSpPr>
          <p:cNvPr id="9" name="TextBox 8"/>
          <p:cNvSpPr txBox="1"/>
          <p:nvPr/>
        </p:nvSpPr>
        <p:spPr>
          <a:xfrm>
            <a:off x="914400"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The surviving region keeps serving</a:t>
            </a:r>
          </a:p>
        </p:txBody>
      </p:sp>
      <p:sp>
        <p:nvSpPr>
          <p:cNvPr id="10" name="Rounded Rectangle 9"/>
          <p:cNvSpPr/>
          <p:nvPr/>
        </p:nvSpPr>
        <p:spPr>
          <a:xfrm>
            <a:off x="4367784"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42104" y="3337560"/>
            <a:ext cx="2904744" cy="777240"/>
          </a:xfrm>
          <a:prstGeom prst="rect">
            <a:avLst/>
          </a:prstGeom>
          <a:noFill/>
        </p:spPr>
        <p:txBody>
          <a:bodyPr wrap="square" lIns="0" rIns="0" tIns="0" bIns="0" anchor="b">
            <a:spAutoFit/>
          </a:bodyPr>
          <a:lstStyle/>
          <a:p>
            <a:pPr algn="l"/>
            <a:r>
              <a:rPr sz="2100" b="1" i="0">
                <a:solidFill>
                  <a:srgbClr val="4F46E5"/>
                </a:solidFill>
                <a:latin typeface="Calibri"/>
              </a:rPr>
              <a:t>Early refusal</a:t>
            </a:r>
          </a:p>
        </p:txBody>
      </p:sp>
      <p:sp>
        <p:nvSpPr>
          <p:cNvPr id="12" name="TextBox 11"/>
          <p:cNvSpPr txBox="1"/>
          <p:nvPr/>
        </p:nvSpPr>
        <p:spPr>
          <a:xfrm>
            <a:off x="4642104"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The excess gets a fast error, not a long wait</a:t>
            </a:r>
          </a:p>
        </p:txBody>
      </p:sp>
      <p:sp>
        <p:nvSpPr>
          <p:cNvPr id="13" name="Rounded Rectangle 12"/>
          <p:cNvSpPr/>
          <p:nvPr/>
        </p:nvSpPr>
        <p:spPr>
          <a:xfrm>
            <a:off x="8095488"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9808" y="3337560"/>
            <a:ext cx="2904744" cy="777240"/>
          </a:xfrm>
          <a:prstGeom prst="rect">
            <a:avLst/>
          </a:prstGeom>
          <a:noFill/>
        </p:spPr>
        <p:txBody>
          <a:bodyPr wrap="square" lIns="0" rIns="0" tIns="0" bIns="0" anchor="b">
            <a:spAutoFit/>
          </a:bodyPr>
          <a:lstStyle/>
          <a:p>
            <a:pPr algn="l"/>
            <a:r>
              <a:rPr sz="2100" b="1" i="0">
                <a:solidFill>
                  <a:srgbClr val="4F46E5"/>
                </a:solidFill>
                <a:latin typeface="Calibri"/>
              </a:rPr>
              <a:t>Tier order</a:t>
            </a:r>
          </a:p>
        </p:txBody>
      </p:sp>
      <p:sp>
        <p:nvSpPr>
          <p:cNvPr id="15" name="TextBox 14"/>
          <p:cNvSpPr txBox="1"/>
          <p:nvPr/>
        </p:nvSpPr>
        <p:spPr>
          <a:xfrm>
            <a:off x="8369808"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Top tier keeps its place in the queue</a:t>
            </a:r>
          </a:p>
        </p:txBody>
      </p:sp>
      <p:sp>
        <p:nvSpPr>
          <p:cNvPr id="16" name="TextBox 15"/>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option B: 759 × 8.57 ≈ 6.5k of 10k req/s after a region loss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Option A or B: one line sets each fleet</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11</a:t>
            </a:r>
          </a:p>
        </p:txBody>
      </p:sp>
      <p:sp>
        <p:nvSpPr>
          <p:cNvPr id="5" name="Rounded Rectangle 4"/>
          <p:cNvSpPr/>
          <p:nvPr/>
        </p:nvSpPr>
        <p:spPr>
          <a:xfrm>
            <a:off x="640080" y="1554480"/>
            <a:ext cx="7315200" cy="1225296"/>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1975103"/>
            <a:ext cx="7168896" cy="292608"/>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2231136"/>
            <a:ext cx="7168896" cy="292608"/>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6858000" cy="950976"/>
          </a:xfrm>
          <a:prstGeom prst="rect">
            <a:avLst/>
          </a:prstGeom>
          <a:noFill/>
        </p:spPr>
        <p:txBody>
          <a:bodyPr wrap="none" lIns="0" rIns="0" tIns="0" bIns="0">
            <a:noAutofit/>
          </a:bodyPr>
          <a:lstStyle/>
          <a:p>
            <a:pPr algn="l">
              <a:lnSpc>
                <a:spcPct val="112000"/>
              </a:lnSpc>
            </a:pPr>
            <a:r>
              <a:rPr sz="1500" b="0" i="1">
                <a:solidFill>
                  <a:srgbClr val="6B7280"/>
                </a:solidFill>
                <a:latin typeface="Consolas"/>
              </a:rPr>
              <a:t># fleet() from step 3: replicas per region, with headroom</a:t>
            </a:r>
          </a:p>
          <a:p>
            <a:pPr algn="l">
              <a:lnSpc>
                <a:spcPct val="112000"/>
              </a:lnSpc>
            </a:pPr>
            <a:r>
              <a:rPr sz="1500" b="0" i="0">
                <a:solidFill>
                  <a:srgbClr val="1F2933"/>
                </a:solidFill>
                <a:latin typeface="Consolas"/>
              </a:rPr>
              <a:t>per_a = fleet(MINE[</a:t>
            </a:r>
            <a:r>
              <a:rPr sz="1500" b="0" i="0">
                <a:solidFill>
                  <a:srgbClr val="B45309"/>
                </a:solidFill>
                <a:latin typeface="Consolas"/>
              </a:rPr>
              <a:t>"peak_qps"</a:t>
            </a:r>
            <a:r>
              <a:rPr sz="1500" b="0" i="0">
                <a:solidFill>
                  <a:srgbClr val="1F2933"/>
                </a:solidFill>
                <a:latin typeface="Consolas"/>
              </a:rPr>
              <a:t>]); gpus_a = </a:t>
            </a:r>
            <a:r>
              <a:rPr sz="1500" b="0" i="0">
                <a:solidFill>
                  <a:srgbClr val="C2410C"/>
                </a:solidFill>
                <a:latin typeface="Consolas"/>
              </a:rPr>
              <a:t>2</a:t>
            </a:r>
            <a:r>
              <a:rPr sz="1500" b="0" i="0">
                <a:solidFill>
                  <a:srgbClr val="1F2933"/>
                </a:solidFill>
                <a:latin typeface="Consolas"/>
              </a:rPr>
              <a:t> * per_a</a:t>
            </a:r>
          </a:p>
          <a:p>
            <a:pPr algn="l">
              <a:lnSpc>
                <a:spcPct val="112000"/>
              </a:lnSpc>
            </a:pPr>
            <a:r>
              <a:rPr sz="1500" b="0" i="0">
                <a:solidFill>
                  <a:srgbClr val="1F2933"/>
                </a:solidFill>
                <a:latin typeface="Consolas"/>
              </a:rPr>
              <a:t>per_b = fleet(MINE[</a:t>
            </a:r>
            <a:r>
              <a:rPr sz="1500" b="0" i="0">
                <a:solidFill>
                  <a:srgbClr val="B45309"/>
                </a:solidFill>
                <a:latin typeface="Consolas"/>
              </a:rPr>
              <a:t>"peak_qps"</a:t>
            </a:r>
            <a:r>
              <a:rPr sz="1500" b="0" i="0">
                <a:solidFill>
                  <a:srgbClr val="1F2933"/>
                </a:solidFill>
                <a:latin typeface="Consolas"/>
              </a:rPr>
              <a:t>] / </a:t>
            </a:r>
            <a:r>
              <a:rPr sz="1500" b="0" i="0">
                <a:solidFill>
                  <a:srgbClr val="C2410C"/>
                </a:solidFill>
                <a:latin typeface="Consolas"/>
              </a:rPr>
              <a:t>2</a:t>
            </a:r>
            <a:r>
              <a:rPr sz="1500" b="0" i="0">
                <a:solidFill>
                  <a:srgbClr val="1F2933"/>
                </a:solidFill>
                <a:latin typeface="Consolas"/>
              </a:rPr>
              <a:t>); gpus_b = </a:t>
            </a:r>
            <a:r>
              <a:rPr sz="1500" b="0" i="0">
                <a:solidFill>
                  <a:srgbClr val="C2410C"/>
                </a:solidFill>
                <a:latin typeface="Consolas"/>
              </a:rPr>
              <a:t>2</a:t>
            </a:r>
            <a:r>
              <a:rPr sz="1500" b="0" i="0">
                <a:solidFill>
                  <a:srgbClr val="1F2933"/>
                </a:solidFill>
                <a:latin typeface="Consolas"/>
              </a:rPr>
              <a:t> * per_b</a:t>
            </a:r>
          </a:p>
        </p:txBody>
      </p:sp>
      <p:sp>
        <p:nvSpPr>
          <p:cNvPr id="9" name="Rounded Rectangle 8"/>
          <p:cNvSpPr/>
          <p:nvPr/>
        </p:nvSpPr>
        <p:spPr>
          <a:xfrm>
            <a:off x="640080" y="2889504"/>
            <a:ext cx="7315200" cy="1042415"/>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962656"/>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1" name="TextBox 10"/>
          <p:cNvSpPr txBox="1"/>
          <p:nvPr/>
        </p:nvSpPr>
        <p:spPr>
          <a:xfrm>
            <a:off x="1828800" y="2980944"/>
            <a:ext cx="5943600" cy="768096"/>
          </a:xfrm>
          <a:prstGeom prst="rect">
            <a:avLst/>
          </a:prstGeom>
          <a:noFill/>
        </p:spPr>
        <p:txBody>
          <a:bodyPr wrap="square" lIns="0" rIns="0" tIns="0" bIns="0" anchor="t">
            <a:spAutoFit/>
          </a:bodyPr>
          <a:lstStyle/>
          <a:p>
            <a:pPr algn="l"/>
            <a:r>
              <a:rPr sz="1600" b="0" i="0">
                <a:solidFill>
                  <a:srgbClr val="E5E7EB"/>
                </a:solidFill>
                <a:latin typeface="Consolas"/>
              </a:rPr>
              <a:t>A: each region at full peak               1,518  3,036     4,432,560</a:t>
            </a:r>
          </a:p>
          <a:p>
            <a:pPr algn="l"/>
            <a:r>
              <a:rPr sz="1600" b="0" i="0">
                <a:solidFill>
                  <a:srgbClr val="E5E7EB"/>
                </a:solidFill>
                <a:latin typeface="Consolas"/>
              </a:rPr>
              <a:t>B: each region at half, degraded             759  1,518     2,216,280</a:t>
            </a:r>
          </a:p>
        </p:txBody>
      </p:sp>
      <p:sp>
        <p:nvSpPr>
          <p:cNvPr id="12" name="TextBox 11"/>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4F46E5"/>
                </a:solidFill>
                <a:latin typeface="Calibri"/>
              </a:rPr>
              <a:t>●  </a:t>
            </a:r>
            <a:r>
              <a:rPr sz="1900">
                <a:solidFill>
                  <a:srgbClr val="1F2933"/>
                </a:solidFill>
                <a:latin typeface="Calibri"/>
              </a:rPr>
              <a:t>30% headroom, at least two replicas per region</a:t>
            </a:r>
          </a:p>
          <a:p>
            <a:pPr>
              <a:spcAft>
                <a:spcPts val="1000"/>
              </a:spcAft>
            </a:pPr>
            <a:r>
              <a:rPr sz="1300">
                <a:solidFill>
                  <a:srgbClr val="4F46E5"/>
                </a:solidFill>
                <a:latin typeface="Calibri"/>
              </a:rPr>
              <a:t>●  </a:t>
            </a:r>
            <a:r>
              <a:rPr sz="1900">
                <a:solidFill>
                  <a:srgbClr val="1F2933"/>
                </a:solidFill>
                <a:latin typeface="Calibri"/>
              </a:rPr>
              <a:t>8.57 req/s per replica is a model value, not measured</a:t>
            </a:r>
          </a:p>
          <a:p>
            <a:pPr>
              <a:spcAft>
                <a:spcPts val="1000"/>
              </a:spcAft>
            </a:pPr>
            <a:r>
              <a:rPr sz="1300">
                <a:solidFill>
                  <a:srgbClr val="4F46E5"/>
                </a:solidFill>
                <a:latin typeface="Calibri"/>
              </a:rPr>
              <a:t>●  </a:t>
            </a:r>
            <a:r>
              <a:rPr sz="1900">
                <a:solidFill>
                  <a:srgbClr val="1F2933"/>
                </a:solidFill>
                <a:latin typeface="Calibri"/>
              </a:rPr>
              <a:t>Output is the table step 3 prints, cost from monthly()</a:t>
            </a:r>
          </a:p>
        </p:txBody>
      </p:sp>
      <p:sp>
        <p:nvSpPr>
          <p:cNvPr id="13" name="TextBox 12"/>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The drill: three errors, two during failure detection</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12</a:t>
            </a:r>
          </a:p>
        </p:txBody>
      </p:sp>
      <p:sp>
        <p:nvSpPr>
          <p:cNvPr id="5" name="Rounded Rectangle 4"/>
          <p:cNvSpPr/>
          <p:nvPr/>
        </p:nvSpPr>
        <p:spPr>
          <a:xfrm>
            <a:off x="640080" y="1645920"/>
            <a:ext cx="6949440" cy="41148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3131820"/>
            <a:ext cx="1111910"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Healthy: 10 to region a</a:t>
            </a:r>
          </a:p>
        </p:txBody>
      </p:sp>
      <p:cxnSp>
        <p:nvCxnSpPr>
          <p:cNvPr id="7" name="Connector 6"/>
          <p:cNvCxnSpPr/>
          <p:nvPr/>
        </p:nvCxnSpPr>
        <p:spPr>
          <a:xfrm>
            <a:off x="1980590" y="3703320"/>
            <a:ext cx="164592"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190902" y="3131820"/>
            <a:ext cx="1111910"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Region a down: 2 errors</a:t>
            </a:r>
          </a:p>
        </p:txBody>
      </p:sp>
      <p:cxnSp>
        <p:nvCxnSpPr>
          <p:cNvPr id="9" name="Connector 8"/>
          <p:cNvCxnSpPr/>
          <p:nvPr/>
        </p:nvCxnSpPr>
        <p:spPr>
          <a:xfrm>
            <a:off x="3348532" y="3703320"/>
            <a:ext cx="164592"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558844" y="3131820"/>
            <a:ext cx="1111910"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Then 7 to region b</a:t>
            </a:r>
          </a:p>
        </p:txBody>
      </p:sp>
      <p:cxnSp>
        <p:nvCxnSpPr>
          <p:cNvPr id="11" name="Connector 10"/>
          <p:cNvCxnSpPr/>
          <p:nvPr/>
        </p:nvCxnSpPr>
        <p:spPr>
          <a:xfrm>
            <a:off x="4716475" y="3703320"/>
            <a:ext cx="164592"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926787" y="3131820"/>
            <a:ext cx="1111910"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1 late error</a:t>
            </a:r>
          </a:p>
        </p:txBody>
      </p:sp>
      <p:cxnSp>
        <p:nvCxnSpPr>
          <p:cNvPr id="13" name="Connector 12"/>
          <p:cNvCxnSpPr/>
          <p:nvPr/>
        </p:nvCxnSpPr>
        <p:spPr>
          <a:xfrm>
            <a:off x="6084417" y="3703320"/>
            <a:ext cx="164592"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294729" y="3131820"/>
            <a:ext cx="1111910" cy="1143000"/>
          </a:xfrm>
          <a:prstGeom prst="roundRect">
            <a:avLst>
              <a:gd name="adj" fmla="val 12000"/>
            </a:avLst>
          </a:prstGeom>
          <a:solidFill>
            <a:srgbClr val="4F46E5"/>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1">
                <a:solidFill>
                  <a:srgbClr val="FFFFFF"/>
                </a:solidFill>
                <a:latin typeface="Calibri"/>
              </a:rPr>
              <a:t>Back: 10 to region a</a:t>
            </a:r>
          </a:p>
        </p:txBody>
      </p:sp>
      <p:sp>
        <p:nvSpPr>
          <p:cNvPr id="15" name="TextBox 14"/>
          <p:cNvSpPr txBox="1"/>
          <p:nvPr/>
        </p:nvSpPr>
        <p:spPr>
          <a:xfrm>
            <a:off x="8001000" y="1920240"/>
            <a:ext cx="3566160" cy="3657600"/>
          </a:xfrm>
          <a:prstGeom prst="rect">
            <a:avLst/>
          </a:prstGeom>
          <a:noFill/>
        </p:spPr>
        <p:txBody>
          <a:bodyPr wrap="square" lIns="0" rIns="0" tIns="0" bIns="0">
            <a:spAutoFit/>
          </a:bodyPr>
          <a:lstStyle/>
          <a:p>
            <a:pPr>
              <a:spcAft>
                <a:spcPts val="1000"/>
              </a:spcAft>
            </a:pPr>
            <a:r>
              <a:rPr sz="1100">
                <a:solidFill>
                  <a:srgbClr val="4F46E5"/>
                </a:solidFill>
                <a:latin typeface="Calibri"/>
              </a:rPr>
              <a:t>●  </a:t>
            </a:r>
            <a:r>
              <a:rPr sz="1700">
                <a:solidFill>
                  <a:srgbClr val="1F2933"/>
                </a:solidFill>
                <a:latin typeface="Calibri"/>
              </a:rPr>
              <a:t>Two early errors: the detection window</a:t>
            </a:r>
          </a:p>
          <a:p>
            <a:pPr>
              <a:spcAft>
                <a:spcPts val="1000"/>
              </a:spcAft>
            </a:pPr>
            <a:r>
              <a:rPr sz="1100">
                <a:solidFill>
                  <a:srgbClr val="4F46E5"/>
                </a:solidFill>
                <a:latin typeface="Calibri"/>
              </a:rPr>
              <a:t>●  </a:t>
            </a:r>
            <a:r>
              <a:rPr sz="1700">
                <a:solidFill>
                  <a:srgbClr val="1F2933"/>
                </a:solidFill>
                <a:latin typeface="Calibri"/>
              </a:rPr>
              <a:t>The late error is a reading, not measured</a:t>
            </a:r>
          </a:p>
        </p:txBody>
      </p:sp>
      <p:sp>
        <p:nvSpPr>
          <p:cNvPr id="16" name="TextBox 15"/>
          <p:cNvSpPr txBox="1"/>
          <p:nvPr/>
        </p:nvSpPr>
        <p:spPr>
          <a:xfrm>
            <a:off x="640080" y="5852160"/>
            <a:ext cx="10881360" cy="411480"/>
          </a:xfrm>
          <a:prstGeom prst="rect">
            <a:avLst/>
          </a:prstGeom>
          <a:noFill/>
        </p:spPr>
        <p:txBody>
          <a:bodyPr wrap="square" lIns="0" rIns="0" tIns="0" bIns="0" anchor="t">
            <a:spAutoFit/>
          </a:bodyPr>
          <a:lstStyle/>
          <a:p>
            <a:pPr algn="l"/>
            <a:r>
              <a:rPr sz="1400" b="0" i="0">
                <a:solidFill>
                  <a:srgbClr val="6B7280"/>
                </a:solidFill>
                <a:latin typeface="Calibri"/>
              </a:rPr>
              <a:t>Recorded run; SIMULATED replicas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From one replica to a two-region platform</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13</a:t>
            </a:r>
          </a:p>
        </p:txBody>
      </p:sp>
      <p:sp>
        <p:nvSpPr>
          <p:cNvPr id="5" name="Rounded Rectangle 4"/>
          <p:cNvSpPr/>
          <p:nvPr/>
        </p:nvSpPr>
        <p:spPr>
          <a:xfrm>
            <a:off x="594359"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1</a:t>
            </a:r>
          </a:p>
        </p:txBody>
      </p:sp>
      <p:cxnSp>
        <p:nvCxnSpPr>
          <p:cNvPr id="8" name="Connector 7"/>
          <p:cNvCxnSpPr/>
          <p:nvPr/>
        </p:nvCxnSpPr>
        <p:spPr>
          <a:xfrm>
            <a:off x="1828800" y="2240280"/>
            <a:ext cx="1258214"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14400"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One replica</a:t>
            </a:r>
          </a:p>
        </p:txBody>
      </p:sp>
      <p:sp>
        <p:nvSpPr>
          <p:cNvPr id="10" name="TextBox 9"/>
          <p:cNvSpPr txBox="1"/>
          <p:nvPr/>
        </p:nvSpPr>
        <p:spPr>
          <a:xfrm>
            <a:off x="914400"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8.57 requests a second (assumed)</a:t>
            </a:r>
          </a:p>
        </p:txBody>
      </p:sp>
      <p:sp>
        <p:nvSpPr>
          <p:cNvPr id="11" name="Rounded Rectangle 10"/>
          <p:cNvSpPr/>
          <p:nvPr/>
        </p:nvSpPr>
        <p:spPr>
          <a:xfrm>
            <a:off x="2858414"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178454"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78454"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2</a:t>
            </a:r>
          </a:p>
        </p:txBody>
      </p:sp>
      <p:cxnSp>
        <p:nvCxnSpPr>
          <p:cNvPr id="14" name="Connector 13"/>
          <p:cNvCxnSpPr/>
          <p:nvPr/>
        </p:nvCxnSpPr>
        <p:spPr>
          <a:xfrm>
            <a:off x="4092854" y="2240280"/>
            <a:ext cx="1258214"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178454"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Two regions</a:t>
            </a:r>
          </a:p>
        </p:txBody>
      </p:sp>
      <p:sp>
        <p:nvSpPr>
          <p:cNvPr id="16" name="TextBox 15"/>
          <p:cNvSpPr txBox="1"/>
          <p:nvPr/>
        </p:nvSpPr>
        <p:spPr>
          <a:xfrm>
            <a:off x="3178454"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3,036 GPUs, full peak each (assumed)</a:t>
            </a:r>
          </a:p>
        </p:txBody>
      </p:sp>
      <p:sp>
        <p:nvSpPr>
          <p:cNvPr id="17" name="Rounded Rectangle 16"/>
          <p:cNvSpPr/>
          <p:nvPr/>
        </p:nvSpPr>
        <p:spPr>
          <a:xfrm>
            <a:off x="5122468"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442508"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42508"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3</a:t>
            </a:r>
          </a:p>
        </p:txBody>
      </p:sp>
      <p:cxnSp>
        <p:nvCxnSpPr>
          <p:cNvPr id="20" name="Connector 19"/>
          <p:cNvCxnSpPr/>
          <p:nvPr/>
        </p:nvCxnSpPr>
        <p:spPr>
          <a:xfrm>
            <a:off x="6356908" y="2240280"/>
            <a:ext cx="1258215"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442508"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Cut the fleet</a:t>
            </a:r>
          </a:p>
        </p:txBody>
      </p:sp>
      <p:sp>
        <p:nvSpPr>
          <p:cNvPr id="22" name="TextBox 21"/>
          <p:cNvSpPr txBox="1"/>
          <p:nvPr/>
        </p:nvSpPr>
        <p:spPr>
          <a:xfrm>
            <a:off x="5442508"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1,042 GPUs: 80% hits, short answers (assumed)</a:t>
            </a:r>
          </a:p>
        </p:txBody>
      </p:sp>
      <p:sp>
        <p:nvSpPr>
          <p:cNvPr id="23" name="Rounded Rectangle 22"/>
          <p:cNvSpPr/>
          <p:nvPr/>
        </p:nvSpPr>
        <p:spPr>
          <a:xfrm>
            <a:off x="7386523"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706563"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06563"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4</a:t>
            </a:r>
          </a:p>
        </p:txBody>
      </p:sp>
      <p:cxnSp>
        <p:nvCxnSpPr>
          <p:cNvPr id="26" name="Connector 25"/>
          <p:cNvCxnSpPr/>
          <p:nvPr/>
        </p:nvCxnSpPr>
        <p:spPr>
          <a:xfrm>
            <a:off x="8620963" y="2240280"/>
            <a:ext cx="1258214"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06563"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Price it</a:t>
            </a:r>
          </a:p>
        </p:txBody>
      </p:sp>
      <p:sp>
        <p:nvSpPr>
          <p:cNvPr id="28" name="TextBox 27"/>
          <p:cNvSpPr txBox="1"/>
          <p:nvPr/>
        </p:nvSpPr>
        <p:spPr>
          <a:xfrm>
            <a:off x="7706563"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$0.84 per million output tokens (assumed)</a:t>
            </a:r>
          </a:p>
        </p:txBody>
      </p:sp>
      <p:sp>
        <p:nvSpPr>
          <p:cNvPr id="29" name="Rounded Rectangle 28"/>
          <p:cNvSpPr/>
          <p:nvPr/>
        </p:nvSpPr>
        <p:spPr>
          <a:xfrm>
            <a:off x="9650577"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70617"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70617"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5</a:t>
            </a:r>
          </a:p>
        </p:txBody>
      </p:sp>
      <p:sp>
        <p:nvSpPr>
          <p:cNvPr id="32" name="TextBox 31"/>
          <p:cNvSpPr txBox="1"/>
          <p:nvPr/>
        </p:nvSpPr>
        <p:spPr>
          <a:xfrm>
            <a:off x="9970617"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Prove it</a:t>
            </a:r>
          </a:p>
        </p:txBody>
      </p:sp>
      <p:sp>
        <p:nvSpPr>
          <p:cNvPr id="33" name="TextBox 32"/>
          <p:cNvSpPr txBox="1"/>
          <p:nvPr/>
        </p:nvSpPr>
        <p:spPr>
          <a:xfrm>
            <a:off x="9970617"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Drill: 3 errors of 10 (simulated)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Questions to ask in your next design review</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14</a:t>
            </a:r>
          </a:p>
        </p:txBody>
      </p:sp>
      <p:sp>
        <p:nvSpPr>
          <p:cNvPr id="5" name="Oval 4"/>
          <p:cNvSpPr/>
          <p:nvPr/>
        </p:nvSpPr>
        <p:spPr>
          <a:xfrm>
            <a:off x="640080" y="1783080"/>
            <a:ext cx="914400" cy="91440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Callout 5"/>
          <p:cNvSpPr/>
          <p:nvPr/>
        </p:nvSpPr>
        <p:spPr>
          <a:xfrm>
            <a:off x="868680" y="2011680"/>
            <a:ext cx="457200" cy="457200"/>
          </a:xfrm>
          <a:prstGeom prst="wedgeEllipseCallou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0" y="1783080"/>
            <a:ext cx="548640" cy="548640"/>
          </a:xfrm>
          <a:prstGeom prst="rect">
            <a:avLst/>
          </a:prstGeom>
          <a:noFill/>
        </p:spPr>
        <p:txBody>
          <a:bodyPr wrap="square" lIns="0" rIns="0" tIns="0" bIns="0" anchor="t">
            <a:spAutoFit/>
          </a:bodyPr>
          <a:lstStyle/>
          <a:p>
            <a:pPr algn="l"/>
            <a:r>
              <a:rPr sz="2200" b="1" i="0">
                <a:solidFill>
                  <a:srgbClr val="4F46E5"/>
                </a:solidFill>
                <a:latin typeface="Calibri"/>
              </a:rPr>
              <a:t>1</a:t>
            </a:r>
          </a:p>
        </p:txBody>
      </p:sp>
      <p:sp>
        <p:nvSpPr>
          <p:cNvPr id="8" name="TextBox 7"/>
          <p:cNvSpPr txBox="1"/>
          <p:nvPr/>
        </p:nvSpPr>
        <p:spPr>
          <a:xfrm>
            <a:off x="2560320" y="1810512"/>
            <a:ext cx="8961120" cy="731520"/>
          </a:xfrm>
          <a:prstGeom prst="rect">
            <a:avLst/>
          </a:prstGeom>
          <a:noFill/>
        </p:spPr>
        <p:txBody>
          <a:bodyPr wrap="square" lIns="0" rIns="0" tIns="0" bIns="0" anchor="t">
            <a:spAutoFit/>
          </a:bodyPr>
          <a:lstStyle/>
          <a:p>
            <a:pPr algn="l"/>
            <a:r>
              <a:rPr sz="1900" b="0" i="0">
                <a:solidFill>
                  <a:srgbClr val="1F2933"/>
                </a:solidFill>
                <a:latin typeface="Calibri"/>
              </a:rPr>
              <a:t>What RPO and RTO does each failure domain get?</a:t>
            </a:r>
          </a:p>
        </p:txBody>
      </p:sp>
      <p:sp>
        <p:nvSpPr>
          <p:cNvPr id="9" name="TextBox 8"/>
          <p:cNvSpPr txBox="1"/>
          <p:nvPr/>
        </p:nvSpPr>
        <p:spPr>
          <a:xfrm>
            <a:off x="2011680" y="2624328"/>
            <a:ext cx="548640" cy="548640"/>
          </a:xfrm>
          <a:prstGeom prst="rect">
            <a:avLst/>
          </a:prstGeom>
          <a:noFill/>
        </p:spPr>
        <p:txBody>
          <a:bodyPr wrap="square" lIns="0" rIns="0" tIns="0" bIns="0" anchor="t">
            <a:spAutoFit/>
          </a:bodyPr>
          <a:lstStyle/>
          <a:p>
            <a:pPr algn="l"/>
            <a:r>
              <a:rPr sz="2200" b="1" i="0">
                <a:solidFill>
                  <a:srgbClr val="4F46E5"/>
                </a:solidFill>
                <a:latin typeface="Calibri"/>
              </a:rPr>
              <a:t>2</a:t>
            </a:r>
          </a:p>
        </p:txBody>
      </p:sp>
      <p:sp>
        <p:nvSpPr>
          <p:cNvPr id="10" name="TextBox 9"/>
          <p:cNvSpPr txBox="1"/>
          <p:nvPr/>
        </p:nvSpPr>
        <p:spPr>
          <a:xfrm>
            <a:off x="2560320" y="2651760"/>
            <a:ext cx="8961120" cy="731520"/>
          </a:xfrm>
          <a:prstGeom prst="rect">
            <a:avLst/>
          </a:prstGeom>
          <a:noFill/>
        </p:spPr>
        <p:txBody>
          <a:bodyPr wrap="square" lIns="0" rIns="0" tIns="0" bIns="0" anchor="t">
            <a:spAutoFit/>
          </a:bodyPr>
          <a:lstStyle/>
          <a:p>
            <a:pPr algn="l"/>
            <a:r>
              <a:rPr sz="1900" b="0" i="0">
                <a:solidFill>
                  <a:srgbClr val="1F2933"/>
                </a:solidFill>
                <a:latin typeface="Calibri"/>
              </a:rPr>
              <a:t>Which GPU rate was measured, and which is assumed?</a:t>
            </a:r>
          </a:p>
        </p:txBody>
      </p:sp>
      <p:sp>
        <p:nvSpPr>
          <p:cNvPr id="11" name="TextBox 10"/>
          <p:cNvSpPr txBox="1"/>
          <p:nvPr/>
        </p:nvSpPr>
        <p:spPr>
          <a:xfrm>
            <a:off x="2011680" y="3465576"/>
            <a:ext cx="548640" cy="548640"/>
          </a:xfrm>
          <a:prstGeom prst="rect">
            <a:avLst/>
          </a:prstGeom>
          <a:noFill/>
        </p:spPr>
        <p:txBody>
          <a:bodyPr wrap="square" lIns="0" rIns="0" tIns="0" bIns="0" anchor="t">
            <a:spAutoFit/>
          </a:bodyPr>
          <a:lstStyle/>
          <a:p>
            <a:pPr algn="l"/>
            <a:r>
              <a:rPr sz="2200" b="1" i="0">
                <a:solidFill>
                  <a:srgbClr val="4F46E5"/>
                </a:solidFill>
                <a:latin typeface="Calibri"/>
              </a:rPr>
              <a:t>3</a:t>
            </a:r>
          </a:p>
        </p:txBody>
      </p:sp>
      <p:sp>
        <p:nvSpPr>
          <p:cNvPr id="12" name="TextBox 11"/>
          <p:cNvSpPr txBox="1"/>
          <p:nvPr/>
        </p:nvSpPr>
        <p:spPr>
          <a:xfrm>
            <a:off x="2560320" y="3493008"/>
            <a:ext cx="8961120" cy="731520"/>
          </a:xfrm>
          <a:prstGeom prst="rect">
            <a:avLst/>
          </a:prstGeom>
          <a:noFill/>
        </p:spPr>
        <p:txBody>
          <a:bodyPr wrap="square" lIns="0" rIns="0" tIns="0" bIns="0" anchor="t">
            <a:spAutoFit/>
          </a:bodyPr>
          <a:lstStyle/>
          <a:p>
            <a:pPr algn="l"/>
            <a:r>
              <a:rPr sz="1900" b="0" i="0">
                <a:solidFill>
                  <a:srgbClr val="1F2933"/>
                </a:solidFill>
                <a:latin typeface="Calibri"/>
              </a:rPr>
              <a:t>Who owns the error budget policy, and what does it freeze?</a:t>
            </a:r>
          </a:p>
        </p:txBody>
      </p:sp>
      <p:sp>
        <p:nvSpPr>
          <p:cNvPr id="13" name="TextBox 12"/>
          <p:cNvSpPr txBox="1"/>
          <p:nvPr/>
        </p:nvSpPr>
        <p:spPr>
          <a:xfrm>
            <a:off x="2011680" y="4306824"/>
            <a:ext cx="548640" cy="548640"/>
          </a:xfrm>
          <a:prstGeom prst="rect">
            <a:avLst/>
          </a:prstGeom>
          <a:noFill/>
        </p:spPr>
        <p:txBody>
          <a:bodyPr wrap="square" lIns="0" rIns="0" tIns="0" bIns="0" anchor="t">
            <a:spAutoFit/>
          </a:bodyPr>
          <a:lstStyle/>
          <a:p>
            <a:pPr algn="l"/>
            <a:r>
              <a:rPr sz="2200" b="1" i="0">
                <a:solidFill>
                  <a:srgbClr val="4F46E5"/>
                </a:solidFill>
                <a:latin typeface="Calibri"/>
              </a:rPr>
              <a:t>4</a:t>
            </a:r>
          </a:p>
        </p:txBody>
      </p:sp>
      <p:sp>
        <p:nvSpPr>
          <p:cNvPr id="14" name="TextBox 13"/>
          <p:cNvSpPr txBox="1"/>
          <p:nvPr/>
        </p:nvSpPr>
        <p:spPr>
          <a:xfrm>
            <a:off x="2560320" y="4334256"/>
            <a:ext cx="8961120" cy="731520"/>
          </a:xfrm>
          <a:prstGeom prst="rect">
            <a:avLst/>
          </a:prstGeom>
          <a:noFill/>
        </p:spPr>
        <p:txBody>
          <a:bodyPr wrap="square" lIns="0" rIns="0" tIns="0" bIns="0" anchor="t">
            <a:spAutoFit/>
          </a:bodyPr>
          <a:lstStyle/>
          <a:p>
            <a:pPr algn="l"/>
            <a:r>
              <a:rPr sz="1900" b="0" i="0">
                <a:solidFill>
                  <a:srgbClr val="1F2933"/>
                </a:solidFill>
                <a:latin typeface="Calibri"/>
              </a:rPr>
              <a:t>Option A or B: which promise survives a region loss?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and the capstone: size, fail over and defend an LLM platform</dc:title>
  <dc:subject/>
  <dc:creator>Tutorial factory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