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4 has three lessons: Little's law, load tests that match reality, and cost per million tokens. Together they answer two questions: how many GPUs does a traffic target need, and what does each served token cost? Every number here comes from the lessons' own runs or stated assumptions, and the notes say which is which.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a shop. Six customers arrive each minute, and each stays five minutes. On average there are about thirty people inside at any moment. You do not need to know who came first or how bursty they were. That is Little's law: the number inside equals the arrival rate times the time each one stays. For a serving fleet, the same rule counts requests in flight, which is what the replicas must hold at once. Where the picture breaks: a shop has no fixed number of places, while a server has a set number of slots, and the law only holds when the queue is steady and not growing without bound.</a:t>
            </a:r>
          </a:p>
          <a:p/>
          <a:p>
            <a:r>
              <a:t>From lessons: 26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law in one line: L equals lambda times W. L is the average number of requests in the system, which for a serving fleet is the number of slots it must hold at once. Lambda is the arrival rate, the peak requests per second. W is the seconds each request holds a slot: its prefill, the time to process the prompt, plus its answer tokens at the decode speed. The example is the course's Brightside support desk: 10,000 requests a second (QPS) times 1.98 seconds. With W measured at 1.98 seconds, that is 19,800 requests in flight. The law needs two conditions: a steady queue, and averages taken over the same window. It holds for any arrival pattern and any order of service.</a:t>
            </a:r>
          </a:p>
          <a:p/>
          <a:p>
            <a:r>
              <a:t>From lessons: 26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lesson's cell runs a first-in, first-out queue with four slots and random arrivals at 1.2 requests a second, from a fixed seed. The function counts every request from arrival to finish. The first printed line is the average number in the system, 2.682. The second print, lambda times W, is the lesson's line 110. Its full line is about 106 characters, wider than a code slide allows (60), and the checker only accepts lesson lines exactly as written, so the slide shows it as a comment and prints its real output: lambda x W is 1.219 times 2.201, which is also 2.682. The two sides agree because the simulation counts every request. On a real server the law holds within a few percent, when the run is long and the queue is steady. Four slots is a toy size to check the law. The lab server of lesson 08 has four slots; the fleet maths later uses 92.</a:t>
            </a:r>
          </a:p>
          <a:p/>
          <a:p>
            <a:r>
              <a:t>From lessons: 26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left, each replica has one slot, so each request in flight needs its own machine: 10,000 requests a second times 2 seconds is 20,000 replicas. On the right, in_flight is PEAK_QPS times SECONDS_PER_REQUEST, which is the lesson's name for W, and the cache sets the slots per replica. The fix is the arithmetic of Step 3. The KV cache, not the max_num_seqs flag of 128, sets the slots: 92 per replica, because each request needs its prompt and answer tokens in memory. At 70 percent utilisation that is 64 usable slots, so 308 replicas, plus one spare, 309. The measured W is 1.98 seconds, so the in-flight count is 19,800, not 20,000. The 70 percent is a planning choice from Step 4, not a law of the queue: at 95 percent the p95 wait is about one second.</a:t>
            </a:r>
          </a:p>
          <a:p/>
          <a:p>
            <a:r>
              <a:t>From lessons: 26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cashier. Shoppers come in when they come in, and the queue does not slow them down. A load test that waits for each answer before sending the next request does the opposite: it is closed loop, so a slow server slows the test and hides the queue. Lesson 27 uses an open-loop test: requests arrive with random gaps around a steady rate, as real users do, and the test measures the wait each one suffers. The picture breaks in one place. A real shopper can see a long line and walk away. The test cannot, so it has to record the wait, and it has to vary request lengths, because a long request holds a slot longer.</a:t>
            </a:r>
          </a:p>
          <a:p/>
          <a:p>
            <a:r>
              <a:t>From lessons: 27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definition from the lesson: an open-loop test sends requests on its own clock, with Poisson gaps, as real users do. Poisson gaps means random gaps around a steady average rate. Three parts. The arrival process sets the rate. The length mix matters because a long request holds a slot longer; the bench draws each prompt and answer within plus or minus 50 percent of its target. Goodput counts only the requests that meet the service target, here a p95 time to first token under 5 seconds and a time per output token under 0.5 seconds, so a fast request that misses its target does not count. TTFT is the wait before the first answer token; TPOT is the mean time per token after the first.</a:t>
            </a:r>
          </a:p>
          <a:p/>
          <a:p>
            <a:r>
              <a:t>From lessons: 27</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lesson's bench function and its sweep calls. The function starts the vLLM benchmark tool from the pinned image and sends prompts at the given rate. The line that makes it open loop is the request rate, with the burstiness flag at 1.0, which is the Poisson setting: requests arrive on random gaps around the rate, not after each answer. The body is elided here; the lesson's line 136 holds those flags. The sweep runs at 0.05, 0.15 and 0.40 requests a second, the rates of the recorded run. The 0.10 pair is in step 4 and is not used to place the knee. The function saves the result as JSON. SPREAD of 0.5 varies each length by plus or minus 50 percent. These cells need Docker and about 36 minutes live, so this deck shows no executed output. The recorded run in data/recorded/27.json has the numbers. Tell the audience the fixed-length and spread-length runs looked alike at 16 requests, which the lesson says is no proof either way: the length effect needs hundreds of requests.</a:t>
            </a:r>
          </a:p>
          <a:p/>
          <a:p>
            <a:r>
              <a:t>From lessons: 27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sweep is the lesson's rate test on four slots. At 0.05 and 0.15 requests a second, p95 time to first token is 1.6 and 1.8 seconds, under the 5-second target. At 0.40, p95 is 22 seconds, goodput falls to 0.07 requests a second, and about 10 requests sit in the server on average against 4 slots, so the rest wait in a queue. The knee lies between 0.15 and 0.40: bracketed, not located. Be honest about a limit. GuideLLM and the vLLM bench tool disagree about eightfold on their p95 at the same rate, and the lesson does not yet know why. Do not size a fleet from one 16-request row; rerun with hundreds of requests.</a:t>
            </a:r>
          </a:p>
          <a:p/>
          <a:p>
            <a:r>
              <a:t>From lessons: 27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taxi you hire by the hour. You pay for the hour whether the car drives or waits, so the cost of one ride depends on how many rides you drive in that hour. A GPU works the same way. Its price per hour is fixed, so its cost per token depends on how many tokens it serves in that hour. Lesson 28 uses this picture for its idle-time point. Where it breaks: a taxi carries one passenger group at a time, but a GPU serves many requests at once in a batch, so its tokens per hour depend on batching, which lesson 12 covers. Use the picture for the idle hours, not for the batching.</a:t>
            </a:r>
          </a:p>
          <a:p/>
          <a:p>
            <a:r>
              <a:t>From lessons: 28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definition from the lesson: cost per token is the hourly price divided by the tokens served in that hour. Three parts. The price: one L4 GPU on demand, about 0.707 dollars an hour, from a third-party price snapshot dated 2026-10-21; the lesson says to check the current price in the cloud billing catalogue. Utilisation: the share of capacity in use. The lesson's ceiling of 1,000 served tokens a second is a teaching value, not a benchmark, so the dollar figures are illustrative. Cache hit rate: a shared prompt start served from memory skips the prefill work it covers. The example shows the biggest lever: at 20 percent utilisation the same GPU costs 5.0 times as much per token as at 100 percent.</a:t>
            </a:r>
          </a:p>
          <a:p/>
          <a:p>
            <a:r>
              <a:t>From lessons: 28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solution cell of the lesson's Try-it. The question: is a spot GPU at 0.62 dollars an hour, which loses 30 percent of its work, cheaper per served token at 50 percent use than on demand? The first line divides the price by the share kept, 0.70. The cell then prints 0.492 dollars per million served tokens for spot, against 0.393 for on demand, so spot is not cheaper. The lesson's breakeven for this spot price is 12 percent of work lost; at the $0.28 price it is 60 percent. Ask the audience what they would measure first: the share of spot work that is interrupted and retried, on their own runs, before they trust a spot discount.</a:t>
            </a:r>
          </a:p>
          <a:p/>
          <a:p>
            <a:r>
              <a:t>From lessons: 28</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compares a self-hosted GPU with an API. An API charges different rates for input and output tokens, so the lesson blends them by traffic share: its trace is about 96 percent input tokens. At an example API price of 0.25 dollars per million tokens, self-hosting wins only above 79 percent utilisation, measured against the 100 percent cost, the best case for self-hosting. At 1.00 dollar per million, it wins above 20 percent. These API prices are example grid values; copy the real ones from the provider's page. The reserved-versus-on-demand breakeven in the lesson is also an example: a reserved rate at 70 percent of on demand wins once the GPU runs more than 70 percent of the month.</a:t>
            </a:r>
          </a:p>
          <a:p/>
          <a:p>
            <a:r>
              <a:t>From lessons: 28</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 build path in order. Lesson 26 turns peak QPS into requests in flight, then into replicas with a spare. Lesson 27 measures the seconds per request and the tail at your own lengths, using an open-loop test, because the lab's assumed numbers are only a start. Lesson 28 turns the price of those replicas into cost per served token at the utilisation you can hold, then compares build with buy. Each step feeds the next. The seconds per request from the load test feed the replica count, and the replica count feeds the bill. Longer answers raise W, which raises the requests in flight, which raises both the fleet and its cost. The decision, in full: measure W at peak with an open-loop test of hundreds of requests, then size and price the fleet at 70 to 80 percent use.</a:t>
            </a:r>
          </a:p>
          <a:p/>
          <a:p>
            <a:r>
              <a:t>From lessons: 26, 27, 28</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in a design review or an interview. First, the peak and the seconds per request at that peak, measured, not guessed. Second, the slots the KV cache allows, which is often below the flag. Third, the utilisation you plan for and the cost of one spare replica. Fourth, whether the load test used open-loop arrivals and varied lengths, and how many requests it had. Fifth, the cost per served token at your planned utilisation, set against the API price. The interview answer from lesson 26 is the same in short: QPS times seconds, divided by slots at about 70 percent, plus a spare, measured at peak load.</a:t>
            </a:r>
          </a:p>
          <a:p/>
          <a:p>
            <a:r>
              <a:t>From lessons: 26, 27, 28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3" name="TextBox 2"/>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a:t>
            </a:r>
          </a:p>
        </p:txBody>
      </p:sp>
      <p:sp>
        <p:nvSpPr>
          <p:cNvPr id="4" name="Oval 3"/>
          <p:cNvSpPr/>
          <p:nvPr/>
        </p:nvSpPr>
        <p:spPr>
          <a:xfrm>
            <a:off x="822960" y="146304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ube 4"/>
          <p:cNvSpPr/>
          <p:nvPr/>
        </p:nvSpPr>
        <p:spPr>
          <a:xfrm>
            <a:off x="1028700" y="1668780"/>
            <a:ext cx="411480" cy="411480"/>
          </a:xfrm>
          <a:prstGeom prst="cub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560320"/>
            <a:ext cx="7863840" cy="1463040"/>
          </a:xfrm>
          <a:prstGeom prst="rect">
            <a:avLst/>
          </a:prstGeom>
          <a:noFill/>
        </p:spPr>
        <p:txBody>
          <a:bodyPr wrap="square" lIns="0" rIns="0" tIns="0" bIns="0" anchor="b">
            <a:spAutoFit/>
          </a:bodyPr>
          <a:lstStyle/>
          <a:p>
            <a:pPr algn="l"/>
            <a:r>
              <a:rPr sz="4000" b="1" i="0">
                <a:solidFill>
                  <a:srgbClr val="1F2933"/>
                </a:solidFill>
                <a:latin typeface="Calibri"/>
              </a:rPr>
              <a:t>Capacity and economics for LLM serving</a:t>
            </a:r>
          </a:p>
        </p:txBody>
      </p:sp>
      <p:sp>
        <p:nvSpPr>
          <p:cNvPr id="7" name="TextBox 6"/>
          <p:cNvSpPr txBox="1"/>
          <p:nvPr/>
        </p:nvSpPr>
        <p:spPr>
          <a:xfrm>
            <a:off x="822960" y="4160520"/>
            <a:ext cx="10515600" cy="548640"/>
          </a:xfrm>
          <a:prstGeom prst="rect">
            <a:avLst/>
          </a:prstGeom>
          <a:noFill/>
        </p:spPr>
        <p:txBody>
          <a:bodyPr wrap="square" lIns="0" rIns="0" tIns="0" bIns="0" anchor="t">
            <a:spAutoFit/>
          </a:bodyPr>
          <a:lstStyle/>
          <a:p>
            <a:pPr algn="l"/>
            <a:r>
              <a:rPr sz="2000" b="0" i="0">
                <a:solidFill>
                  <a:srgbClr val="4F46E5"/>
                </a:solidFill>
                <a:latin typeface="Calibri"/>
              </a:rPr>
              <a:t>KV Forge · Part 4 · lessons 26–28</a:t>
            </a:r>
          </a:p>
        </p:txBody>
      </p:sp>
      <p:sp>
        <p:nvSpPr>
          <p:cNvPr id="8" name="TextBox 7"/>
          <p:cNvSpPr txBox="1"/>
          <p:nvPr/>
        </p:nvSpPr>
        <p:spPr>
          <a:xfrm>
            <a:off x="822960" y="4800600"/>
            <a:ext cx="6858000" cy="457200"/>
          </a:xfrm>
          <a:prstGeom prst="rect">
            <a:avLst/>
          </a:prstGeom>
          <a:noFill/>
        </p:spPr>
        <p:txBody>
          <a:bodyPr wrap="square" lIns="0" rIns="0" tIns="0" bIns="0" anchor="t">
            <a:spAutoFit/>
          </a:bodyPr>
          <a:lstStyle/>
          <a:p>
            <a:pPr algn="l"/>
            <a:r>
              <a:rPr sz="1400" b="0" i="0">
                <a:solidFill>
                  <a:srgbClr val="6B7280"/>
                </a:solidFill>
                <a:latin typeface="Calibri"/>
              </a:rPr>
              <a:t>For learners of this course (developers and platform engineers)</a:t>
            </a:r>
          </a:p>
        </p:txBody>
      </p:sp>
      <p:cxnSp>
        <p:nvCxnSpPr>
          <p:cNvPr id="9" name="Connector 8"/>
          <p:cNvCxnSpPr/>
          <p:nvPr/>
        </p:nvCxnSpPr>
        <p:spPr>
          <a:xfrm flipH="1" flipV="1">
            <a:off x="8686800" y="1188719"/>
            <a:ext cx="1371600" cy="91440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430768" y="93268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10058400" y="1097279"/>
            <a:ext cx="1280160" cy="100584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1082528" y="84124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H="1">
            <a:off x="8595360" y="2103120"/>
            <a:ext cx="1463040" cy="914400"/>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339328" y="276148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0058400" y="2103120"/>
            <a:ext cx="1371600" cy="1005840"/>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1173968" y="2852928"/>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10058400" y="548639"/>
            <a:ext cx="0" cy="155448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9802368" y="29260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555480" y="1600199"/>
            <a:ext cx="1005840" cy="100584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Shop crowd: arrivals × minutes each stays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2</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shop</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Six customers arrive a minute and each stays five minutes: about thirty inside.</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Little's law</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Requests in flight = arrival rate × seconds each request holds a slot.</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No cap on people inside, and the queue must be steady.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Little's law: in flight equals rate times time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3</a:t>
            </a:r>
          </a:p>
        </p:txBody>
      </p:sp>
      <p:sp>
        <p:nvSpPr>
          <p:cNvPr id="5" name="Rounded Rectangle 4"/>
          <p:cNvSpPr/>
          <p:nvPr/>
        </p:nvSpPr>
        <p:spPr>
          <a:xfrm>
            <a:off x="640080" y="1508760"/>
            <a:ext cx="10908792" cy="14173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Average requests in a system = arrival rate × average time each stays: L = λ × W.</a:t>
            </a:r>
          </a:p>
        </p:txBody>
      </p:sp>
      <p:sp>
        <p:nvSpPr>
          <p:cNvPr id="7" name="Rounded Rectangle 6"/>
          <p:cNvSpPr/>
          <p:nvPr/>
        </p:nvSpPr>
        <p:spPr>
          <a:xfrm>
            <a:off x="640080"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L</a:t>
            </a:r>
          </a:p>
        </p:txBody>
      </p:sp>
      <p:sp>
        <p:nvSpPr>
          <p:cNvPr id="9" name="TextBox 8"/>
          <p:cNvSpPr txBox="1"/>
          <p:nvPr/>
        </p:nvSpPr>
        <p:spPr>
          <a:xfrm>
            <a:off x="914400"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Requests in flight: slots (concurrent request places on a GPU) to hold at once</a:t>
            </a:r>
          </a:p>
        </p:txBody>
      </p:sp>
      <p:sp>
        <p:nvSpPr>
          <p:cNvPr id="10" name="Rounded Rectangle 9"/>
          <p:cNvSpPr/>
          <p:nvPr/>
        </p:nvSpPr>
        <p:spPr>
          <a:xfrm>
            <a:off x="4367784"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2104"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λ (lambda)</a:t>
            </a:r>
          </a:p>
        </p:txBody>
      </p:sp>
      <p:sp>
        <p:nvSpPr>
          <p:cNvPr id="12" name="TextBox 11"/>
          <p:cNvSpPr txBox="1"/>
          <p:nvPr/>
        </p:nvSpPr>
        <p:spPr>
          <a:xfrm>
            <a:off x="4642104"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Arrival rate: peak requests per second</a:t>
            </a:r>
          </a:p>
        </p:txBody>
      </p:sp>
      <p:sp>
        <p:nvSpPr>
          <p:cNvPr id="13" name="Rounded Rectangle 12"/>
          <p:cNvSpPr/>
          <p:nvPr/>
        </p:nvSpPr>
        <p:spPr>
          <a:xfrm>
            <a:off x="8095488"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9808"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W</a:t>
            </a:r>
          </a:p>
        </p:txBody>
      </p:sp>
      <p:sp>
        <p:nvSpPr>
          <p:cNvPr id="15" name="TextBox 14"/>
          <p:cNvSpPr txBox="1"/>
          <p:nvPr/>
        </p:nvSpPr>
        <p:spPr>
          <a:xfrm>
            <a:off x="8369808"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Seconds a request holds a slot</a:t>
            </a:r>
          </a:p>
        </p:txBody>
      </p:sp>
      <p:sp>
        <p:nvSpPr>
          <p:cNvPr id="16" name="TextBox 15"/>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Brightside support desk: 10,000 requests/s (QPS) × 1.98 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simulation agrees: L equals λ × W</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4</a:t>
            </a:r>
          </a:p>
        </p:txBody>
      </p:sp>
      <p:sp>
        <p:nvSpPr>
          <p:cNvPr id="5" name="Rounded Rectangle 4"/>
          <p:cNvSpPr/>
          <p:nvPr/>
        </p:nvSpPr>
        <p:spPr>
          <a:xfrm>
            <a:off x="640080" y="1554480"/>
            <a:ext cx="7315200" cy="1481328"/>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231136"/>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2487168"/>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1207008"/>
          </a:xfrm>
          <a:prstGeom prst="rect">
            <a:avLst/>
          </a:prstGeom>
          <a:noFill/>
        </p:spPr>
        <p:txBody>
          <a:bodyPr wrap="none" lIns="0" rIns="0" tIns="0" bIns="0">
            <a:noAutofit/>
          </a:bodyPr>
          <a:lstStyle/>
          <a:p>
            <a:pPr algn="l">
              <a:lnSpc>
                <a:spcPct val="112000"/>
              </a:lnSpc>
            </a:pPr>
            <a:r>
              <a:rPr sz="1500" b="0" i="1">
                <a:solidFill>
                  <a:srgbClr val="6B7280"/>
                </a:solidFill>
                <a:latin typeface="Consolas"/>
              </a:rPr>
              <a:t># simulate(rate, slots): a FIFO queue with 4 slots</a:t>
            </a:r>
          </a:p>
          <a:p>
            <a:pPr algn="l">
              <a:lnSpc>
                <a:spcPct val="112000"/>
              </a:lnSpc>
            </a:pPr>
            <a:r>
              <a:rPr sz="1500" b="0" i="0">
                <a:solidFill>
                  <a:srgbClr val="1F2933"/>
                </a:solidFill>
                <a:latin typeface="Consolas"/>
              </a:rPr>
              <a:t>r = simulate(rate=</a:t>
            </a:r>
            <a:r>
              <a:rPr sz="1500" b="0" i="0">
                <a:solidFill>
                  <a:srgbClr val="C2410C"/>
                </a:solidFill>
                <a:latin typeface="Consolas"/>
              </a:rPr>
              <a:t>1.2</a:t>
            </a:r>
            <a:r>
              <a:rPr sz="1500" b="0" i="0">
                <a:solidFill>
                  <a:srgbClr val="1F2933"/>
                </a:solidFill>
                <a:latin typeface="Consolas"/>
              </a:rPr>
              <a:t>, slots=</a:t>
            </a:r>
            <a:r>
              <a:rPr sz="1500" b="0" i="0">
                <a:solidFill>
                  <a:srgbClr val="C2410C"/>
                </a:solidFill>
                <a:latin typeface="Consolas"/>
              </a:rPr>
              <a:t>4</a:t>
            </a:r>
            <a:r>
              <a:rPr sz="1500" b="0" i="0">
                <a:solidFill>
                  <a:srgbClr val="1F2933"/>
                </a:solidFill>
                <a:latin typeface="Consolas"/>
              </a:rPr>
              <a:t>)</a:t>
            </a:r>
          </a:p>
          <a:p>
            <a:pPr algn="l">
              <a:lnSpc>
                <a:spcPct val="112000"/>
              </a:lnSpc>
            </a:pPr>
            <a:r>
              <a:rPr sz="1500" b="0" i="0">
                <a:solidFill>
                  <a:srgbClr val="0E7490"/>
                </a:solidFill>
                <a:latin typeface="Consolas"/>
              </a:rPr>
              <a:t>print</a:t>
            </a:r>
            <a:r>
              <a:rPr sz="1500" b="0" i="0">
                <a:solidFill>
                  <a:srgbClr val="1F2933"/>
                </a:solidFill>
                <a:latin typeface="Consolas"/>
              </a:rPr>
              <a:t>(</a:t>
            </a:r>
            <a:r>
              <a:rPr sz="1500" b="0" i="0">
                <a:solidFill>
                  <a:srgbClr val="B45309"/>
                </a:solidFill>
                <a:latin typeface="Consolas"/>
              </a:rPr>
              <a:t>f"L, average in system (measured):  {</a:t>
            </a:r>
            <a:r>
              <a:rPr sz="1500" b="0" i="0">
                <a:solidFill>
                  <a:srgbClr val="1F2933"/>
                </a:solidFill>
                <a:latin typeface="Consolas"/>
              </a:rPr>
              <a:t>r[</a:t>
            </a:r>
            <a:r>
              <a:rPr sz="1500" b="0" i="0">
                <a:solidFill>
                  <a:srgbClr val="B45309"/>
                </a:solidFill>
                <a:latin typeface="Consolas"/>
              </a:rPr>
              <a:t>'L'</a:t>
            </a:r>
            <a:r>
              <a:rPr sz="1500" b="0" i="0">
                <a:solidFill>
                  <a:srgbClr val="1F2933"/>
                </a:solidFill>
                <a:latin typeface="Consolas"/>
              </a:rPr>
              <a:t>]</a:t>
            </a:r>
            <a:r>
              <a:rPr sz="1500" b="0" i="0">
                <a:solidFill>
                  <a:srgbClr val="B45309"/>
                </a:solidFill>
                <a:latin typeface="Consolas"/>
              </a:rPr>
              <a:t>:.3f}"</a:t>
            </a:r>
            <a:r>
              <a:rPr sz="1500" b="0" i="0">
                <a:solidFill>
                  <a:srgbClr val="1F2933"/>
                </a:solidFill>
                <a:latin typeface="Consolas"/>
              </a:rPr>
              <a:t>)</a:t>
            </a:r>
          </a:p>
          <a:p>
            <a:pPr algn="l">
              <a:lnSpc>
                <a:spcPct val="112000"/>
              </a:lnSpc>
            </a:pPr>
            <a:r>
              <a:rPr sz="1500" b="0" i="1">
                <a:solidFill>
                  <a:srgbClr val="6B7280"/>
                </a:solidFill>
                <a:latin typeface="Consolas"/>
              </a:rPr>
              <a:t># next print (line 110): lambda x W</a:t>
            </a:r>
          </a:p>
        </p:txBody>
      </p:sp>
      <p:sp>
        <p:nvSpPr>
          <p:cNvPr id="9" name="Rounded Rectangle 8"/>
          <p:cNvSpPr/>
          <p:nvPr/>
        </p:nvSpPr>
        <p:spPr>
          <a:xfrm>
            <a:off x="640080" y="3145536"/>
            <a:ext cx="7315200" cy="1042415"/>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218688"/>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1" name="TextBox 10"/>
          <p:cNvSpPr txBox="1"/>
          <p:nvPr/>
        </p:nvSpPr>
        <p:spPr>
          <a:xfrm>
            <a:off x="1828800" y="3236976"/>
            <a:ext cx="5943600" cy="768096"/>
          </a:xfrm>
          <a:prstGeom prst="rect">
            <a:avLst/>
          </a:prstGeom>
          <a:noFill/>
        </p:spPr>
        <p:txBody>
          <a:bodyPr wrap="square" lIns="0" rIns="0" tIns="0" bIns="0" anchor="t">
            <a:spAutoFit/>
          </a:bodyPr>
          <a:lstStyle/>
          <a:p>
            <a:pPr algn="l"/>
            <a:r>
              <a:rPr sz="1600" b="0" i="0">
                <a:solidFill>
                  <a:srgbClr val="E5E7EB"/>
                </a:solidFill>
                <a:latin typeface="Consolas"/>
              </a:rPr>
              <a:t>L, average in system (measured):  2.682</a:t>
            </a:r>
          </a:p>
          <a:p>
            <a:pPr algn="l"/>
            <a:r>
              <a:rPr sz="1600" b="0" i="0">
                <a:solidFill>
                  <a:srgbClr val="E5E7EB"/>
                </a:solidFill>
                <a:latin typeface="Consolas"/>
              </a:rPr>
              <a:t>lambda x W:                       1.219 x 2.201 = 2.682</a:t>
            </a:r>
          </a:p>
        </p:txBody>
      </p:sp>
      <p:sp>
        <p:nvSpPr>
          <p:cNvPr id="12" name="TextBox 11"/>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Every request counted, from arrival to finish</a:t>
            </a:r>
          </a:p>
          <a:p>
            <a:pPr>
              <a:spcAft>
                <a:spcPts val="1000"/>
              </a:spcAft>
            </a:pPr>
            <a:r>
              <a:rPr sz="1300">
                <a:solidFill>
                  <a:srgbClr val="4F46E5"/>
                </a:solidFill>
                <a:latin typeface="Calibri"/>
              </a:rPr>
              <a:t>●  </a:t>
            </a:r>
            <a:r>
              <a:rPr sz="1900">
                <a:solidFill>
                  <a:srgbClr val="1F2933"/>
                </a:solidFill>
                <a:latin typeface="Calibri"/>
              </a:rPr>
              <a:t>Measured L equals λ × W to the printed digits</a:t>
            </a:r>
          </a:p>
        </p:txBody>
      </p:sp>
      <p:sp>
        <p:nvSpPr>
          <p:cNvPr id="13" name="TextBox 12"/>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One request per replica: ~20,000 machines, not 309</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5</a:t>
            </a:r>
          </a:p>
        </p:txBody>
      </p:sp>
      <p:sp>
        <p:nvSpPr>
          <p:cNvPr id="5" name="Rounded Rectangle 4"/>
          <p:cNvSpPr/>
          <p:nvPr/>
        </p:nvSpPr>
        <p:spPr>
          <a:xfrm>
            <a:off x="640080" y="1554480"/>
            <a:ext cx="5349240" cy="1824532"/>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39"/>
            <a:ext cx="4800600" cy="365760"/>
          </a:xfrm>
          <a:prstGeom prst="rect">
            <a:avLst/>
          </a:prstGeom>
          <a:noFill/>
        </p:spPr>
        <p:txBody>
          <a:bodyPr wrap="square" lIns="0" rIns="0" tIns="0" bIns="0" anchor="t">
            <a:spAutoFit/>
          </a:bodyPr>
          <a:lstStyle/>
          <a:p>
            <a:pPr algn="l"/>
            <a:r>
              <a:rPr sz="1600" b="1" i="0">
                <a:solidFill>
                  <a:srgbClr val="B91C1C"/>
                </a:solidFill>
                <a:latin typeface="Calibri"/>
              </a:rPr>
              <a:t>One slot per replica</a:t>
            </a:r>
          </a:p>
        </p:txBody>
      </p:sp>
      <p:sp>
        <p:nvSpPr>
          <p:cNvPr id="7" name="TextBox 6"/>
          <p:cNvSpPr txBox="1"/>
          <p:nvPr/>
        </p:nvSpPr>
        <p:spPr>
          <a:xfrm>
            <a:off x="914400" y="2148840"/>
            <a:ext cx="4892040" cy="1138732"/>
          </a:xfrm>
          <a:prstGeom prst="rect">
            <a:avLst/>
          </a:prstGeom>
          <a:noFill/>
        </p:spPr>
        <p:txBody>
          <a:bodyPr wrap="none" lIns="0" rIns="0" tIns="0" bIns="0">
            <a:noAutofit/>
          </a:bodyPr>
          <a:lstStyle/>
          <a:p>
            <a:pPr algn="l">
              <a:lnSpc>
                <a:spcPct val="112000"/>
              </a:lnSpc>
            </a:pPr>
            <a:r>
              <a:rPr sz="1400" b="0" i="1">
                <a:solidFill>
                  <a:srgbClr val="6B7280"/>
                </a:solidFill>
                <a:latin typeface="Consolas"/>
              </a:rPr>
              <a:t># PEAK_QPS: 10,000 requests a second</a:t>
            </a:r>
          </a:p>
          <a:p>
            <a:pPr algn="l">
              <a:lnSpc>
                <a:spcPct val="112000"/>
              </a:lnSpc>
            </a:pPr>
            <a:r>
              <a:rPr sz="1400" b="0" i="1">
                <a:solidFill>
                  <a:srgbClr val="6B7280"/>
                </a:solidFill>
                <a:latin typeface="Consolas"/>
              </a:rPr>
              <a:t># SECONDS_PER_REQUEST: 2.0 s, rounded</a:t>
            </a:r>
          </a:p>
          <a:p>
            <a:pPr algn="l">
              <a:lnSpc>
                <a:spcPct val="112000"/>
              </a:lnSpc>
            </a:pPr>
            <a:r>
              <a:rPr sz="1400" b="0" i="1">
                <a:solidFill>
                  <a:srgbClr val="6B7280"/>
                </a:solidFill>
                <a:latin typeface="Consolas"/>
              </a:rPr>
              <a:t># one slot per replica: one request at a time</a:t>
            </a:r>
          </a:p>
          <a:p>
            <a:pPr algn="l">
              <a:lnSpc>
                <a:spcPct val="112000"/>
              </a:lnSpc>
            </a:pPr>
            <a:r>
              <a:rPr sz="1400" b="0" i="0">
                <a:solidFill>
                  <a:srgbClr val="1F2933"/>
                </a:solidFill>
                <a:latin typeface="Consolas"/>
              </a:rPr>
              <a:t>naive = PEAK_QPS * SECONDS_PER_REQUEST</a:t>
            </a:r>
          </a:p>
        </p:txBody>
      </p:sp>
      <p:sp>
        <p:nvSpPr>
          <p:cNvPr id="8" name="Rounded Rectangle 7"/>
          <p:cNvSpPr/>
          <p:nvPr/>
        </p:nvSpPr>
        <p:spPr>
          <a:xfrm>
            <a:off x="6199632" y="1554480"/>
            <a:ext cx="5349240" cy="2063496"/>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3952" y="1691639"/>
            <a:ext cx="4800600" cy="365760"/>
          </a:xfrm>
          <a:prstGeom prst="rect">
            <a:avLst/>
          </a:prstGeom>
          <a:noFill/>
        </p:spPr>
        <p:txBody>
          <a:bodyPr wrap="square" lIns="0" rIns="0" tIns="0" bIns="0" anchor="t">
            <a:spAutoFit/>
          </a:bodyPr>
          <a:lstStyle/>
          <a:p>
            <a:pPr algn="l"/>
            <a:r>
              <a:rPr sz="1600" b="1" i="0">
                <a:solidFill>
                  <a:srgbClr val="4F46E5"/>
                </a:solidFill>
                <a:latin typeface="Calibri"/>
              </a:rPr>
              <a:t>Cache sets slots, at 70% use</a:t>
            </a:r>
          </a:p>
        </p:txBody>
      </p:sp>
      <p:sp>
        <p:nvSpPr>
          <p:cNvPr id="10" name="TextBox 9"/>
          <p:cNvSpPr txBox="1"/>
          <p:nvPr/>
        </p:nvSpPr>
        <p:spPr>
          <a:xfrm>
            <a:off x="6473952" y="2148840"/>
            <a:ext cx="4892040" cy="1377696"/>
          </a:xfrm>
          <a:prstGeom prst="rect">
            <a:avLst/>
          </a:prstGeom>
          <a:noFill/>
        </p:spPr>
        <p:txBody>
          <a:bodyPr wrap="none" lIns="0" rIns="0" tIns="0" bIns="0">
            <a:noAutofit/>
          </a:bodyPr>
          <a:lstStyle/>
          <a:p>
            <a:pPr algn="l">
              <a:lnSpc>
                <a:spcPct val="112000"/>
              </a:lnSpc>
            </a:pPr>
            <a:r>
              <a:rPr sz="1400" b="0" i="1">
                <a:solidFill>
                  <a:srgbClr val="6B7280"/>
                </a:solidFill>
                <a:latin typeface="Consolas"/>
              </a:rPr>
              <a:t># W = SECONDS_PER_REQUEST: 1.98 s, measured</a:t>
            </a:r>
          </a:p>
          <a:p>
            <a:pPr algn="l">
              <a:lnSpc>
                <a:spcPct val="112000"/>
              </a:lnSpc>
            </a:pPr>
            <a:r>
              <a:rPr sz="1400" b="0" i="1">
                <a:solidFill>
                  <a:srgbClr val="6B7280"/>
                </a:solidFill>
                <a:latin typeface="Consolas"/>
              </a:rPr>
              <a:t># in_flight = PEAK_QPS * W, Little's law</a:t>
            </a:r>
          </a:p>
          <a:p>
            <a:pPr algn="l">
              <a:lnSpc>
                <a:spcPct val="112000"/>
              </a:lnSpc>
            </a:pPr>
            <a:r>
              <a:rPr sz="1400" b="0" i="1">
                <a:solidFill>
                  <a:srgbClr val="6B7280"/>
                </a:solidFill>
                <a:latin typeface="Consolas"/>
              </a:rPr>
              <a:t># slots = min(SLOTS_CAP, slots_by_cache) = 92</a:t>
            </a:r>
          </a:p>
          <a:p>
            <a:pPr algn="l">
              <a:lnSpc>
                <a:spcPct val="112000"/>
              </a:lnSpc>
            </a:pPr>
            <a:r>
              <a:rPr sz="1400" b="0" i="0">
                <a:solidFill>
                  <a:srgbClr val="1F2933"/>
                </a:solidFill>
                <a:latin typeface="Consolas"/>
              </a:rPr>
              <a:t>usable = slots * TARGET_UTIL</a:t>
            </a:r>
          </a:p>
          <a:p>
            <a:pPr algn="l">
              <a:lnSpc>
                <a:spcPct val="112000"/>
              </a:lnSpc>
            </a:pPr>
            <a:r>
              <a:rPr sz="1400" b="0" i="0">
                <a:solidFill>
                  <a:srgbClr val="1F2933"/>
                </a:solidFill>
                <a:latin typeface="Consolas"/>
              </a:rPr>
              <a:t>replicas = math.ceil(in_flight / usable)</a:t>
            </a:r>
          </a:p>
        </p:txBody>
      </p:sp>
      <p:sp>
        <p:nvSpPr>
          <p:cNvPr id="11" name="TextBox 10"/>
          <p:cNvSpPr txBox="1"/>
          <p:nvPr/>
        </p:nvSpPr>
        <p:spPr>
          <a:xfrm>
            <a:off x="640080" y="3846576"/>
            <a:ext cx="10881360" cy="411480"/>
          </a:xfrm>
          <a:prstGeom prst="rect">
            <a:avLst/>
          </a:prstGeom>
          <a:noFill/>
        </p:spPr>
        <p:txBody>
          <a:bodyPr wrap="square" lIns="0" rIns="0" tIns="0" bIns="0" anchor="t">
            <a:spAutoFit/>
          </a:bodyPr>
          <a:lstStyle/>
          <a:p>
            <a:pPr algn="l"/>
            <a:r>
              <a:rPr sz="1700" b="0" i="0">
                <a:solidFill>
                  <a:srgbClr val="6B7280"/>
                </a:solidFill>
                <a:latin typeface="Calibri"/>
              </a:rPr>
              <a:t>20,000 replicas one at a time; 309 with batching and one spare.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Load tests should copy shoppers, not wait for them</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6</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Shoppers at a till</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They arrive when they like, queue or no queue.</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Open-loop test</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Test sends on its own clock even when the server is slow</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real shopper can see a long queue and leave. A test cannot.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Open-loop tests show the queue users feel</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7</a:t>
            </a:r>
          </a:p>
        </p:txBody>
      </p:sp>
      <p:sp>
        <p:nvSpPr>
          <p:cNvPr id="5" name="Rounded Rectangle 4"/>
          <p:cNvSpPr/>
          <p:nvPr/>
        </p:nvSpPr>
        <p:spPr>
          <a:xfrm>
            <a:off x="640080" y="1508760"/>
            <a:ext cx="10908792" cy="14173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An open-loop load test sends requests on its own clock, with Poisson gaps, as real users do.</a:t>
            </a:r>
          </a:p>
        </p:txBody>
      </p:sp>
      <p:sp>
        <p:nvSpPr>
          <p:cNvPr id="7" name="Rounded Rectangle 6"/>
          <p:cNvSpPr/>
          <p:nvPr/>
        </p:nvSpPr>
        <p:spPr>
          <a:xfrm>
            <a:off x="640080"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Arrival process</a:t>
            </a:r>
          </a:p>
        </p:txBody>
      </p:sp>
      <p:sp>
        <p:nvSpPr>
          <p:cNvPr id="9" name="TextBox 8"/>
          <p:cNvSpPr txBox="1"/>
          <p:nvPr/>
        </p:nvSpPr>
        <p:spPr>
          <a:xfrm>
            <a:off x="914400"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Random gaps around a steady rate (Poisson)</a:t>
            </a:r>
          </a:p>
        </p:txBody>
      </p:sp>
      <p:sp>
        <p:nvSpPr>
          <p:cNvPr id="10" name="Rounded Rectangle 9"/>
          <p:cNvSpPr/>
          <p:nvPr/>
        </p:nvSpPr>
        <p:spPr>
          <a:xfrm>
            <a:off x="4367784"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2104"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Length mix</a:t>
            </a:r>
          </a:p>
        </p:txBody>
      </p:sp>
      <p:sp>
        <p:nvSpPr>
          <p:cNvPr id="12" name="TextBox 11"/>
          <p:cNvSpPr txBox="1"/>
          <p:nvPr/>
        </p:nvSpPr>
        <p:spPr>
          <a:xfrm>
            <a:off x="4642104"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Prompts and answers vary by plus or minus 50%</a:t>
            </a:r>
          </a:p>
        </p:txBody>
      </p:sp>
      <p:sp>
        <p:nvSpPr>
          <p:cNvPr id="13" name="Rounded Rectangle 12"/>
          <p:cNvSpPr/>
          <p:nvPr/>
        </p:nvSpPr>
        <p:spPr>
          <a:xfrm>
            <a:off x="8095488"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9808"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Goodput</a:t>
            </a:r>
          </a:p>
        </p:txBody>
      </p:sp>
      <p:sp>
        <p:nvSpPr>
          <p:cNvPr id="15" name="TextBox 14"/>
          <p:cNvSpPr txBox="1"/>
          <p:nvPr/>
        </p:nvSpPr>
        <p:spPr>
          <a:xfrm>
            <a:off x="8369808"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Requests per second that meet every target (SLO)</a:t>
            </a:r>
          </a:p>
        </p:txBody>
      </p:sp>
      <p:sp>
        <p:nvSpPr>
          <p:cNvPr id="16" name="TextBox 15"/>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SLO (target): 95% of requests get a first token in under 5 s (p95 TTFT)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bench sends open-loop traffic at each rate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8</a:t>
            </a:r>
          </a:p>
        </p:txBody>
      </p:sp>
      <p:sp>
        <p:nvSpPr>
          <p:cNvPr id="5" name="Rounded Rectangle 4"/>
          <p:cNvSpPr/>
          <p:nvPr/>
        </p:nvSpPr>
        <p:spPr>
          <a:xfrm>
            <a:off x="640080" y="1554480"/>
            <a:ext cx="7315200" cy="2249424"/>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231136"/>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2487168"/>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1975103"/>
          </a:xfrm>
          <a:prstGeom prst="rect">
            <a:avLst/>
          </a:prstGeom>
          <a:noFill/>
        </p:spPr>
        <p:txBody>
          <a:bodyPr wrap="none" lIns="0" rIns="0" tIns="0" bIns="0">
            <a:noAutofit/>
          </a:bodyPr>
          <a:lstStyle/>
          <a:p>
            <a:pPr algn="l">
              <a:lnSpc>
                <a:spcPct val="112000"/>
              </a:lnSpc>
            </a:pPr>
            <a:r>
              <a:rPr sz="1500" b="1" i="0">
                <a:solidFill>
                  <a:srgbClr val="4F46E5"/>
                </a:solidFill>
                <a:latin typeface="Consolas"/>
              </a:rPr>
              <a:t>def</a:t>
            </a:r>
            <a:r>
              <a:rPr sz="1500" b="0" i="0">
                <a:solidFill>
                  <a:srgbClr val="1F2933"/>
                </a:solidFill>
                <a:latin typeface="Consolas"/>
              </a:rPr>
              <a:t> </a:t>
            </a:r>
            <a:r>
              <a:rPr sz="1500" b="1" i="0">
                <a:solidFill>
                  <a:srgbClr val="1F2933"/>
                </a:solidFill>
                <a:latin typeface="Consolas"/>
              </a:rPr>
              <a:t>bench</a:t>
            </a:r>
            <a:r>
              <a:rPr sz="1500" b="0" i="0">
                <a:solidFill>
                  <a:srgbClr val="1F2933"/>
                </a:solidFill>
                <a:latin typeface="Consolas"/>
              </a:rPr>
              <a:t>(tag, rate, spread, prompts=</a:t>
            </a:r>
            <a:r>
              <a:rPr sz="1500" b="0" i="0">
                <a:solidFill>
                  <a:srgbClr val="C2410C"/>
                </a:solidFill>
                <a:latin typeface="Consolas"/>
              </a:rPr>
              <a:t>16</a:t>
            </a:r>
            <a:r>
              <a:rPr sz="1500" b="0" i="0">
                <a:solidFill>
                  <a:srgbClr val="1F2933"/>
                </a:solidFill>
                <a:latin typeface="Consolas"/>
              </a:rPr>
              <a:t>):</a:t>
            </a:r>
          </a:p>
          <a:p>
            <a:pPr algn="l">
              <a:lnSpc>
                <a:spcPct val="112000"/>
              </a:lnSpc>
            </a:pPr>
            <a:r>
              <a:rPr sz="1500" b="0" i="0">
                <a:solidFill>
                  <a:srgbClr val="1F2933"/>
                </a:solidFill>
                <a:latin typeface="Consolas"/>
              </a:rPr>
              <a:t>    ...</a:t>
            </a:r>
          </a:p>
          <a:p>
            <a:pPr algn="l">
              <a:lnSpc>
                <a:spcPct val="112000"/>
              </a:lnSpc>
            </a:pPr>
            <a:r>
              <a:rPr sz="1500" b="0" i="0">
                <a:solidFill>
                  <a:srgbClr val="1F2933"/>
                </a:solidFill>
                <a:latin typeface="Consolas"/>
              </a:rPr>
              <a:t>    </a:t>
            </a:r>
            <a:r>
              <a:rPr sz="1500" b="0" i="1">
                <a:solidFill>
                  <a:srgbClr val="6B7280"/>
                </a:solidFill>
                <a:latin typeface="Consolas"/>
              </a:rPr>
              <a:t># --request-rate sets the open-loop arrival rate</a:t>
            </a:r>
          </a:p>
          <a:p>
            <a:pPr algn="l">
              <a:lnSpc>
                <a:spcPct val="112000"/>
              </a:lnSpc>
            </a:pPr>
            <a:r>
              <a:rPr sz="1500" b="0" i="0">
                <a:solidFill>
                  <a:srgbClr val="1F2933"/>
                </a:solidFill>
                <a:latin typeface="Consolas"/>
              </a:rPr>
              <a:t>    </a:t>
            </a:r>
            <a:r>
              <a:rPr sz="1500" b="0" i="1">
                <a:solidFill>
                  <a:srgbClr val="6B7280"/>
                </a:solidFill>
                <a:latin typeface="Consolas"/>
              </a:rPr>
              <a:t># --burstiness 1.0 makes the gaps Poisson</a:t>
            </a:r>
          </a:p>
          <a:p>
            <a:pPr algn="l">
              <a:lnSpc>
                <a:spcPct val="112000"/>
              </a:lnSpc>
            </a:pPr>
            <a:r>
              <a:rPr sz="1500" b="0" i="0">
                <a:solidFill>
                  <a:srgbClr val="1F2933"/>
                </a:solidFill>
                <a:latin typeface="Consolas"/>
              </a:rPr>
              <a:t>RESULTS[</a:t>
            </a:r>
            <a:r>
              <a:rPr sz="1500" b="0" i="0">
                <a:solidFill>
                  <a:srgbClr val="B45309"/>
                </a:solidFill>
                <a:latin typeface="Consolas"/>
              </a:rPr>
              <a:t>"spread_0.05"</a:t>
            </a:r>
            <a:r>
              <a:rPr sz="1500" b="0" i="0">
                <a:solidFill>
                  <a:srgbClr val="1F2933"/>
                </a:solidFill>
                <a:latin typeface="Consolas"/>
              </a:rPr>
              <a:t>] = bench(</a:t>
            </a:r>
            <a:r>
              <a:rPr sz="1500" b="0" i="0">
                <a:solidFill>
                  <a:srgbClr val="B45309"/>
                </a:solidFill>
                <a:latin typeface="Consolas"/>
              </a:rPr>
              <a:t>"spread_0.05"</a:t>
            </a:r>
            <a:r>
              <a:rPr sz="1500" b="0" i="0">
                <a:solidFill>
                  <a:srgbClr val="1F2933"/>
                </a:solidFill>
                <a:latin typeface="Consolas"/>
              </a:rPr>
              <a:t>, </a:t>
            </a:r>
            <a:r>
              <a:rPr sz="1500" b="0" i="0">
                <a:solidFill>
                  <a:srgbClr val="C2410C"/>
                </a:solidFill>
                <a:latin typeface="Consolas"/>
              </a:rPr>
              <a:t>0.05</a:t>
            </a:r>
            <a:r>
              <a:rPr sz="1500" b="0" i="0">
                <a:solidFill>
                  <a:srgbClr val="1F2933"/>
                </a:solidFill>
                <a:latin typeface="Consolas"/>
              </a:rPr>
              <a:t>, SPREAD)</a:t>
            </a:r>
          </a:p>
          <a:p>
            <a:pPr algn="l">
              <a:lnSpc>
                <a:spcPct val="112000"/>
              </a:lnSpc>
            </a:pPr>
            <a:r>
              <a:rPr sz="1500" b="0" i="0">
                <a:solidFill>
                  <a:srgbClr val="1F2933"/>
                </a:solidFill>
                <a:latin typeface="Consolas"/>
              </a:rPr>
              <a:t>RESULTS[</a:t>
            </a:r>
            <a:r>
              <a:rPr sz="1500" b="0" i="0">
                <a:solidFill>
                  <a:srgbClr val="B45309"/>
                </a:solidFill>
                <a:latin typeface="Consolas"/>
              </a:rPr>
              <a:t>"spread_0.15"</a:t>
            </a:r>
            <a:r>
              <a:rPr sz="1500" b="0" i="0">
                <a:solidFill>
                  <a:srgbClr val="1F2933"/>
                </a:solidFill>
                <a:latin typeface="Consolas"/>
              </a:rPr>
              <a:t>] = bench(</a:t>
            </a:r>
            <a:r>
              <a:rPr sz="1500" b="0" i="0">
                <a:solidFill>
                  <a:srgbClr val="B45309"/>
                </a:solidFill>
                <a:latin typeface="Consolas"/>
              </a:rPr>
              <a:t>"spread_0.15"</a:t>
            </a:r>
            <a:r>
              <a:rPr sz="1500" b="0" i="0">
                <a:solidFill>
                  <a:srgbClr val="1F2933"/>
                </a:solidFill>
                <a:latin typeface="Consolas"/>
              </a:rPr>
              <a:t>, </a:t>
            </a:r>
            <a:r>
              <a:rPr sz="1500" b="0" i="0">
                <a:solidFill>
                  <a:srgbClr val="C2410C"/>
                </a:solidFill>
                <a:latin typeface="Consolas"/>
              </a:rPr>
              <a:t>0.15</a:t>
            </a:r>
            <a:r>
              <a:rPr sz="1500" b="0" i="0">
                <a:solidFill>
                  <a:srgbClr val="1F2933"/>
                </a:solidFill>
                <a:latin typeface="Consolas"/>
              </a:rPr>
              <a:t>, SPREAD)</a:t>
            </a:r>
          </a:p>
          <a:p>
            <a:pPr algn="l">
              <a:lnSpc>
                <a:spcPct val="112000"/>
              </a:lnSpc>
            </a:pPr>
            <a:r>
              <a:rPr sz="1500" b="0" i="0">
                <a:solidFill>
                  <a:srgbClr val="1F2933"/>
                </a:solidFill>
                <a:latin typeface="Consolas"/>
              </a:rPr>
              <a:t>RESULTS[</a:t>
            </a:r>
            <a:r>
              <a:rPr sz="1500" b="0" i="0">
                <a:solidFill>
                  <a:srgbClr val="B45309"/>
                </a:solidFill>
                <a:latin typeface="Consolas"/>
              </a:rPr>
              <a:t>"spread_0.40"</a:t>
            </a:r>
            <a:r>
              <a:rPr sz="1500" b="0" i="0">
                <a:solidFill>
                  <a:srgbClr val="1F2933"/>
                </a:solidFill>
                <a:latin typeface="Consolas"/>
              </a:rPr>
              <a:t>] = bench(</a:t>
            </a:r>
            <a:r>
              <a:rPr sz="1500" b="0" i="0">
                <a:solidFill>
                  <a:srgbClr val="B45309"/>
                </a:solidFill>
                <a:latin typeface="Consolas"/>
              </a:rPr>
              <a:t>"spread_0.40"</a:t>
            </a:r>
            <a:r>
              <a:rPr sz="1500" b="0" i="0">
                <a:solidFill>
                  <a:srgbClr val="1F2933"/>
                </a:solidFill>
                <a:latin typeface="Consolas"/>
              </a:rPr>
              <a:t>, </a:t>
            </a:r>
            <a:r>
              <a:rPr sz="1500" b="0" i="0">
                <a:solidFill>
                  <a:srgbClr val="C2410C"/>
                </a:solidFill>
                <a:latin typeface="Consolas"/>
              </a:rPr>
              <a:t>0.40</a:t>
            </a:r>
            <a:r>
              <a:rPr sz="1500" b="0" i="0">
                <a:solidFill>
                  <a:srgbClr val="1F2933"/>
                </a:solidFill>
                <a:latin typeface="Consolas"/>
              </a:rPr>
              <a:t>, SPREAD)</a:t>
            </a:r>
          </a:p>
        </p:txBody>
      </p:sp>
      <p:sp>
        <p:nvSpPr>
          <p:cNvPr id="9" name="TextBox 8"/>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--request-rate sets the rate, sent open loop</a:t>
            </a:r>
          </a:p>
          <a:p>
            <a:pPr>
              <a:spcAft>
                <a:spcPts val="1000"/>
              </a:spcAft>
            </a:pPr>
            <a:r>
              <a:rPr sz="1300">
                <a:solidFill>
                  <a:srgbClr val="4F46E5"/>
                </a:solidFill>
                <a:latin typeface="Calibri"/>
              </a:rPr>
              <a:t>●  </a:t>
            </a:r>
            <a:r>
              <a:rPr sz="1900">
                <a:solidFill>
                  <a:srgbClr val="1F2933"/>
                </a:solidFill>
                <a:latin typeface="Calibri"/>
              </a:rPr>
              <a:t>Recorded p95 TTFT: 1.6 s at 0.05/s, 1.8 s at 0.15/s, 22 s at 0.40/s</a:t>
            </a:r>
          </a:p>
          <a:p>
            <a:pPr>
              <a:spcAft>
                <a:spcPts val="1000"/>
              </a:spcAft>
            </a:pPr>
            <a:r>
              <a:rPr sz="1300">
                <a:solidFill>
                  <a:srgbClr val="4F46E5"/>
                </a:solidFill>
                <a:latin typeface="Calibri"/>
              </a:rPr>
              <a:t>●  </a:t>
            </a:r>
            <a:r>
              <a:rPr sz="1900">
                <a:solidFill>
                  <a:srgbClr val="1F2933"/>
                </a:solidFill>
                <a:latin typeface="Calibri"/>
              </a:rPr>
              <a:t>Numbers from data/recorded/27.json, not from this run</a:t>
            </a:r>
          </a:p>
        </p:txBody>
      </p:sp>
      <p:sp>
        <p:nvSpPr>
          <p:cNvPr id="10" name="TextBox 9"/>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SPREAD 0.5 varies each length by plus or minus 50%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Past capacity, the p95 wait jumps to 22 seconds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9</a:t>
            </a:r>
          </a:p>
        </p:txBody>
      </p:sp>
      <p:sp>
        <p:nvSpPr>
          <p:cNvPr id="5" name="Rounded Rectangle 4"/>
          <p:cNvSpPr/>
          <p:nvPr/>
        </p:nvSpPr>
        <p:spPr>
          <a:xfrm>
            <a:off x="640080" y="1737360"/>
            <a:ext cx="4754880" cy="402336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4023360" cy="1737360"/>
          </a:xfrm>
          <a:prstGeom prst="rect">
            <a:avLst/>
          </a:prstGeom>
          <a:noFill/>
        </p:spPr>
        <p:txBody>
          <a:bodyPr wrap="square" lIns="0" rIns="0" tIns="0" bIns="0" anchor="ctr">
            <a:spAutoFit/>
          </a:bodyPr>
          <a:lstStyle/>
          <a:p>
            <a:pPr algn="l"/>
            <a:r>
              <a:rPr sz="7200" b="1" i="0">
                <a:solidFill>
                  <a:srgbClr val="4F46E5"/>
                </a:solidFill>
                <a:latin typeface="Calibri"/>
              </a:rPr>
              <a:t>22 s</a:t>
            </a:r>
          </a:p>
        </p:txBody>
      </p:sp>
      <p:sp>
        <p:nvSpPr>
          <p:cNvPr id="7" name="TextBox 6"/>
          <p:cNvSpPr txBox="1"/>
          <p:nvPr/>
        </p:nvSpPr>
        <p:spPr>
          <a:xfrm>
            <a:off x="1005840" y="3931920"/>
            <a:ext cx="4023360" cy="1097280"/>
          </a:xfrm>
          <a:prstGeom prst="rect">
            <a:avLst/>
          </a:prstGeom>
          <a:noFill/>
        </p:spPr>
        <p:txBody>
          <a:bodyPr wrap="square" lIns="0" rIns="0" tIns="0" bIns="0" anchor="t">
            <a:spAutoFit/>
          </a:bodyPr>
          <a:lstStyle/>
          <a:p>
            <a:pPr algn="l"/>
            <a:r>
              <a:rPr sz="1800" b="0" i="0">
                <a:solidFill>
                  <a:srgbClr val="1F2933"/>
                </a:solidFill>
                <a:latin typeface="Calibri"/>
              </a:rPr>
              <a:t>95th-percentile (p95) first-token wait at 0.40 requests a second</a:t>
            </a:r>
          </a:p>
        </p:txBody>
      </p:sp>
      <p:sp>
        <p:nvSpPr>
          <p:cNvPr id="8" name="TextBox 7"/>
          <p:cNvSpPr txBox="1"/>
          <p:nvPr/>
        </p:nvSpPr>
        <p:spPr>
          <a:xfrm>
            <a:off x="1005840" y="5120640"/>
            <a:ext cx="4023360" cy="457200"/>
          </a:xfrm>
          <a:prstGeom prst="rect">
            <a:avLst/>
          </a:prstGeom>
          <a:noFill/>
        </p:spPr>
        <p:txBody>
          <a:bodyPr wrap="square" lIns="0" rIns="0" tIns="0" bIns="0" anchor="t">
            <a:spAutoFit/>
          </a:bodyPr>
          <a:lstStyle/>
          <a:p>
            <a:pPr algn="l"/>
            <a:r>
              <a:rPr sz="1100" b="0" i="0">
                <a:solidFill>
                  <a:srgbClr val="6B7280"/>
                </a:solidFill>
                <a:latin typeface="Calibri"/>
              </a:rPr>
              <a:t>Source: Lesson 27, Step 5 (recorded run, data/recorded/27.json)</a:t>
            </a:r>
          </a:p>
        </p:txBody>
      </p:sp>
      <p:sp>
        <p:nvSpPr>
          <p:cNvPr id="9" name="TextBox 8"/>
          <p:cNvSpPr txBox="1"/>
          <p:nvPr/>
        </p:nvSpPr>
        <p:spPr>
          <a:xfrm>
            <a:off x="5943600" y="2011680"/>
            <a:ext cx="5577840" cy="365760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At 0.15 a second, p95 is 1.8 s: on target</a:t>
            </a:r>
          </a:p>
          <a:p>
            <a:pPr>
              <a:spcAft>
                <a:spcPts val="1000"/>
              </a:spcAft>
            </a:pPr>
            <a:r>
              <a:rPr sz="1300">
                <a:solidFill>
                  <a:srgbClr val="4F46E5"/>
                </a:solidFill>
                <a:latin typeface="Calibri"/>
              </a:rPr>
              <a:t>●  </a:t>
            </a:r>
            <a:r>
              <a:rPr sz="1900">
                <a:solidFill>
                  <a:srgbClr val="1F2933"/>
                </a:solidFill>
                <a:latin typeface="Calibri"/>
              </a:rPr>
              <a:t>Goodput fell to 0.07 of 0.40 offered</a:t>
            </a:r>
          </a:p>
          <a:p>
            <a:pPr>
              <a:spcAft>
                <a:spcPts val="1000"/>
              </a:spcAft>
            </a:pPr>
            <a:r>
              <a:rPr sz="1300">
                <a:solidFill>
                  <a:srgbClr val="4F46E5"/>
                </a:solidFill>
                <a:latin typeface="Calibri"/>
              </a:rPr>
              <a:t>●  </a:t>
            </a:r>
            <a:r>
              <a:rPr sz="1900">
                <a:solidFill>
                  <a:srgbClr val="1F2933"/>
                </a:solidFill>
                <a:latin typeface="Calibri"/>
              </a:rPr>
              <a:t>GuideLLM and vLLM bench disagree 8x on p95: cause unknown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An idle taxi still costs money by the hour</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10</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hired taxi</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You pay for the hour whether it drives or waits.</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A GPU's hourly price</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You pay every hour; tokens served set the cost.</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GPU batches requests. Cost per token depends on batching and utilisation, not rides.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Cost per served token falls as utilisation rises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11</a:t>
            </a:r>
          </a:p>
        </p:txBody>
      </p:sp>
      <p:sp>
        <p:nvSpPr>
          <p:cNvPr id="5" name="Rounded Rectangle 4"/>
          <p:cNvSpPr/>
          <p:nvPr/>
        </p:nvSpPr>
        <p:spPr>
          <a:xfrm>
            <a:off x="640080" y="1508760"/>
            <a:ext cx="10908792" cy="14173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Cost per token is the hourly price divided by the tokens served in that hour, at 1,000 tokens/s ceiling × utilisation.</a:t>
            </a:r>
          </a:p>
        </p:txBody>
      </p:sp>
      <p:sp>
        <p:nvSpPr>
          <p:cNvPr id="7" name="Rounded Rectangle 6"/>
          <p:cNvSpPr/>
          <p:nvPr/>
        </p:nvSpPr>
        <p:spPr>
          <a:xfrm>
            <a:off x="640080"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Price per hour</a:t>
            </a:r>
          </a:p>
        </p:txBody>
      </p:sp>
      <p:sp>
        <p:nvSpPr>
          <p:cNvPr id="9" name="TextBox 8"/>
          <p:cNvSpPr txBox="1"/>
          <p:nvPr/>
        </p:nvSpPr>
        <p:spPr>
          <a:xfrm>
            <a:off x="914400"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One L4 GPU, on demand: about $0.707 an hour</a:t>
            </a:r>
          </a:p>
        </p:txBody>
      </p:sp>
      <p:sp>
        <p:nvSpPr>
          <p:cNvPr id="10" name="Rounded Rectangle 9"/>
          <p:cNvSpPr/>
          <p:nvPr/>
        </p:nvSpPr>
        <p:spPr>
          <a:xfrm>
            <a:off x="4367784"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2104"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Utilisation</a:t>
            </a:r>
          </a:p>
        </p:txBody>
      </p:sp>
      <p:sp>
        <p:nvSpPr>
          <p:cNvPr id="12" name="TextBox 11"/>
          <p:cNvSpPr txBox="1"/>
          <p:nvPr/>
        </p:nvSpPr>
        <p:spPr>
          <a:xfrm>
            <a:off x="4642104"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Share of capacity actually in use</a:t>
            </a:r>
          </a:p>
        </p:txBody>
      </p:sp>
      <p:sp>
        <p:nvSpPr>
          <p:cNvPr id="13" name="Rounded Rectangle 12"/>
          <p:cNvSpPr/>
          <p:nvPr/>
        </p:nvSpPr>
        <p:spPr>
          <a:xfrm>
            <a:off x="8095488"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9808"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Cache hit rate</a:t>
            </a:r>
          </a:p>
        </p:txBody>
      </p:sp>
      <p:sp>
        <p:nvSpPr>
          <p:cNvPr id="15" name="TextBox 14"/>
          <p:cNvSpPr txBox="1"/>
          <p:nvPr/>
        </p:nvSpPr>
        <p:spPr>
          <a:xfrm>
            <a:off x="8369808"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Shared prompt start served from memory</a:t>
            </a:r>
          </a:p>
        </p:txBody>
      </p:sp>
      <p:sp>
        <p:nvSpPr>
          <p:cNvPr id="16" name="TextBox 15"/>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Illustrative: 20% use costs 5.0 times the cost at 100%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At $0.62/h spot, 30% lost work makes it dearer</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12</a:t>
            </a:r>
          </a:p>
        </p:txBody>
      </p:sp>
      <p:sp>
        <p:nvSpPr>
          <p:cNvPr id="5" name="Rounded Rectangle 4"/>
          <p:cNvSpPr/>
          <p:nvPr/>
        </p:nvSpPr>
        <p:spPr>
          <a:xfrm>
            <a:off x="640080" y="1554480"/>
            <a:ext cx="7315200" cy="1549603"/>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1719072"/>
            <a:ext cx="7168896" cy="309676"/>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2538374"/>
            <a:ext cx="7168896" cy="309676"/>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1275283"/>
          </a:xfrm>
          <a:prstGeom prst="rect">
            <a:avLst/>
          </a:prstGeom>
          <a:noFill/>
        </p:spPr>
        <p:txBody>
          <a:bodyPr wrap="none" lIns="0" rIns="0" tIns="0" bIns="0">
            <a:noAutofit/>
          </a:bodyPr>
          <a:lstStyle/>
          <a:p>
            <a:pPr algn="l">
              <a:lnSpc>
                <a:spcPct val="112000"/>
              </a:lnSpc>
            </a:pPr>
            <a:r>
              <a:rPr sz="1600" b="0" i="0">
                <a:solidFill>
                  <a:srgbClr val="1F2933"/>
                </a:solidFill>
                <a:latin typeface="Consolas"/>
              </a:rPr>
              <a:t>eff_high = </a:t>
            </a:r>
            <a:r>
              <a:rPr sz="1600" b="0" i="0">
                <a:solidFill>
                  <a:srgbClr val="C2410C"/>
                </a:solidFill>
                <a:latin typeface="Consolas"/>
              </a:rPr>
              <a:t>0.62</a:t>
            </a:r>
            <a:r>
              <a:rPr sz="1600" b="0" i="0">
                <a:solidFill>
                  <a:srgbClr val="1F2933"/>
                </a:solidFill>
                <a:latin typeface="Consolas"/>
              </a:rPr>
              <a:t> / (</a:t>
            </a:r>
            <a:r>
              <a:rPr sz="1600" b="0" i="0">
                <a:solidFill>
                  <a:srgbClr val="C2410C"/>
                </a:solidFill>
                <a:latin typeface="Consolas"/>
              </a:rPr>
              <a:t>1</a:t>
            </a:r>
            <a:r>
              <a:rPr sz="1600" b="0" i="0">
                <a:solidFill>
                  <a:srgbClr val="1F2933"/>
                </a:solidFill>
                <a:latin typeface="Consolas"/>
              </a:rPr>
              <a:t> - </a:t>
            </a:r>
            <a:r>
              <a:rPr sz="1600" b="0" i="0">
                <a:solidFill>
                  <a:srgbClr val="C2410C"/>
                </a:solidFill>
                <a:latin typeface="Consolas"/>
              </a:rPr>
              <a:t>0.30</a:t>
            </a:r>
            <a:r>
              <a:rPr sz="1600" b="0" i="0">
                <a:solidFill>
                  <a:srgbClr val="1F2933"/>
                </a:solidFill>
                <a:latin typeface="Consolas"/>
              </a:rPr>
              <a:t>)</a:t>
            </a:r>
          </a:p>
          <a:p>
            <a:pPr algn="l">
              <a:lnSpc>
                <a:spcPct val="112000"/>
              </a:lnSpc>
            </a:pPr>
            <a:r>
              <a:rPr sz="1600" b="0" i="0">
                <a:solidFill>
                  <a:srgbClr val="1F2933"/>
                </a:solidFill>
                <a:latin typeface="Consolas"/>
              </a:rPr>
              <a:t>spot_cost = cost_per_million(eff_high, </a:t>
            </a:r>
            <a:r>
              <a:rPr sz="1600" b="0" i="0">
                <a:solidFill>
                  <a:srgbClr val="C2410C"/>
                </a:solidFill>
                <a:latin typeface="Consolas"/>
              </a:rPr>
              <a:t>0.5</a:t>
            </a:r>
            <a:r>
              <a:rPr sz="1600" b="0" i="0">
                <a:solidFill>
                  <a:srgbClr val="1F2933"/>
                </a:solidFill>
                <a:latin typeface="Consolas"/>
              </a:rPr>
              <a:t>)</a:t>
            </a:r>
          </a:p>
          <a:p>
            <a:pPr algn="l">
              <a:lnSpc>
                <a:spcPct val="112000"/>
              </a:lnSpc>
            </a:pPr>
            <a:r>
              <a:rPr sz="1600" b="0" i="0">
                <a:solidFill>
                  <a:srgbClr val="1F2933"/>
                </a:solidFill>
                <a:latin typeface="Consolas"/>
              </a:rPr>
              <a:t>od_cost = cost_per_million(PRICE_OD, </a:t>
            </a:r>
            <a:r>
              <a:rPr sz="1600" b="0" i="0">
                <a:solidFill>
                  <a:srgbClr val="C2410C"/>
                </a:solidFill>
                <a:latin typeface="Consolas"/>
              </a:rPr>
              <a:t>0.5</a:t>
            </a:r>
            <a:r>
              <a:rPr sz="1600" b="0" i="0">
                <a:solidFill>
                  <a:srgbClr val="1F2933"/>
                </a:solidFill>
                <a:latin typeface="Consolas"/>
              </a:rPr>
              <a:t>)</a:t>
            </a:r>
          </a:p>
          <a:p>
            <a:pPr algn="l">
              <a:lnSpc>
                <a:spcPct val="112000"/>
              </a:lnSpc>
            </a:pPr>
            <a:r>
              <a:rPr sz="1600" b="0" i="0">
                <a:solidFill>
                  <a:srgbClr val="0E7490"/>
                </a:solidFill>
                <a:latin typeface="Consolas"/>
              </a:rPr>
              <a:t>print</a:t>
            </a:r>
            <a:r>
              <a:rPr sz="1600" b="0" i="0">
                <a:solidFill>
                  <a:srgbClr val="1F2933"/>
                </a:solidFill>
                <a:latin typeface="Consolas"/>
              </a:rPr>
              <a:t>(</a:t>
            </a:r>
            <a:r>
              <a:rPr sz="1600" b="0" i="0">
                <a:solidFill>
                  <a:srgbClr val="B45309"/>
                </a:solidFill>
                <a:latin typeface="Consolas"/>
              </a:rPr>
              <a:t>"cheaper per served token:"</a:t>
            </a:r>
            <a:r>
              <a:rPr sz="1600" b="0" i="0">
                <a:solidFill>
                  <a:srgbClr val="1F2933"/>
                </a:solidFill>
                <a:latin typeface="Consolas"/>
              </a:rPr>
              <a:t>, spot_cost &lt; od_cost)</a:t>
            </a:r>
          </a:p>
        </p:txBody>
      </p:sp>
      <p:sp>
        <p:nvSpPr>
          <p:cNvPr id="9" name="Rounded Rectangle 8"/>
          <p:cNvSpPr/>
          <p:nvPr/>
        </p:nvSpPr>
        <p:spPr>
          <a:xfrm>
            <a:off x="640080" y="3213811"/>
            <a:ext cx="7315200" cy="658368"/>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286963"/>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1" name="TextBox 10"/>
          <p:cNvSpPr txBox="1"/>
          <p:nvPr/>
        </p:nvSpPr>
        <p:spPr>
          <a:xfrm>
            <a:off x="1828800" y="3305251"/>
            <a:ext cx="5943600" cy="384048"/>
          </a:xfrm>
          <a:prstGeom prst="rect">
            <a:avLst/>
          </a:prstGeom>
          <a:noFill/>
        </p:spPr>
        <p:txBody>
          <a:bodyPr wrap="square" lIns="0" rIns="0" tIns="0" bIns="0" anchor="t">
            <a:spAutoFit/>
          </a:bodyPr>
          <a:lstStyle/>
          <a:p>
            <a:pPr algn="l"/>
            <a:r>
              <a:rPr sz="1600" b="0" i="0">
                <a:solidFill>
                  <a:srgbClr val="E5E7EB"/>
                </a:solidFill>
                <a:latin typeface="Consolas"/>
              </a:rPr>
              <a:t>cheaper per served token: False</a:t>
            </a:r>
          </a:p>
        </p:txBody>
      </p:sp>
      <p:sp>
        <p:nvSpPr>
          <p:cNvPr id="12" name="TextBox 11"/>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Price divided by the share of work kept</a:t>
            </a:r>
          </a:p>
          <a:p>
            <a:pPr>
              <a:spcAft>
                <a:spcPts val="1000"/>
              </a:spcAft>
            </a:pPr>
            <a:r>
              <a:rPr sz="1300">
                <a:solidFill>
                  <a:srgbClr val="4F46E5"/>
                </a:solidFill>
                <a:latin typeface="Calibri"/>
              </a:rPr>
              <a:t>●  </a:t>
            </a:r>
            <a:r>
              <a:rPr sz="1900">
                <a:solidFill>
                  <a:srgbClr val="1F2933"/>
                </a:solidFill>
                <a:latin typeface="Calibri"/>
              </a:rPr>
              <a:t>$0.62/h spot: 0.492 $/M against 0.393 on demand</a:t>
            </a:r>
          </a:p>
          <a:p>
            <a:pPr>
              <a:spcAft>
                <a:spcPts val="1000"/>
              </a:spcAft>
            </a:pPr>
            <a:r>
              <a:rPr sz="1300">
                <a:solidFill>
                  <a:srgbClr val="4F46E5"/>
                </a:solidFill>
                <a:latin typeface="Calibri"/>
              </a:rPr>
              <a:t>●  </a:t>
            </a:r>
            <a:r>
              <a:rPr sz="1900">
                <a:solidFill>
                  <a:srgbClr val="1F2933"/>
                </a:solidFill>
                <a:latin typeface="Calibri"/>
              </a:rPr>
              <a:t>At $0.28/h, spot still wins up to 60% lost work</a:t>
            </a:r>
          </a:p>
        </p:txBody>
      </p:sp>
      <p:sp>
        <p:nvSpPr>
          <p:cNvPr id="13" name="TextBox 12"/>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Self-hosting beats a $0.25 API only above 79% use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13</a:t>
            </a:r>
          </a:p>
        </p:txBody>
      </p:sp>
      <p:sp>
        <p:nvSpPr>
          <p:cNvPr id="5" name="Rounded Rectangle 4"/>
          <p:cNvSpPr/>
          <p:nvPr/>
        </p:nvSpPr>
        <p:spPr>
          <a:xfrm>
            <a:off x="640080" y="1737360"/>
            <a:ext cx="4754880" cy="402336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4023360" cy="1737360"/>
          </a:xfrm>
          <a:prstGeom prst="rect">
            <a:avLst/>
          </a:prstGeom>
          <a:noFill/>
        </p:spPr>
        <p:txBody>
          <a:bodyPr wrap="square" lIns="0" rIns="0" tIns="0" bIns="0" anchor="ctr">
            <a:spAutoFit/>
          </a:bodyPr>
          <a:lstStyle/>
          <a:p>
            <a:pPr algn="l"/>
            <a:r>
              <a:rPr sz="7200" b="1" i="0">
                <a:solidFill>
                  <a:srgbClr val="4F46E5"/>
                </a:solidFill>
                <a:latin typeface="Calibri"/>
              </a:rPr>
              <a:t>79%</a:t>
            </a:r>
          </a:p>
        </p:txBody>
      </p:sp>
      <p:sp>
        <p:nvSpPr>
          <p:cNvPr id="7" name="TextBox 6"/>
          <p:cNvSpPr txBox="1"/>
          <p:nvPr/>
        </p:nvSpPr>
        <p:spPr>
          <a:xfrm>
            <a:off x="1005840" y="3931920"/>
            <a:ext cx="4023360" cy="1097280"/>
          </a:xfrm>
          <a:prstGeom prst="rect">
            <a:avLst/>
          </a:prstGeom>
          <a:noFill/>
        </p:spPr>
        <p:txBody>
          <a:bodyPr wrap="square" lIns="0" rIns="0" tIns="0" bIns="0" anchor="t">
            <a:spAutoFit/>
          </a:bodyPr>
          <a:lstStyle/>
          <a:p>
            <a:pPr algn="l"/>
            <a:r>
              <a:rPr sz="1800" b="0" i="0">
                <a:solidFill>
                  <a:srgbClr val="1F2933"/>
                </a:solidFill>
                <a:latin typeface="Calibri"/>
              </a:rPr>
              <a:t>utilisation above which self-hosting beats a $0.25 per million token API (example price)</a:t>
            </a:r>
          </a:p>
        </p:txBody>
      </p:sp>
      <p:sp>
        <p:nvSpPr>
          <p:cNvPr id="8" name="TextBox 7"/>
          <p:cNvSpPr txBox="1"/>
          <p:nvPr/>
        </p:nvSpPr>
        <p:spPr>
          <a:xfrm>
            <a:off x="1005840" y="5120640"/>
            <a:ext cx="4023360" cy="457200"/>
          </a:xfrm>
          <a:prstGeom prst="rect">
            <a:avLst/>
          </a:prstGeom>
          <a:noFill/>
        </p:spPr>
        <p:txBody>
          <a:bodyPr wrap="square" lIns="0" rIns="0" tIns="0" bIns="0" anchor="t">
            <a:spAutoFit/>
          </a:bodyPr>
          <a:lstStyle/>
          <a:p>
            <a:pPr algn="l"/>
            <a:r>
              <a:rPr sz="1100" b="0" i="0">
                <a:solidFill>
                  <a:srgbClr val="6B7280"/>
                </a:solidFill>
                <a:latin typeface="Calibri"/>
              </a:rPr>
              <a:t>Source: Lesson 28, Step 7 (example API grid values; copy your provider's price)</a:t>
            </a:r>
          </a:p>
        </p:txBody>
      </p:sp>
      <p:sp>
        <p:nvSpPr>
          <p:cNvPr id="9" name="TextBox 8"/>
          <p:cNvSpPr txBox="1"/>
          <p:nvPr/>
        </p:nvSpPr>
        <p:spPr>
          <a:xfrm>
            <a:off x="5943600" y="2011680"/>
            <a:ext cx="5577840" cy="365760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Measured against self-hosting at 100% use, its best case</a:t>
            </a:r>
          </a:p>
          <a:p>
            <a:pPr>
              <a:spcAft>
                <a:spcPts val="1000"/>
              </a:spcAft>
            </a:pPr>
            <a:r>
              <a:rPr sz="1300">
                <a:solidFill>
                  <a:srgbClr val="4F46E5"/>
                </a:solidFill>
                <a:latin typeface="Calibri"/>
              </a:rPr>
              <a:t>●  </a:t>
            </a:r>
            <a:r>
              <a:rPr sz="1900">
                <a:solidFill>
                  <a:srgbClr val="1F2933"/>
                </a:solidFill>
                <a:latin typeface="Calibri"/>
              </a:rPr>
              <a:t>At $1.00 per million, self-hosting wins above 20%</a:t>
            </a:r>
          </a:p>
          <a:p>
            <a:pPr>
              <a:spcAft>
                <a:spcPts val="1000"/>
              </a:spcAft>
            </a:pPr>
            <a:r>
              <a:rPr sz="1300">
                <a:solidFill>
                  <a:srgbClr val="4F46E5"/>
                </a:solidFill>
                <a:latin typeface="Calibri"/>
              </a:rPr>
              <a:t>●  </a:t>
            </a:r>
            <a:r>
              <a:rPr sz="1900">
                <a:solidFill>
                  <a:srgbClr val="1F2933"/>
                </a:solidFill>
                <a:latin typeface="Calibri"/>
              </a:rPr>
              <a:t>Blend input and output by your traffic; plan at 70–80%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From QPS to cost per token</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14</a:t>
            </a:r>
          </a:p>
        </p:txBody>
      </p:sp>
      <p:sp>
        <p:nvSpPr>
          <p:cNvPr id="5" name="Rounded Rectangle 4"/>
          <p:cNvSpPr/>
          <p:nvPr/>
        </p:nvSpPr>
        <p:spPr>
          <a:xfrm>
            <a:off x="594359"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1</a:t>
            </a:r>
          </a:p>
        </p:txBody>
      </p:sp>
      <p:cxnSp>
        <p:nvCxnSpPr>
          <p:cNvPr id="8" name="Connector 7"/>
          <p:cNvCxnSpPr/>
          <p:nvPr/>
        </p:nvCxnSpPr>
        <p:spPr>
          <a:xfrm>
            <a:off x="1828800" y="2240280"/>
            <a:ext cx="1258214"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14400"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Little's law (26)</a:t>
            </a:r>
          </a:p>
        </p:txBody>
      </p:sp>
      <p:sp>
        <p:nvSpPr>
          <p:cNvPr id="10" name="TextBox 9"/>
          <p:cNvSpPr txBox="1"/>
          <p:nvPr/>
        </p:nvSpPr>
        <p:spPr>
          <a:xfrm>
            <a:off x="914400"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QPS × seconds = requests in flight</a:t>
            </a:r>
          </a:p>
        </p:txBody>
      </p:sp>
      <p:sp>
        <p:nvSpPr>
          <p:cNvPr id="11" name="Rounded Rectangle 10"/>
          <p:cNvSpPr/>
          <p:nvPr/>
        </p:nvSpPr>
        <p:spPr>
          <a:xfrm>
            <a:off x="2858414"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178454"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78454"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2</a:t>
            </a:r>
          </a:p>
        </p:txBody>
      </p:sp>
      <p:cxnSp>
        <p:nvCxnSpPr>
          <p:cNvPr id="14" name="Connector 13"/>
          <p:cNvCxnSpPr/>
          <p:nvPr/>
        </p:nvCxnSpPr>
        <p:spPr>
          <a:xfrm>
            <a:off x="4092854" y="2240280"/>
            <a:ext cx="1258214"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178454"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Slots, replicas (26)</a:t>
            </a:r>
          </a:p>
        </p:txBody>
      </p:sp>
      <p:sp>
        <p:nvSpPr>
          <p:cNvPr id="16" name="TextBox 15"/>
          <p:cNvSpPr txBox="1"/>
          <p:nvPr/>
        </p:nvSpPr>
        <p:spPr>
          <a:xfrm>
            <a:off x="3178454"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Cache sets slots; 70% use; one spare</a:t>
            </a:r>
          </a:p>
        </p:txBody>
      </p:sp>
      <p:sp>
        <p:nvSpPr>
          <p:cNvPr id="17" name="Rounded Rectangle 16"/>
          <p:cNvSpPr/>
          <p:nvPr/>
        </p:nvSpPr>
        <p:spPr>
          <a:xfrm>
            <a:off x="5122468"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442508"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42508"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3</a:t>
            </a:r>
          </a:p>
        </p:txBody>
      </p:sp>
      <p:cxnSp>
        <p:nvCxnSpPr>
          <p:cNvPr id="20" name="Connector 19"/>
          <p:cNvCxnSpPr/>
          <p:nvPr/>
        </p:nvCxnSpPr>
        <p:spPr>
          <a:xfrm>
            <a:off x="6356908" y="2240280"/>
            <a:ext cx="1258215"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42508"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Load test (27)</a:t>
            </a:r>
          </a:p>
        </p:txBody>
      </p:sp>
      <p:sp>
        <p:nvSpPr>
          <p:cNvPr id="22" name="TextBox 21"/>
          <p:cNvSpPr txBox="1"/>
          <p:nvPr/>
        </p:nvSpPr>
        <p:spPr>
          <a:xfrm>
            <a:off x="5442508"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Open loop, varied lengths, p95, goodput</a:t>
            </a:r>
          </a:p>
        </p:txBody>
      </p:sp>
      <p:sp>
        <p:nvSpPr>
          <p:cNvPr id="23" name="Rounded Rectangle 22"/>
          <p:cNvSpPr/>
          <p:nvPr/>
        </p:nvSpPr>
        <p:spPr>
          <a:xfrm>
            <a:off x="7386523"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706563"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06563"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4</a:t>
            </a:r>
          </a:p>
        </p:txBody>
      </p:sp>
      <p:cxnSp>
        <p:nvCxnSpPr>
          <p:cNvPr id="26" name="Connector 25"/>
          <p:cNvCxnSpPr/>
          <p:nvPr/>
        </p:nvCxnSpPr>
        <p:spPr>
          <a:xfrm>
            <a:off x="8620963" y="2240280"/>
            <a:ext cx="1258214"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06563"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Cost (28)</a:t>
            </a:r>
          </a:p>
        </p:txBody>
      </p:sp>
      <p:sp>
        <p:nvSpPr>
          <p:cNvPr id="28" name="TextBox 27"/>
          <p:cNvSpPr txBox="1"/>
          <p:nvPr/>
        </p:nvSpPr>
        <p:spPr>
          <a:xfrm>
            <a:off x="7706563"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Hourly price over served tokens</a:t>
            </a:r>
          </a:p>
        </p:txBody>
      </p:sp>
      <p:sp>
        <p:nvSpPr>
          <p:cNvPr id="29" name="Rounded Rectangle 28"/>
          <p:cNvSpPr/>
          <p:nvPr/>
        </p:nvSpPr>
        <p:spPr>
          <a:xfrm>
            <a:off x="9650577"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70617"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70617"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5</a:t>
            </a:r>
          </a:p>
        </p:txBody>
      </p:sp>
      <p:sp>
        <p:nvSpPr>
          <p:cNvPr id="32" name="TextBox 31"/>
          <p:cNvSpPr txBox="1"/>
          <p:nvPr/>
        </p:nvSpPr>
        <p:spPr>
          <a:xfrm>
            <a:off x="9970617"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Decision</a:t>
            </a:r>
          </a:p>
        </p:txBody>
      </p:sp>
      <p:sp>
        <p:nvSpPr>
          <p:cNvPr id="33" name="TextBox 32"/>
          <p:cNvSpPr txBox="1"/>
          <p:nvPr/>
        </p:nvSpPr>
        <p:spPr>
          <a:xfrm>
            <a:off x="9970617"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Measure W at peak; size at 70–80%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Questions to ask before sizing a fleet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15</a:t>
            </a:r>
          </a:p>
        </p:txBody>
      </p:sp>
      <p:sp>
        <p:nvSpPr>
          <p:cNvPr id="5" name="Oval 4"/>
          <p:cNvSpPr/>
          <p:nvPr/>
        </p:nvSpPr>
        <p:spPr>
          <a:xfrm>
            <a:off x="640080" y="1783080"/>
            <a:ext cx="914400" cy="91440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Callout 5"/>
          <p:cNvSpPr/>
          <p:nvPr/>
        </p:nvSpPr>
        <p:spPr>
          <a:xfrm>
            <a:off x="868680" y="2011680"/>
            <a:ext cx="457200" cy="457200"/>
          </a:xfrm>
          <a:prstGeom prst="wedgeEllipseCallou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0" y="1783080"/>
            <a:ext cx="548640" cy="548640"/>
          </a:xfrm>
          <a:prstGeom prst="rect">
            <a:avLst/>
          </a:prstGeom>
          <a:noFill/>
        </p:spPr>
        <p:txBody>
          <a:bodyPr wrap="square" lIns="0" rIns="0" tIns="0" bIns="0" anchor="t">
            <a:spAutoFit/>
          </a:bodyPr>
          <a:lstStyle/>
          <a:p>
            <a:pPr algn="l"/>
            <a:r>
              <a:rPr sz="2200" b="1" i="0">
                <a:solidFill>
                  <a:srgbClr val="4F46E5"/>
                </a:solidFill>
                <a:latin typeface="Calibri"/>
              </a:rPr>
              <a:t>1</a:t>
            </a:r>
          </a:p>
        </p:txBody>
      </p:sp>
      <p:sp>
        <p:nvSpPr>
          <p:cNvPr id="8" name="TextBox 7"/>
          <p:cNvSpPr txBox="1"/>
          <p:nvPr/>
        </p:nvSpPr>
        <p:spPr>
          <a:xfrm>
            <a:off x="2560320" y="1810512"/>
            <a:ext cx="8961120" cy="731520"/>
          </a:xfrm>
          <a:prstGeom prst="rect">
            <a:avLst/>
          </a:prstGeom>
          <a:noFill/>
        </p:spPr>
        <p:txBody>
          <a:bodyPr wrap="square" lIns="0" rIns="0" tIns="0" bIns="0" anchor="t">
            <a:spAutoFit/>
          </a:bodyPr>
          <a:lstStyle/>
          <a:p>
            <a:pPr algn="l"/>
            <a:r>
              <a:rPr sz="1900" b="0" i="0">
                <a:solidFill>
                  <a:srgbClr val="1F2933"/>
                </a:solidFill>
                <a:latin typeface="Calibri"/>
              </a:rPr>
              <a:t>What is my peak QPS, and seconds per request?</a:t>
            </a:r>
          </a:p>
        </p:txBody>
      </p:sp>
      <p:sp>
        <p:nvSpPr>
          <p:cNvPr id="9" name="TextBox 8"/>
          <p:cNvSpPr txBox="1"/>
          <p:nvPr/>
        </p:nvSpPr>
        <p:spPr>
          <a:xfrm>
            <a:off x="2011680" y="2624328"/>
            <a:ext cx="548640" cy="548640"/>
          </a:xfrm>
          <a:prstGeom prst="rect">
            <a:avLst/>
          </a:prstGeom>
          <a:noFill/>
        </p:spPr>
        <p:txBody>
          <a:bodyPr wrap="square" lIns="0" rIns="0" tIns="0" bIns="0" anchor="t">
            <a:spAutoFit/>
          </a:bodyPr>
          <a:lstStyle/>
          <a:p>
            <a:pPr algn="l"/>
            <a:r>
              <a:rPr sz="2200" b="1" i="0">
                <a:solidFill>
                  <a:srgbClr val="4F46E5"/>
                </a:solidFill>
                <a:latin typeface="Calibri"/>
              </a:rPr>
              <a:t>2</a:t>
            </a:r>
          </a:p>
        </p:txBody>
      </p:sp>
      <p:sp>
        <p:nvSpPr>
          <p:cNvPr id="10" name="TextBox 9"/>
          <p:cNvSpPr txBox="1"/>
          <p:nvPr/>
        </p:nvSpPr>
        <p:spPr>
          <a:xfrm>
            <a:off x="2560320" y="2651760"/>
            <a:ext cx="8961120" cy="731520"/>
          </a:xfrm>
          <a:prstGeom prst="rect">
            <a:avLst/>
          </a:prstGeom>
          <a:noFill/>
        </p:spPr>
        <p:txBody>
          <a:bodyPr wrap="square" lIns="0" rIns="0" tIns="0" bIns="0" anchor="t">
            <a:spAutoFit/>
          </a:bodyPr>
          <a:lstStyle/>
          <a:p>
            <a:pPr algn="l"/>
            <a:r>
              <a:rPr sz="1900" b="0" i="0">
                <a:solidFill>
                  <a:srgbClr val="1F2933"/>
                </a:solidFill>
                <a:latin typeface="Calibri"/>
              </a:rPr>
              <a:t>How many slots does the KV cache allow?</a:t>
            </a:r>
          </a:p>
        </p:txBody>
      </p:sp>
      <p:sp>
        <p:nvSpPr>
          <p:cNvPr id="11" name="TextBox 10"/>
          <p:cNvSpPr txBox="1"/>
          <p:nvPr/>
        </p:nvSpPr>
        <p:spPr>
          <a:xfrm>
            <a:off x="2011680" y="3465576"/>
            <a:ext cx="548640" cy="548640"/>
          </a:xfrm>
          <a:prstGeom prst="rect">
            <a:avLst/>
          </a:prstGeom>
          <a:noFill/>
        </p:spPr>
        <p:txBody>
          <a:bodyPr wrap="square" lIns="0" rIns="0" tIns="0" bIns="0" anchor="t">
            <a:spAutoFit/>
          </a:bodyPr>
          <a:lstStyle/>
          <a:p>
            <a:pPr algn="l"/>
            <a:r>
              <a:rPr sz="2200" b="1" i="0">
                <a:solidFill>
                  <a:srgbClr val="4F46E5"/>
                </a:solidFill>
                <a:latin typeface="Calibri"/>
              </a:rPr>
              <a:t>3</a:t>
            </a:r>
          </a:p>
        </p:txBody>
      </p:sp>
      <p:sp>
        <p:nvSpPr>
          <p:cNvPr id="12" name="TextBox 11"/>
          <p:cNvSpPr txBox="1"/>
          <p:nvPr/>
        </p:nvSpPr>
        <p:spPr>
          <a:xfrm>
            <a:off x="2560320" y="3493008"/>
            <a:ext cx="8961120" cy="731520"/>
          </a:xfrm>
          <a:prstGeom prst="rect">
            <a:avLst/>
          </a:prstGeom>
          <a:noFill/>
        </p:spPr>
        <p:txBody>
          <a:bodyPr wrap="square" lIns="0" rIns="0" tIns="0" bIns="0" anchor="t">
            <a:spAutoFit/>
          </a:bodyPr>
          <a:lstStyle/>
          <a:p>
            <a:pPr algn="l"/>
            <a:r>
              <a:rPr sz="1900" b="0" i="0">
                <a:solidFill>
                  <a:srgbClr val="1F2933"/>
                </a:solidFill>
                <a:latin typeface="Calibri"/>
              </a:rPr>
              <a:t>Which utilisation do I plan for, and one spare?</a:t>
            </a:r>
          </a:p>
        </p:txBody>
      </p:sp>
      <p:sp>
        <p:nvSpPr>
          <p:cNvPr id="13" name="TextBox 12"/>
          <p:cNvSpPr txBox="1"/>
          <p:nvPr/>
        </p:nvSpPr>
        <p:spPr>
          <a:xfrm>
            <a:off x="2011680" y="4306824"/>
            <a:ext cx="548640" cy="548640"/>
          </a:xfrm>
          <a:prstGeom prst="rect">
            <a:avLst/>
          </a:prstGeom>
          <a:noFill/>
        </p:spPr>
        <p:txBody>
          <a:bodyPr wrap="square" lIns="0" rIns="0" tIns="0" bIns="0" anchor="t">
            <a:spAutoFit/>
          </a:bodyPr>
          <a:lstStyle/>
          <a:p>
            <a:pPr algn="l"/>
            <a:r>
              <a:rPr sz="2200" b="1" i="0">
                <a:solidFill>
                  <a:srgbClr val="4F46E5"/>
                </a:solidFill>
                <a:latin typeface="Calibri"/>
              </a:rPr>
              <a:t>4</a:t>
            </a:r>
          </a:p>
        </p:txBody>
      </p:sp>
      <p:sp>
        <p:nvSpPr>
          <p:cNvPr id="14" name="TextBox 13"/>
          <p:cNvSpPr txBox="1"/>
          <p:nvPr/>
        </p:nvSpPr>
        <p:spPr>
          <a:xfrm>
            <a:off x="2560320" y="4334256"/>
            <a:ext cx="8961120" cy="731520"/>
          </a:xfrm>
          <a:prstGeom prst="rect">
            <a:avLst/>
          </a:prstGeom>
          <a:noFill/>
        </p:spPr>
        <p:txBody>
          <a:bodyPr wrap="square" lIns="0" rIns="0" tIns="0" bIns="0" anchor="t">
            <a:spAutoFit/>
          </a:bodyPr>
          <a:lstStyle/>
          <a:p>
            <a:pPr algn="l"/>
            <a:r>
              <a:rPr sz="1900" b="0" i="0">
                <a:solidFill>
                  <a:srgbClr val="1F2933"/>
                </a:solidFill>
                <a:latin typeface="Calibri"/>
              </a:rPr>
              <a:t>Did my load test use open-loop arrivals?</a:t>
            </a:r>
          </a:p>
        </p:txBody>
      </p:sp>
      <p:sp>
        <p:nvSpPr>
          <p:cNvPr id="15" name="TextBox 14"/>
          <p:cNvSpPr txBox="1"/>
          <p:nvPr/>
        </p:nvSpPr>
        <p:spPr>
          <a:xfrm>
            <a:off x="2011680" y="5148072"/>
            <a:ext cx="548640" cy="548640"/>
          </a:xfrm>
          <a:prstGeom prst="rect">
            <a:avLst/>
          </a:prstGeom>
          <a:noFill/>
        </p:spPr>
        <p:txBody>
          <a:bodyPr wrap="square" lIns="0" rIns="0" tIns="0" bIns="0" anchor="t">
            <a:spAutoFit/>
          </a:bodyPr>
          <a:lstStyle/>
          <a:p>
            <a:pPr algn="l"/>
            <a:r>
              <a:rPr sz="2200" b="1" i="0">
                <a:solidFill>
                  <a:srgbClr val="4F46E5"/>
                </a:solidFill>
                <a:latin typeface="Calibri"/>
              </a:rPr>
              <a:t>5</a:t>
            </a:r>
          </a:p>
        </p:txBody>
      </p:sp>
      <p:sp>
        <p:nvSpPr>
          <p:cNvPr id="16" name="TextBox 15"/>
          <p:cNvSpPr txBox="1"/>
          <p:nvPr/>
        </p:nvSpPr>
        <p:spPr>
          <a:xfrm>
            <a:off x="2560320" y="5175504"/>
            <a:ext cx="8961120" cy="731520"/>
          </a:xfrm>
          <a:prstGeom prst="rect">
            <a:avLst/>
          </a:prstGeom>
          <a:noFill/>
        </p:spPr>
        <p:txBody>
          <a:bodyPr wrap="square" lIns="0" rIns="0" tIns="0" bIns="0" anchor="t">
            <a:spAutoFit/>
          </a:bodyPr>
          <a:lstStyle/>
          <a:p>
            <a:pPr algn="l"/>
            <a:r>
              <a:rPr sz="1900" b="0" i="0">
                <a:solidFill>
                  <a:srgbClr val="1F2933"/>
                </a:solidFill>
                <a:latin typeface="Calibri"/>
              </a:rPr>
              <a:t>What is my cost per served token at 70-80%?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Capacity and economics for LLM serving</dc:title>
  <dc:subject/>
  <dc:creator>Tutorial factory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