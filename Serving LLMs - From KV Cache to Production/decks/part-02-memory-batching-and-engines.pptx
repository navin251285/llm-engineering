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has nine lessons, 10 to 18. We cover three ideas: paged KV memory, continuous batching and prefix caching. Then we look at the engine choice, the flags you will tune, speculative decoding and LoRA, and end with the checkpoint where you tune one server to a latency target.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hotel. Put simply: No-paging = every guest is booked the maximum stay. If it sold every guest a suite for the longest stay the hotel allows, it would fill up after a few guests and sit half empty. Selling by the night fixes that: a room is handed out when it is needed and returned at checkout. The engine's KV cache is the memory that holds each token's keys and values during an answer. A naive server reserves the longest answer for every request. Be clear where the comparison stops: a guest's stay is known in advance, an answer's length is not, so the engine can run out of blocks in the middle of an answer.</a:t>
            </a:r>
          </a:p>
          <a:p/>
          <a:p>
            <a:r>
              <a:t>From lessons: 10,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Brightside = the course's support desk. Its limit is 4,096 tokens per request, and one 24 GB L4 with the 8B model leaves a KV budget of 37,732 tokens (lesson 10, step 2). Reserving 4,096 slots per request admits 9 requests, and 55.8% of the reserved slots stay empty on the made-up trace. Paging takes 16-token blocks as the answer grows: the same budget admits 21 requests, and only 0.4% of the slots are empty. The vLLM paper reports that existing systems used only 20.4% to 38.2% of KV memory for real tokens (arXiv 2309.06180). The numbers come from one made-up trace, so the ranking matters more than the exact count.</a:t>
            </a:r>
          </a:p>
          <a:p/>
          <a:p>
            <a:r>
              <a:t>From lessons: 10,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interviewers expect the block table. In the lesson's model a block is 16 token slots, and the engine sets the real size, so check the startup log. Example: a 40-token request takes three blocks, 16 + 16 + 8. The block table is the request's list of block ids in token order. In lesson 11 the 40-token request held blocks 7, 6 and 5, and token 35 sat in block 5 at offset 3. The free list holds the blocks nobody uses; finishing a request returns all its blocks at once. The attention kernel reads a request's blocks through the table, so they do not have to sit next to each other in memory. That is why the name borrows from operating-system paging. The waste per request is at most one partly filled block.</a:t>
            </a:r>
          </a:p>
          <a:p/>
          <a:p>
            <a:r>
              <a:t>From lessons: 10,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rule in four lines. A partly filled block still costs a whole block, so the count rounds up. Negative floor division gives the ceiling without an import. For 1,801 tokens, rounding down gives 112 blocks and leaves out the last partly filled block; rounding up gives 113. Rounding down is the most common mistake in lesson 10. The output is the lesson's own check. Ask the room why it matters for admission: a request one token over a block boundary costs a whole new block, and the admission check must count it.</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bus on a timetable. Static batching is a bus that waits for a full load, drives the whole route and only then picks up the next group. Continuous batching is a bus that stops at every stop: when a passenger gets off, the next one in the queue gets on. vLLM's V1 scheduler works like the second bus, one step at a time. The analogy stops at the budget: each engine step has a token budget, the most tokens one step may process, 2,048 by default. Decoders take their tokens first, and a long prompt takes the rest.</a:t>
            </a:r>
          </a:p>
          <a:p/>
          <a:p>
            <a:r>
              <a:t>From lessons: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definition as two rules: a request can join on any step, and each step has a token budget. The parts: the budget is the most tokens one step may process; decoders each get one token first; chunked prefill splits a long prompt across steps. Lesson 12's example: 100 requests are decoding and two 1,617-token prompts are waiting. The decoders take 100 tokens, so 1,948 are left. The first prompt fits whole, and the second gets the rest. The pinned image reports max_num_seqs 128, max_num_batched_tokens 2048 and chunked prefill on.</a:t>
            </a:r>
          </a:p>
          <a:p/>
          <a:p>
            <a:r>
              <a:t>From lessons: 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scheduling rule from the lesson's simulator, cut to its two loops: decoders first, one token each; then prefill takes what is left. The full simulator, with the admission rule and the step cost, is in the notebook. The table is printed by the lesson's loop over the same 30 requests. Static batching has the slowest first tokens, 1,870 ms at p50; continuous batching cuts that to 832 ms, with the same ITL p95 of 71 ms. Chunked prefill keeps the p50 at 849 ms but raises ITL p95 to 90 ms: the trade-off of splitting the prompt. The budget is set by max_num_batched_tokens, 2,048 by default. With a 512 budget the ITL p95 falls to 28 ms and the TTFT p50 rises to 1,124 ms (lesson 12). TTFT is time to first token and ITL is the gap between streamed tokens. These are cost-model numbers, so trust the ranking.</a:t>
            </a:r>
          </a:p>
          <a:p/>
          <a:p>
            <a:r>
              <a:t>From lessons: 12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step loop, read top to bottom. The engine admits waiting requests that fit, then checks whether each running request needs one more block. If the pool is full, it pauses the lowest-priority request, frees its blocks and requeues it. In vLLM V1 the paused request is recomputed when it is admitted again, which repeats prefill work. In lesson 13's simulator with 400 blocks, fcfs paused the chats 79 times and recomputed 122,309 tokens; priority paused them 11 times and recomputed 23,229. Offload keeps a copy in CPU memory instead, trading PCIe time for GPU time.</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password check. It compares what you typed letter by letter, and the first wrong letter ends the check, so nothing after it is looked at. The prefix cache walks its block hashes the same way, from block 0, and stops at the first miss, because every later hash depends on the missing one. The why matters for this course's support desk: the 1,500-token policy at the front of every request is prefilled once, and later requests reuse its blocks, so only the question is computed again. The analogy stops where the cache starts to remove things. A password check keeps no copies, but the cache evicts its least recently used block when it is full, and a dropped block at the front breaks reuse for the whole chain.</a:t>
            </a:r>
          </a:p>
          <a:p/>
          <a:p>
            <a:r>
              <a:t>From lessons: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is exact: a KV block is reused only when its hash matches, and the hash covers the whole prefix before it. The parts: the block hash covers its 16 tokens and the previous hash; the lookup starts at block 0 and stops at the first miss; eviction removes the least recently used block. The example is Brightside. The 1,500-token policy is the same in every request, so with a 1,000-block cache 43,152 of 46,585 prompt tokens are reused, which is 92.6%. Put the question after the policy, not before it. Lesson 14 shows the three cases where reuse stops.</a:t>
            </a:r>
          </a:p>
          <a:p/>
          <a:p>
            <a:r>
              <a:t>From lessons: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the heart of the cache. Walk the hashes from block 0; each hit counts; the first miss ends the walk, because every later hash depends on the missing one. The break line is the lesson's own line, with its comment, from the class in lesson 14; the indentation here is shallow so the line fits the slide. The output is the lesson's trace run. A 1,000-block cache reuses 92.6%. A 60-block cache reuses nothing, because the policy takes 93 blocks, and least recently used eviction removes block 0 before the next request needs it. Ask: how would you size the cache, and what happens if the question comes first?</a:t>
            </a:r>
          </a:p>
          <a:p/>
          <a:p>
            <a:r>
              <a:t>From lessons: 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levers you will meet after batching, in plain terms. Engine: vLLM is the default, with an OpenAI-style API; SGLang fits prefixes that repeat; TensorRT-LLM fits one fixed NVIDIA model; llama.cpp fits one user or a few. TGI is in maintenance mode, so a new pick today is a migration later (lesson 15). Flags: --gpu-memory-utilization sets the share of GPU memory (default 0.92), and the KV cache gets what the weights leave; --max-model-len caps the length of one request; --max-num-seqs caps how many requests run at once (lesson 16). Switches: prefix caching (lesson 14) and chunked prefill (lesson 12) are on by default. Speculation: a cheap draft proposes tokens and the target checks them in one pass, keeping its own distribution. Acceptance is the share of drafted tokens the target keeps. The cost model in lesson 17 is chosen for illustration, not measured; it gives about 2.8x at acceptance 0.8, and speculation speeds up decoding, not the first token. LoRA adapters of about 14 MB each: ten rank-16 adapters add about 0.14 GB to one 16 GB base (lesson 17).</a:t>
            </a:r>
          </a:p>
          <a:p/>
          <a:p>
            <a:r>
              <a:t>From lessons: 15, 16, 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of Part 2 in five steps, from the smallest working code to the checkpoint. Step 1 counts blocks per request (lesson 10). Step 2 runs one pool with a free list and a block table (lesson 11). Step 3 schedules each step under a token budget (lesson 12). Step 4 reuses the shared policy prefix (lesson 14). Step 5 tunes one vLLM server to a TTFT p50 target of 2.0 seconds (lesson 18). The lesson measured two configurations on the same questions: A, with prefix caching off, has p50 21.17 s; B, the lesson 16 flags with prefix caching on, has p50 1.13 s and meets the target. These are the recorded run of the pinned vLLM CPU image, labelled as such in the notebook. Lessons 13, 15, 16 and 17 sit between these steps as tools and checks.</a:t>
            </a:r>
          </a:p>
          <a:p/>
          <a:p>
            <a:r>
              <a:t>From lessons: 10, 11, 12, 14, 18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questions you can answer in a design review or an interview. The pool question maps to lesson 13: the engine pauses a request, recomputes it, and the count of pauses is the warning sign. The flag question maps to lesson 16: max-model-len caps the length of one request, and max-num-seqs caps how many run at once. The prefix question maps to lesson 14: a changed first token removes every hit. The target question maps to lesson 18, and the log question sends you to the startup log and /metrics before any change. The closing question has an answer from lesson 18: the prefix-caching switch, the one thing that differs between configurations A and B. On the same questions, p50 TTFT was 21.17 s with it off and 1.13 s with it on, in the recorded run of the pinned image. Ask for a written answer with one number each.</a:t>
            </a:r>
          </a:p>
          <a:p/>
          <a:p>
            <a:r>
              <a:t>From lessons: 10, 11, 12, 13, 14, 15, 16, 17, 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Memory, batching and engines for LLM serving</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1D4ED8"/>
                </a:solidFill>
                <a:latin typeface="Calibri"/>
              </a:rPr>
              <a:t>KV Forge · Part 2 of 6 · for learners of this course</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and platform engineers</a:t>
            </a:r>
          </a:p>
        </p:txBody>
      </p:sp>
      <p:cxnSp>
        <p:nvCxnSpPr>
          <p:cNvPr id="9" name="Connector 8"/>
          <p:cNvCxnSpPr/>
          <p:nvPr/>
        </p:nvCxnSpPr>
        <p:spPr>
          <a:xfrm flipH="1" flipV="1">
            <a:off x="8686800" y="1188719"/>
            <a:ext cx="1371600" cy="91440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A5B8EF"/>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Hotels sell rooms by the night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hotel room booked by the night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Handed out when needed. No-paging = every guest is booked the maximum stay</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Paged KV cache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Memory for each token's keys and values, in blocks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guest's stay is known in advance; an answer's length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Blocks admit 21 requests; reserving admits 9</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Reserve the maximum</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Request 1: 4,096 slots</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Request 2: 4,096 slots</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Most slots stay empty</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1D4ED8"/>
                </a:solidFill>
                <a:latin typeface="Calibri"/>
              </a:rPr>
              <a:t>Paged blocks</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Take a block when full</a:t>
            </a:r>
          </a:p>
        </p:txBody>
      </p:sp>
      <p:cxnSp>
        <p:nvCxnSpPr>
          <p:cNvPr id="16" name="Connector 15"/>
          <p:cNvCxnSpPr/>
          <p:nvPr/>
        </p:nvCxnSpPr>
        <p:spPr>
          <a:xfrm>
            <a:off x="8040624"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Write tokens into it</a:t>
            </a:r>
          </a:p>
        </p:txBody>
      </p:sp>
      <p:cxnSp>
        <p:nvCxnSpPr>
          <p:cNvPr id="18" name="Connector 17"/>
          <p:cNvCxnSpPr/>
          <p:nvPr/>
        </p:nvCxnSpPr>
        <p:spPr>
          <a:xfrm>
            <a:off x="9771888" y="3520440"/>
            <a:ext cx="164591"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Finish: blocks return</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1D4ED8"/>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9 requests fit</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21 requests fit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Paged attention hands out KV memory in blocks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PagedAttention splits the KV cache into fixed-size blocks, and each request keeps a block table that maps its token positions to block ids.</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Block</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16 in the lesson and vLLM's default; lesson 16's CPU image uses 128</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Block table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request's block ids, in token order</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Free list</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block ids no request is using</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1D4ED8"/>
                </a:solidFill>
                <a:latin typeface="Calibri"/>
              </a:rPr>
              <a:t>Attention kernel</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reads blocks not next to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small: round up to whole blocks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161787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9941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343558"/>
          </a:xfrm>
          <a:prstGeom prst="rect">
            <a:avLst/>
          </a:prstGeom>
          <a:noFill/>
        </p:spPr>
        <p:txBody>
          <a:bodyPr wrap="none" lIns="0" rIns="0" tIns="0" bIns="0">
            <a:noAutofit/>
          </a:bodyPr>
          <a:lstStyle/>
          <a:p>
            <a:pPr algn="l">
              <a:lnSpc>
                <a:spcPct val="112000"/>
              </a:lnSpc>
            </a:pPr>
            <a:r>
              <a:rPr sz="1700" b="0" i="0">
                <a:solidFill>
                  <a:srgbClr val="1F2933"/>
                </a:solidFill>
                <a:latin typeface="Consolas"/>
              </a:rPr>
              <a:t>BLOCK = </a:t>
            </a:r>
            <a:r>
              <a:rPr sz="1700" b="0" i="0">
                <a:solidFill>
                  <a:srgbClr val="C2410C"/>
                </a:solidFill>
                <a:latin typeface="Consolas"/>
              </a:rPr>
              <a:t>16</a:t>
            </a:r>
          </a:p>
          <a:p>
            <a:pPr algn="l">
              <a:lnSpc>
                <a:spcPct val="112000"/>
              </a:lnSpc>
            </a:pPr>
            <a:r>
              <a:rPr sz="1700" b="1" i="0">
                <a:solidFill>
                  <a:srgbClr val="1D4ED8"/>
                </a:solidFill>
                <a:latin typeface="Consolas"/>
              </a:rPr>
              <a:t>def</a:t>
            </a:r>
            <a:r>
              <a:rPr sz="1700" b="0" i="0">
                <a:solidFill>
                  <a:srgbClr val="1F2933"/>
                </a:solidFill>
                <a:latin typeface="Consolas"/>
              </a:rPr>
              <a:t> </a:t>
            </a:r>
            <a:r>
              <a:rPr sz="1700" b="1" i="0">
                <a:solidFill>
                  <a:srgbClr val="1F2933"/>
                </a:solidFill>
                <a:latin typeface="Consolas"/>
              </a:rPr>
              <a:t>blocks_for</a:t>
            </a:r>
            <a:r>
              <a:rPr sz="1700" b="0" i="0">
                <a:solidFill>
                  <a:srgbClr val="1F2933"/>
                </a:solidFill>
                <a:latin typeface="Consolas"/>
              </a:rPr>
              <a:t>(tokens, block=BLOCK):</a:t>
            </a:r>
          </a:p>
          <a:p>
            <a:pPr algn="l">
              <a:lnSpc>
                <a:spcPct val="112000"/>
              </a:lnSpc>
            </a:pPr>
            <a:r>
              <a:rPr sz="1700" b="0" i="0">
                <a:solidFill>
                  <a:srgbClr val="1F2933"/>
                </a:solidFill>
                <a:latin typeface="Consolas"/>
              </a:rPr>
              <a:t>    </a:t>
            </a:r>
            <a:r>
              <a:rPr sz="1700" b="1" i="0">
                <a:solidFill>
                  <a:srgbClr val="1D4ED8"/>
                </a:solidFill>
                <a:latin typeface="Consolas"/>
              </a:rPr>
              <a:t>return</a:t>
            </a:r>
            <a:r>
              <a:rPr sz="1700" b="0" i="0">
                <a:solidFill>
                  <a:srgbClr val="1F2933"/>
                </a:solidFill>
                <a:latin typeface="Consolas"/>
              </a:rPr>
              <a:t> -(-tokens // block)   </a:t>
            </a:r>
            <a:r>
              <a:rPr sz="1700" b="0" i="1">
                <a:solidFill>
                  <a:srgbClr val="6B7280"/>
                </a:solidFill>
                <a:latin typeface="Consolas"/>
              </a:rPr>
              <a:t># ceiling division</a:t>
            </a:r>
          </a:p>
          <a:p>
            <a:pPr algn="l">
              <a:lnSpc>
                <a:spcPct val="112000"/>
              </a:lnSpc>
            </a:pPr>
            <a:r>
              <a:rPr sz="1700" b="0" i="0">
                <a:solidFill>
                  <a:srgbClr val="1F2933"/>
                </a:solidFill>
                <a:latin typeface="Consolas"/>
              </a:rPr>
              <a:t>...</a:t>
            </a:r>
          </a:p>
        </p:txBody>
      </p:sp>
      <p:sp>
        <p:nvSpPr>
          <p:cNvPr id="8" name="Rounded Rectangle 7"/>
          <p:cNvSpPr/>
          <p:nvPr/>
        </p:nvSpPr>
        <p:spPr>
          <a:xfrm>
            <a:off x="640080" y="328208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35523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373526"/>
            <a:ext cx="5943600" cy="384048"/>
          </a:xfrm>
          <a:prstGeom prst="rect">
            <a:avLst/>
          </a:prstGeom>
          <a:noFill/>
        </p:spPr>
        <p:txBody>
          <a:bodyPr wrap="square" lIns="0" rIns="0" tIns="0" bIns="0" anchor="t">
            <a:spAutoFit/>
          </a:bodyPr>
          <a:lstStyle/>
          <a:p>
            <a:pPr algn="l"/>
            <a:r>
              <a:rPr sz="1600" b="0" i="0">
                <a:solidFill>
                  <a:srgbClr val="E5E7EB"/>
                </a:solidFill>
                <a:latin typeface="Consolas"/>
              </a:rPr>
              <a:t>1,801 tokens: floor 112 blocks (wrong), ceiling 113 blocks (right)</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A partial block costs a whole block</a:t>
            </a:r>
          </a:p>
          <a:p>
            <a:pPr>
              <a:spcAft>
                <a:spcPts val="1000"/>
              </a:spcAft>
            </a:pPr>
            <a:r>
              <a:rPr sz="1300">
                <a:solidFill>
                  <a:srgbClr val="1D4ED8"/>
                </a:solidFill>
                <a:latin typeface="Calibri"/>
              </a:rPr>
              <a:t>●  </a:t>
            </a:r>
            <a:r>
              <a:rPr sz="1900">
                <a:solidFill>
                  <a:srgbClr val="1F2933"/>
                </a:solidFill>
                <a:latin typeface="Calibri"/>
              </a:rPr>
              <a:t>Rounding down drops the last block</a:t>
            </a:r>
          </a:p>
          <a:p>
            <a:pPr>
              <a:spcAft>
                <a:spcPts val="1000"/>
              </a:spcAft>
            </a:pPr>
            <a:r>
              <a:rPr sz="1300">
                <a:solidFill>
                  <a:srgbClr val="1D4ED8"/>
                </a:solidFill>
                <a:latin typeface="Calibri"/>
              </a:rPr>
              <a:t>●  </a:t>
            </a:r>
            <a:r>
              <a:rPr sz="1900">
                <a:solidFill>
                  <a:srgbClr val="1F2933"/>
                </a:solidFill>
                <a:latin typeface="Calibri"/>
              </a:rPr>
              <a:t>blocks_for(1801) gives 113, the lesson's check</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bus takes new passengers at every stop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bus that stops at every stop</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seat freed at a stop goes to the next passenger</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Continuous batching</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request joins or leaves at every engine step</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bus has no token limit; each engine step has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Continuous batching admits requests on every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Continuous batching admits a request on any step and frees its slot when it finishes, under a token budget per step.</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Token budget</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most tokens one step may process</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Decoders</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each running request gets one token first</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Chunked prefill</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splits a long prompt over several steps</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100 decoders take 100 of a 2,048-token budget; prompts take the rest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step fills a token budget, decoders first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2368905"/>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196998"/>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152851"/>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094585"/>
          </a:xfrm>
          <a:prstGeom prst="rect">
            <a:avLst/>
          </a:prstGeom>
          <a:noFill/>
        </p:spPr>
        <p:txBody>
          <a:bodyPr wrap="none" lIns="0" rIns="0" tIns="0" bIns="0">
            <a:noAutofit/>
          </a:bodyPr>
          <a:lstStyle/>
          <a:p>
            <a:pPr algn="l">
              <a:lnSpc>
                <a:spcPct val="112000"/>
              </a:lnSpc>
            </a:pPr>
            <a:r>
              <a:rPr sz="1400" b="0" i="0">
                <a:solidFill>
                  <a:srgbClr val="1F2933"/>
                </a:solidFill>
                <a:latin typeface="Consolas"/>
              </a:rPr>
              <a:t>left, work = budget, {}</a:t>
            </a:r>
          </a:p>
          <a:p>
            <a:pPr algn="l">
              <a:lnSpc>
                <a:spcPct val="112000"/>
              </a:lnSpc>
            </a:pPr>
            <a:r>
              <a:rPr sz="1400" b="1" i="0">
                <a:solidFill>
                  <a:srgbClr val="1D4ED8"/>
                </a:solidFill>
                <a:latin typeface="Consolas"/>
              </a:rPr>
              <a:t>for</a:t>
            </a:r>
            <a:r>
              <a:rPr sz="1400" b="0" i="0">
                <a:solidFill>
                  <a:srgbClr val="1F2933"/>
                </a:solidFill>
                <a:latin typeface="Consolas"/>
              </a:rPr>
              <a:t> r </a:t>
            </a:r>
            <a:r>
              <a:rPr sz="1400" b="1" i="0">
                <a:solidFill>
                  <a:srgbClr val="1D4ED8"/>
                </a:solidFill>
                <a:latin typeface="Consolas"/>
              </a:rPr>
              <a:t>in</a:t>
            </a:r>
            <a:r>
              <a:rPr sz="1400" b="0" i="0">
                <a:solidFill>
                  <a:srgbClr val="1F2933"/>
                </a:solidFill>
                <a:latin typeface="Consolas"/>
              </a:rPr>
              <a:t> running:  </a:t>
            </a:r>
            <a:r>
              <a:rPr sz="1400" b="0" i="1">
                <a:solidFill>
                  <a:srgbClr val="6B7280"/>
                </a:solidFill>
                <a:latin typeface="Consolas"/>
              </a:rPr>
              <a:t># decoders</a:t>
            </a:r>
          </a:p>
          <a:p>
            <a:pPr algn="l">
              <a:lnSpc>
                <a:spcPct val="112000"/>
              </a:lnSpc>
            </a:pPr>
            <a:r>
              <a:rPr sz="1400" b="0" i="0">
                <a:solidFill>
                  <a:srgbClr val="1F2933"/>
                </a:solidFill>
                <a:latin typeface="Consolas"/>
              </a:rPr>
              <a:t>  </a:t>
            </a:r>
            <a:r>
              <a:rPr sz="1400" b="1" i="0">
                <a:solidFill>
                  <a:srgbClr val="1D4ED8"/>
                </a:solidFill>
                <a:latin typeface="Consolas"/>
              </a:rPr>
              <a:t>if</a:t>
            </a:r>
            <a:r>
              <a:rPr sz="1400" b="0" i="0">
                <a:solidFill>
                  <a:srgbClr val="1F2933"/>
                </a:solidFill>
                <a:latin typeface="Consolas"/>
              </a:rPr>
              <a:t> r[</a:t>
            </a:r>
            <a:r>
              <a:rPr sz="1400" b="0" i="0">
                <a:solidFill>
                  <a:srgbClr val="B45309"/>
                </a:solidFill>
                <a:latin typeface="Consolas"/>
              </a:rPr>
              <a:t>"done"</a:t>
            </a:r>
            <a:r>
              <a:rPr sz="1400" b="0" i="0">
                <a:solidFill>
                  <a:srgbClr val="1F2933"/>
                </a:solidFill>
                <a:latin typeface="Consolas"/>
              </a:rPr>
              <a:t>] &gt;= r[</a:t>
            </a:r>
            <a:r>
              <a:rPr sz="1400" b="0" i="0">
                <a:solidFill>
                  <a:srgbClr val="B45309"/>
                </a:solidFill>
                <a:latin typeface="Consolas"/>
              </a:rPr>
              <a:t>"prompt"</a:t>
            </a:r>
            <a:r>
              <a:rPr sz="1400" b="0" i="0">
                <a:solidFill>
                  <a:srgbClr val="1F2933"/>
                </a:solidFill>
                <a:latin typeface="Consolas"/>
              </a:rPr>
              <a:t>]: work[r[</a:t>
            </a:r>
            <a:r>
              <a:rPr sz="1400" b="0" i="0">
                <a:solidFill>
                  <a:srgbClr val="B45309"/>
                </a:solidFill>
                <a:latin typeface="Consolas"/>
              </a:rPr>
              <a:t>"id"</a:t>
            </a:r>
            <a:r>
              <a:rPr sz="1400" b="0" i="0">
                <a:solidFill>
                  <a:srgbClr val="1F2933"/>
                </a:solidFill>
                <a:latin typeface="Consolas"/>
              </a:rPr>
              <a:t>]] = </a:t>
            </a:r>
            <a:r>
              <a:rPr sz="1400" b="0" i="0">
                <a:solidFill>
                  <a:srgbClr val="C2410C"/>
                </a:solidFill>
                <a:latin typeface="Consolas"/>
              </a:rPr>
              <a:t>1</a:t>
            </a:r>
            <a:r>
              <a:rPr sz="1400" b="0" i="0">
                <a:solidFill>
                  <a:srgbClr val="1F2933"/>
                </a:solidFill>
                <a:latin typeface="Consolas"/>
              </a:rPr>
              <a:t>; left -= </a:t>
            </a:r>
            <a:r>
              <a:rPr sz="1400" b="0" i="0">
                <a:solidFill>
                  <a:srgbClr val="C2410C"/>
                </a:solidFill>
                <a:latin typeface="Consolas"/>
              </a:rPr>
              <a:t>1</a:t>
            </a:r>
          </a:p>
          <a:p>
            <a:pPr algn="l">
              <a:lnSpc>
                <a:spcPct val="112000"/>
              </a:lnSpc>
            </a:pPr>
            <a:r>
              <a:rPr sz="1400" b="1" i="0">
                <a:solidFill>
                  <a:srgbClr val="1D4ED8"/>
                </a:solidFill>
                <a:latin typeface="Consolas"/>
              </a:rPr>
              <a:t>for</a:t>
            </a:r>
            <a:r>
              <a:rPr sz="1400" b="0" i="0">
                <a:solidFill>
                  <a:srgbClr val="1F2933"/>
                </a:solidFill>
                <a:latin typeface="Consolas"/>
              </a:rPr>
              <a:t> r </a:t>
            </a:r>
            <a:r>
              <a:rPr sz="1400" b="1" i="0">
                <a:solidFill>
                  <a:srgbClr val="1D4ED8"/>
                </a:solidFill>
                <a:latin typeface="Consolas"/>
              </a:rPr>
              <a:t>in</a:t>
            </a:r>
            <a:r>
              <a:rPr sz="1400" b="0" i="0">
                <a:solidFill>
                  <a:srgbClr val="1F2933"/>
                </a:solidFill>
                <a:latin typeface="Consolas"/>
              </a:rPr>
              <a:t> running:  </a:t>
            </a:r>
            <a:r>
              <a:rPr sz="1400" b="0" i="1">
                <a:solidFill>
                  <a:srgbClr val="6B7280"/>
                </a:solidFill>
                <a:latin typeface="Consolas"/>
              </a:rPr>
              <a:t># prefill</a:t>
            </a:r>
          </a:p>
          <a:p>
            <a:pPr algn="l">
              <a:lnSpc>
                <a:spcPct val="112000"/>
              </a:lnSpc>
            </a:pPr>
            <a:r>
              <a:rPr sz="1400" b="0" i="0">
                <a:solidFill>
                  <a:srgbClr val="1F2933"/>
                </a:solidFill>
                <a:latin typeface="Consolas"/>
              </a:rPr>
              <a:t>  need = r[</a:t>
            </a:r>
            <a:r>
              <a:rPr sz="1400" b="0" i="0">
                <a:solidFill>
                  <a:srgbClr val="B45309"/>
                </a:solidFill>
                <a:latin typeface="Consolas"/>
              </a:rPr>
              <a:t>"prompt"</a:t>
            </a:r>
            <a:r>
              <a:rPr sz="1400" b="0" i="0">
                <a:solidFill>
                  <a:srgbClr val="1F2933"/>
                </a:solidFill>
                <a:latin typeface="Consolas"/>
              </a:rPr>
              <a:t>] - r[</a:t>
            </a:r>
            <a:r>
              <a:rPr sz="1400" b="0" i="0">
                <a:solidFill>
                  <a:srgbClr val="B45309"/>
                </a:solidFill>
                <a:latin typeface="Consolas"/>
              </a:rPr>
              <a:t>"done"</a:t>
            </a:r>
            <a:r>
              <a:rPr sz="1400" b="0" i="0">
                <a:solidFill>
                  <a:srgbClr val="1F2933"/>
                </a:solidFill>
                <a:latin typeface="Consolas"/>
              </a:rPr>
              <a:t>]</a:t>
            </a:r>
          </a:p>
          <a:p>
            <a:pPr algn="l">
              <a:lnSpc>
                <a:spcPct val="112000"/>
              </a:lnSpc>
            </a:pPr>
            <a:r>
              <a:rPr sz="1400" b="0" i="0">
                <a:solidFill>
                  <a:srgbClr val="1F2933"/>
                </a:solidFill>
                <a:latin typeface="Consolas"/>
              </a:rPr>
              <a:t>  </a:t>
            </a:r>
            <a:r>
              <a:rPr sz="1400" b="0" i="1">
                <a:solidFill>
                  <a:srgbClr val="6B7280"/>
                </a:solidFill>
                <a:latin typeface="Consolas"/>
              </a:rPr>
              <a:t># "chunked" is the default: enable_chunked_prefill is True</a:t>
            </a:r>
          </a:p>
          <a:p>
            <a:pPr algn="l">
              <a:lnSpc>
                <a:spcPct val="112000"/>
              </a:lnSpc>
            </a:pPr>
            <a:r>
              <a:rPr sz="1400" b="0" i="0">
                <a:solidFill>
                  <a:srgbClr val="1F2933"/>
                </a:solidFill>
                <a:latin typeface="Consolas"/>
              </a:rPr>
              <a:t>  take = </a:t>
            </a:r>
            <a:r>
              <a:rPr sz="1400" b="0" i="0">
                <a:solidFill>
                  <a:srgbClr val="0E7490"/>
                </a:solidFill>
                <a:latin typeface="Consolas"/>
              </a:rPr>
              <a:t>min</a:t>
            </a:r>
            <a:r>
              <a:rPr sz="1400" b="0" i="0">
                <a:solidFill>
                  <a:srgbClr val="1F2933"/>
                </a:solidFill>
                <a:latin typeface="Consolas"/>
              </a:rPr>
              <a:t>(need, left) </a:t>
            </a:r>
            <a:r>
              <a:rPr sz="1400" b="1" i="0">
                <a:solidFill>
                  <a:srgbClr val="1D4ED8"/>
                </a:solidFill>
                <a:latin typeface="Consolas"/>
              </a:rPr>
              <a:t>if</a:t>
            </a:r>
            <a:r>
              <a:rPr sz="1400" b="0" i="0">
                <a:solidFill>
                  <a:srgbClr val="1F2933"/>
                </a:solidFill>
                <a:latin typeface="Consolas"/>
              </a:rPr>
              <a:t> mode == </a:t>
            </a:r>
            <a:r>
              <a:rPr sz="1400" b="0" i="0">
                <a:solidFill>
                  <a:srgbClr val="B45309"/>
                </a:solidFill>
                <a:latin typeface="Consolas"/>
              </a:rPr>
              <a:t>"chunked"</a:t>
            </a:r>
            <a:r>
              <a:rPr sz="1400" b="0" i="0">
                <a:solidFill>
                  <a:srgbClr val="1F2933"/>
                </a:solidFill>
                <a:latin typeface="Consolas"/>
              </a:rPr>
              <a:t> </a:t>
            </a:r>
            <a:r>
              <a:rPr sz="1400" b="1" i="0">
                <a:solidFill>
                  <a:srgbClr val="1D4ED8"/>
                </a:solidFill>
                <a:latin typeface="Consolas"/>
              </a:rPr>
              <a:t>else</a:t>
            </a:r>
            <a:r>
              <a:rPr sz="1400" b="0" i="0">
                <a:solidFill>
                  <a:srgbClr val="1F2933"/>
                </a:solidFill>
                <a:latin typeface="Consolas"/>
              </a:rPr>
              <a:t> need</a:t>
            </a:r>
          </a:p>
          <a:p>
            <a:pPr algn="l">
              <a:lnSpc>
                <a:spcPct val="112000"/>
              </a:lnSpc>
            </a:pPr>
            <a:r>
              <a:rPr sz="1400" b="0" i="0">
                <a:solidFill>
                  <a:srgbClr val="1F2933"/>
                </a:solidFill>
                <a:latin typeface="Consolas"/>
              </a:rPr>
              <a:t>  </a:t>
            </a:r>
            <a:r>
              <a:rPr sz="1400" b="1" i="0">
                <a:solidFill>
                  <a:srgbClr val="1D4ED8"/>
                </a:solidFill>
                <a:latin typeface="Consolas"/>
              </a:rPr>
              <a:t>if</a:t>
            </a:r>
            <a:r>
              <a:rPr sz="1400" b="0" i="0">
                <a:solidFill>
                  <a:srgbClr val="1F2933"/>
                </a:solidFill>
                <a:latin typeface="Consolas"/>
              </a:rPr>
              <a:t> </a:t>
            </a:r>
            <a:r>
              <a:rPr sz="1400" b="0" i="0">
                <a:solidFill>
                  <a:srgbClr val="C2410C"/>
                </a:solidFill>
                <a:latin typeface="Consolas"/>
              </a:rPr>
              <a:t>0</a:t>
            </a:r>
            <a:r>
              <a:rPr sz="1400" b="0" i="0">
                <a:solidFill>
                  <a:srgbClr val="1F2933"/>
                </a:solidFill>
                <a:latin typeface="Consolas"/>
              </a:rPr>
              <a:t> &lt; take &lt;= left: work[r[</a:t>
            </a:r>
            <a:r>
              <a:rPr sz="1400" b="0" i="0">
                <a:solidFill>
                  <a:srgbClr val="B45309"/>
                </a:solidFill>
                <a:latin typeface="Consolas"/>
              </a:rPr>
              <a:t>"id"</a:t>
            </a:r>
            <a:r>
              <a:rPr sz="1400" b="0" i="0">
                <a:solidFill>
                  <a:srgbClr val="1F2933"/>
                </a:solidFill>
                <a:latin typeface="Consolas"/>
              </a:rPr>
              <a:t>]] = take; left -= take</a:t>
            </a:r>
          </a:p>
        </p:txBody>
      </p:sp>
      <p:sp>
        <p:nvSpPr>
          <p:cNvPr id="9" name="Rounded Rectangle 8"/>
          <p:cNvSpPr/>
          <p:nvPr/>
        </p:nvSpPr>
        <p:spPr>
          <a:xfrm>
            <a:off x="640080" y="4033113"/>
            <a:ext cx="7315200" cy="1810512"/>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06265"/>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124553"/>
            <a:ext cx="5943600" cy="1536192"/>
          </a:xfrm>
          <a:prstGeom prst="rect">
            <a:avLst/>
          </a:prstGeom>
          <a:noFill/>
        </p:spPr>
        <p:txBody>
          <a:bodyPr wrap="square" lIns="0" rIns="0" tIns="0" bIns="0" anchor="t">
            <a:spAutoFit/>
          </a:bodyPr>
          <a:lstStyle/>
          <a:p>
            <a:pPr algn="l"/>
            <a:r>
              <a:rPr sz="1600" b="0" i="0">
                <a:solidFill>
                  <a:srgbClr val="E5E7EB"/>
                </a:solidFill>
                <a:latin typeface="Consolas"/>
              </a:rPr>
              <a:t>mode TTFT p50 TTFT p95 ITL p95 tokens/s</a:t>
            </a:r>
          </a:p>
          <a:p>
            <a:pPr algn="l"/>
            <a:r>
              <a:rPr sz="1600" b="0" i="0">
                <a:solidFill>
                  <a:srgbClr val="E5E7EB"/>
                </a:solidFill>
                <a:latin typeface="Consolas"/>
              </a:rPr>
              <a:t>static 1870 2521 71 441</a:t>
            </a:r>
          </a:p>
          <a:p>
            <a:pPr algn="l"/>
            <a:r>
              <a:rPr sz="1600" b="0" i="0">
                <a:solidFill>
                  <a:srgbClr val="E5E7EB"/>
                </a:solidFill>
                <a:latin typeface="Consolas"/>
              </a:rPr>
              <a:t>continuous 832 1489 71 563</a:t>
            </a:r>
          </a:p>
          <a:p>
            <a:pPr algn="l"/>
            <a:r>
              <a:rPr sz="1600" b="0" i="0">
                <a:solidFill>
                  <a:srgbClr val="E5E7EB"/>
                </a:solidFill>
                <a:latin typeface="Consolas"/>
              </a:rPr>
              <a:t>chunked 849 1489 90 568</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Budget: the most tokens one step may process</a:t>
            </a:r>
          </a:p>
          <a:p>
            <a:pPr>
              <a:spcAft>
                <a:spcPts val="1000"/>
              </a:spcAft>
            </a:pPr>
            <a:r>
              <a:rPr sz="1300">
                <a:solidFill>
                  <a:srgbClr val="1D4ED8"/>
                </a:solidFill>
                <a:latin typeface="Calibri"/>
              </a:rPr>
              <a:t>●  </a:t>
            </a:r>
            <a:r>
              <a:rPr sz="1900">
                <a:solidFill>
                  <a:srgbClr val="1F2933"/>
                </a:solidFill>
                <a:latin typeface="Calibri"/>
              </a:rPr>
              <a:t>Chunked prefill takes only what is left</a:t>
            </a:r>
          </a:p>
          <a:p>
            <a:pPr>
              <a:spcAft>
                <a:spcPts val="1000"/>
              </a:spcAft>
            </a:pPr>
            <a:r>
              <a:rPr sz="1300">
                <a:solidFill>
                  <a:srgbClr val="1D4ED8"/>
                </a:solidFill>
                <a:latin typeface="Calibri"/>
              </a:rPr>
              <a:t>●  </a:t>
            </a:r>
            <a:r>
              <a:rPr sz="1900">
                <a:solidFill>
                  <a:srgbClr val="1F2933"/>
                </a:solidFill>
                <a:latin typeface="Calibri"/>
              </a:rPr>
              <a:t>TTFT = time to first token, ITL = gap between tokens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Preemption pauses the lowest-priority request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Admit waiting requests that fit</a:t>
            </a:r>
          </a:p>
        </p:txBody>
      </p:sp>
      <p:cxnSp>
        <p:nvCxnSpPr>
          <p:cNvPr id="7" name="Connector 6"/>
          <p:cNvCxnSpPr/>
          <p:nvPr/>
        </p:nvCxnSpPr>
        <p:spPr>
          <a:xfrm>
            <a:off x="1980590"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Running request needs a block?</a:t>
            </a:r>
          </a:p>
        </p:txBody>
      </p:sp>
      <p:cxnSp>
        <p:nvCxnSpPr>
          <p:cNvPr id="9" name="Connector 8"/>
          <p:cNvCxnSpPr/>
          <p:nvPr/>
        </p:nvCxnSpPr>
        <p:spPr>
          <a:xfrm>
            <a:off x="3348532"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Pool full: pause lowest priority</a:t>
            </a:r>
          </a:p>
        </p:txBody>
      </p:sp>
      <p:cxnSp>
        <p:nvCxnSpPr>
          <p:cNvPr id="11" name="Connector 10"/>
          <p:cNvCxnSpPr/>
          <p:nvPr/>
        </p:nvCxnSpPr>
        <p:spPr>
          <a:xfrm>
            <a:off x="4716475"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Paused request frees its blocks</a:t>
            </a:r>
          </a:p>
        </p:txBody>
      </p:sp>
      <p:cxnSp>
        <p:nvCxnSpPr>
          <p:cNvPr id="13" name="Connector 12"/>
          <p:cNvCxnSpPr/>
          <p:nvPr/>
        </p:nvCxnSpPr>
        <p:spPr>
          <a:xfrm>
            <a:off x="6084417" y="3703320"/>
            <a:ext cx="164592" cy="0"/>
          </a:xfrm>
          <a:prstGeom prst="line">
            <a:avLst/>
          </a:prstGeom>
          <a:ln w="25400">
            <a:solidFill>
              <a:srgbClr val="1D4E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1D4ED8"/>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Re-admit; recompute = redo prefill</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1D4ED8"/>
                </a:solidFill>
                <a:latin typeface="Calibri"/>
              </a:rPr>
              <a:t>●  </a:t>
            </a:r>
            <a:r>
              <a:rPr sz="1700">
                <a:solidFill>
                  <a:srgbClr val="1F2933"/>
                </a:solidFill>
                <a:latin typeface="Calibri"/>
              </a:rPr>
              <a:t>fcfs (first come, first served) pauses the newest request</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Recomputed tokens: fcfs 122,309 vs priority 23,229 (lesson 13 simulator)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password check stops at the first wrong letter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Password check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letter is checked; the first wrong one stops it</a:t>
            </a:r>
          </a:p>
        </p:txBody>
      </p:sp>
      <p:sp>
        <p:nvSpPr>
          <p:cNvPr id="9" name="Rounded Rectangle 8"/>
          <p:cNvSpPr/>
          <p:nvPr/>
        </p:nvSpPr>
        <p:spPr>
          <a:xfrm>
            <a:off x="6428232" y="1828800"/>
            <a:ext cx="5120640" cy="30175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1D4ED8"/>
                </a:solidFill>
                <a:latin typeface="Calibri"/>
              </a:rPr>
              <a:t>Prefix cache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Blocks match from block 0; the shared 1,500-token policy is prefilled once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1D4ED8"/>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password check keeps no copies; a cache evicts old blocks when full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Prefix caching reuses blocks only from the front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08760"/>
            <a:ext cx="10908792" cy="1417320"/>
          </a:xfrm>
          <a:prstGeom prst="roundRect">
            <a:avLst>
              <a:gd name="adj" fmla="val 12000"/>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Prefix caching reuses a KV block only when its hash matches, and each hash covers every token before it.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Block hash</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covers its 16 tokens and the previous hash</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Lookup</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walks from block 0 and stops at the first miss</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1D4ED8"/>
                </a:solidFill>
                <a:latin typeface="Calibri"/>
              </a:rPr>
              <a:t>Eviction</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least recently used block leaves first</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a 1,000-block cache reuses 92.6% of Brightside's prompt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lookup stops at the first missing block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199339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87168"/>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743200"/>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719072"/>
          </a:xfrm>
          <a:prstGeom prst="rect">
            <a:avLst/>
          </a:prstGeom>
          <a:noFill/>
        </p:spPr>
        <p:txBody>
          <a:bodyPr wrap="none" lIns="0" rIns="0" tIns="0" bIns="0">
            <a:noAutofit/>
          </a:bodyPr>
          <a:lstStyle/>
          <a:p>
            <a:pPr algn="l">
              <a:lnSpc>
                <a:spcPct val="112000"/>
              </a:lnSpc>
            </a:pPr>
            <a:r>
              <a:rPr sz="1500" b="0" i="1">
                <a:solidFill>
                  <a:srgbClr val="6B7280"/>
                </a:solidFill>
                <a:latin typeface="Consolas"/>
              </a:rPr>
              <a:t># self.blocks: the cache's block hashes, oldest first</a:t>
            </a:r>
          </a:p>
          <a:p>
            <a:pPr algn="l">
              <a:lnSpc>
                <a:spcPct val="112000"/>
              </a:lnSpc>
            </a:pPr>
            <a:r>
              <a:rPr sz="1500" b="0" i="0">
                <a:solidFill>
                  <a:srgbClr val="1F2933"/>
                </a:solidFill>
                <a:latin typeface="Consolas"/>
              </a:rPr>
              <a:t>hit = </a:t>
            </a:r>
            <a:r>
              <a:rPr sz="1500" b="0" i="0">
                <a:solidFill>
                  <a:srgbClr val="C2410C"/>
                </a:solidFill>
                <a:latin typeface="Consolas"/>
              </a:rPr>
              <a:t>0</a:t>
            </a:r>
          </a:p>
          <a:p>
            <a:pPr algn="l">
              <a:lnSpc>
                <a:spcPct val="112000"/>
              </a:lnSpc>
            </a:pPr>
            <a:r>
              <a:rPr sz="1500" b="1" i="0">
                <a:solidFill>
                  <a:srgbClr val="1D4ED8"/>
                </a:solidFill>
                <a:latin typeface="Consolas"/>
              </a:rPr>
              <a:t>for</a:t>
            </a:r>
            <a:r>
              <a:rPr sz="1500" b="0" i="0">
                <a:solidFill>
                  <a:srgbClr val="1F2933"/>
                </a:solidFill>
                <a:latin typeface="Consolas"/>
              </a:rPr>
              <a:t> h </a:t>
            </a:r>
            <a:r>
              <a:rPr sz="1500" b="1" i="0">
                <a:solidFill>
                  <a:srgbClr val="1D4ED8"/>
                </a:solidFill>
                <a:latin typeface="Consolas"/>
              </a:rPr>
              <a:t>in</a:t>
            </a:r>
            <a:r>
              <a:rPr sz="1500" b="0" i="0">
                <a:solidFill>
                  <a:srgbClr val="1F2933"/>
                </a:solidFill>
                <a:latin typeface="Consolas"/>
              </a:rPr>
              <a:t> hashes:</a:t>
            </a:r>
          </a:p>
          <a:p>
            <a:pPr algn="l">
              <a:lnSpc>
                <a:spcPct val="112000"/>
              </a:lnSpc>
            </a:pPr>
            <a:r>
              <a:rPr sz="1500" b="0" i="0">
                <a:solidFill>
                  <a:srgbClr val="1F2933"/>
                </a:solidFill>
                <a:latin typeface="Consolas"/>
              </a:rPr>
              <a:t> </a:t>
            </a:r>
            <a:r>
              <a:rPr sz="1500" b="1" i="0">
                <a:solidFill>
                  <a:srgbClr val="1D4ED8"/>
                </a:solidFill>
                <a:latin typeface="Consolas"/>
              </a:rPr>
              <a:t>if</a:t>
            </a:r>
            <a:r>
              <a:rPr sz="1500" b="0" i="0">
                <a:solidFill>
                  <a:srgbClr val="1F2933"/>
                </a:solidFill>
                <a:latin typeface="Consolas"/>
              </a:rPr>
              <a:t> h </a:t>
            </a:r>
            <a:r>
              <a:rPr sz="1500" b="1" i="0">
                <a:solidFill>
                  <a:srgbClr val="1D4ED8"/>
                </a:solidFill>
                <a:latin typeface="Consolas"/>
              </a:rPr>
              <a:t>not</a:t>
            </a:r>
            <a:r>
              <a:rPr sz="1500" b="0" i="0">
                <a:solidFill>
                  <a:srgbClr val="1F2933"/>
                </a:solidFill>
                <a:latin typeface="Consolas"/>
              </a:rPr>
              <a:t> </a:t>
            </a:r>
            <a:r>
              <a:rPr sz="1500" b="1" i="0">
                <a:solidFill>
                  <a:srgbClr val="1D4ED8"/>
                </a:solidFill>
                <a:latin typeface="Consolas"/>
              </a:rPr>
              <a:t>in</a:t>
            </a:r>
            <a:r>
              <a:rPr sz="1500" b="0" i="0">
                <a:solidFill>
                  <a:srgbClr val="1F2933"/>
                </a:solidFill>
                <a:latin typeface="Consolas"/>
              </a:rPr>
              <a:t> </a:t>
            </a:r>
            <a:r>
              <a:rPr sz="1500" b="0" i="0">
                <a:solidFill>
                  <a:srgbClr val="0E7490"/>
                </a:solidFill>
                <a:latin typeface="Consolas"/>
              </a:rPr>
              <a:t>self</a:t>
            </a:r>
            <a:r>
              <a:rPr sz="1500" b="0" i="0">
                <a:solidFill>
                  <a:srgbClr val="1F2933"/>
                </a:solidFill>
                <a:latin typeface="Consolas"/>
              </a:rPr>
              <a:t>.blocks:</a:t>
            </a:r>
          </a:p>
          <a:p>
            <a:pPr algn="l">
              <a:lnSpc>
                <a:spcPct val="112000"/>
              </a:lnSpc>
            </a:pPr>
            <a:r>
              <a:rPr sz="1500" b="0" i="0">
                <a:solidFill>
                  <a:srgbClr val="1F2933"/>
                </a:solidFill>
                <a:latin typeface="Consolas"/>
              </a:rPr>
              <a:t>  </a:t>
            </a:r>
            <a:r>
              <a:rPr sz="1500" b="1" i="0">
                <a:solidFill>
                  <a:srgbClr val="1D4ED8"/>
                </a:solidFill>
                <a:latin typeface="Consolas"/>
              </a:rPr>
              <a:t>break</a:t>
            </a:r>
            <a:r>
              <a:rPr sz="1500" b="0" i="0">
                <a:solidFill>
                  <a:srgbClr val="1F2933"/>
                </a:solidFill>
                <a:latin typeface="Consolas"/>
              </a:rPr>
              <a:t> </a:t>
            </a:r>
            <a:r>
              <a:rPr sz="1500" b="0" i="1">
                <a:solidFill>
                  <a:srgbClr val="6B7280"/>
                </a:solidFill>
                <a:latin typeface="Consolas"/>
              </a:rPr>
              <a:t># the chain is broken: nothing after this can match</a:t>
            </a:r>
          </a:p>
          <a:p>
            <a:pPr algn="l">
              <a:lnSpc>
                <a:spcPct val="112000"/>
              </a:lnSpc>
            </a:pPr>
            <a:r>
              <a:rPr sz="1500" b="0" i="0">
                <a:solidFill>
                  <a:srgbClr val="1F2933"/>
                </a:solidFill>
                <a:latin typeface="Consolas"/>
              </a:rPr>
              <a:t> hit += </a:t>
            </a:r>
            <a:r>
              <a:rPr sz="1500" b="0" i="0">
                <a:solidFill>
                  <a:srgbClr val="C2410C"/>
                </a:solidFill>
                <a:latin typeface="Consolas"/>
              </a:rPr>
              <a:t>1</a:t>
            </a:r>
          </a:p>
        </p:txBody>
      </p:sp>
      <p:sp>
        <p:nvSpPr>
          <p:cNvPr id="9" name="Rounded Rectangle 8"/>
          <p:cNvSpPr/>
          <p:nvPr/>
        </p:nvSpPr>
        <p:spPr>
          <a:xfrm>
            <a:off x="640080" y="3657600"/>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3075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749039"/>
            <a:ext cx="5943600" cy="768096"/>
          </a:xfrm>
          <a:prstGeom prst="rect">
            <a:avLst/>
          </a:prstGeom>
          <a:noFill/>
        </p:spPr>
        <p:txBody>
          <a:bodyPr wrap="square" lIns="0" rIns="0" tIns="0" bIns="0" anchor="t">
            <a:spAutoFit/>
          </a:bodyPr>
          <a:lstStyle/>
          <a:p>
            <a:pPr algn="l"/>
            <a:r>
              <a:rPr sz="1600" b="0" i="0">
                <a:solidFill>
                  <a:srgbClr val="E5E7EB"/>
                </a:solidFill>
                <a:latin typeface="Consolas"/>
              </a:rPr>
              <a:t>cache of 1,000 blocks: 43,152 of 46,585 prompt tokens reused (92.6%)</a:t>
            </a:r>
          </a:p>
          <a:p>
            <a:pPr algn="l"/>
            <a:r>
              <a:rPr sz="1600" b="0" i="0">
                <a:solidFill>
                  <a:srgbClr val="E5E7EB"/>
                </a:solidFill>
                <a:latin typeface="Consolas"/>
              </a:rPr>
              <a:t>cache of 60 blocks: 0 of 46,585 prompt tokens reused (0.0%)</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1D4ED8"/>
                </a:solidFill>
                <a:latin typeface="Calibri"/>
              </a:rPr>
              <a:t>●  </a:t>
            </a:r>
            <a:r>
              <a:rPr sz="1900">
                <a:solidFill>
                  <a:srgbClr val="1F2933"/>
                </a:solidFill>
                <a:latin typeface="Calibri"/>
              </a:rPr>
              <a:t>A miss ends the walk: later hashes differ</a:t>
            </a:r>
          </a:p>
          <a:p>
            <a:pPr>
              <a:spcAft>
                <a:spcPts val="1000"/>
              </a:spcAft>
            </a:pPr>
            <a:r>
              <a:rPr sz="1300">
                <a:solidFill>
                  <a:srgbClr val="1D4ED8"/>
                </a:solidFill>
                <a:latin typeface="Calibri"/>
              </a:rPr>
              <a:t>●  </a:t>
            </a:r>
            <a:r>
              <a:rPr sz="1900">
                <a:solidFill>
                  <a:srgbClr val="1F2933"/>
                </a:solidFill>
                <a:latin typeface="Calibri"/>
              </a:rPr>
              <a:t>Eviction is least recently used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Engine, flags, then measure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nut 6"/>
          <p:cNvSpPr/>
          <p:nvPr/>
        </p:nvSpPr>
        <p:spPr>
          <a:xfrm>
            <a:off x="1200150" y="2388870"/>
            <a:ext cx="388620" cy="388620"/>
          </a:xfrm>
          <a:prstGeom prst="don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Engine</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vLLM first; SGLang for shared prefixes</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ear 6 11"/>
          <p:cNvSpPr/>
          <p:nvPr/>
        </p:nvSpPr>
        <p:spPr>
          <a:xfrm>
            <a:off x="4007358" y="2388870"/>
            <a:ext cx="388620" cy="388620"/>
          </a:xfrm>
          <a:prstGeom prst="gear6">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Flags</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--max-model-len: longest request; --max-num-seqs: requests at once</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us 16"/>
          <p:cNvSpPr/>
          <p:nvPr/>
        </p:nvSpPr>
        <p:spPr>
          <a:xfrm>
            <a:off x="6814566" y="2388870"/>
            <a:ext cx="388620" cy="388620"/>
          </a:xfrm>
          <a:prstGeom prst="mathPlus">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Switches, LoRA</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Prefix caching, chunked prefill; LoRA: ten 14 MB adapters share one 16 GB base</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ightning Bolt 21"/>
          <p:cNvSpPr/>
          <p:nvPr/>
        </p:nvSpPr>
        <p:spPr>
          <a:xfrm>
            <a:off x="9621774" y="2388870"/>
            <a:ext cx="388620" cy="388620"/>
          </a:xfrm>
          <a:prstGeom prst="lightningBol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Speculation</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Cheap draft proposes, big model checks: 2.8x faster (cost model, lesson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Part 2 builds one path, in five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1</a:t>
            </a:r>
          </a:p>
        </p:txBody>
      </p:sp>
      <p:cxnSp>
        <p:nvCxnSpPr>
          <p:cNvPr id="8" name="Connector 7"/>
          <p:cNvCxnSpPr/>
          <p:nvPr/>
        </p:nvCxnSpPr>
        <p:spPr>
          <a:xfrm>
            <a:off x="1828800"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Count blocks</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Round up per request</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2</a:t>
            </a:r>
          </a:p>
        </p:txBody>
      </p:sp>
      <p:cxnSp>
        <p:nvCxnSpPr>
          <p:cNvPr id="14" name="Connector 13"/>
          <p:cNvCxnSpPr/>
          <p:nvPr/>
        </p:nvCxnSpPr>
        <p:spPr>
          <a:xfrm>
            <a:off x="4092854"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Run one pool</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Free list, block table, 21 fit</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3</a:t>
            </a:r>
          </a:p>
        </p:txBody>
      </p:sp>
      <p:cxnSp>
        <p:nvCxnSpPr>
          <p:cNvPr id="20" name="Connector 19"/>
          <p:cNvCxnSpPr/>
          <p:nvPr/>
        </p:nvCxnSpPr>
        <p:spPr>
          <a:xfrm>
            <a:off x="6356908" y="2240280"/>
            <a:ext cx="1258215"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Budget each step</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Decoders first, then prefill</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4</a:t>
            </a:r>
          </a:p>
        </p:txBody>
      </p:sp>
      <p:cxnSp>
        <p:nvCxnSpPr>
          <p:cNvPr id="26" name="Connector 25"/>
          <p:cNvCxnSpPr/>
          <p:nvPr/>
        </p:nvCxnSpPr>
        <p:spPr>
          <a:xfrm>
            <a:off x="8620963" y="2240280"/>
            <a:ext cx="1258214" cy="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Reuse the prefix</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Hash chain, first miss stops</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1D4ED8"/>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Tune to a target</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p50 TTFT 21.17 s off, 1.13 s 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answer before you tune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4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1D4ED8"/>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happens when the KV pool runs out?</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1D4ED8"/>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--max-model-len vs --max-num-seqs: which caps what?</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1D4ED8"/>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the shared prompt come first?</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1D4ED8"/>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TTFT p50 target, and which startup-log numbers first?</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1D4ED8"/>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switch moved p50 TTFT from 21 s to 1.1 s, and why?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batching and engines for LLM serving</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