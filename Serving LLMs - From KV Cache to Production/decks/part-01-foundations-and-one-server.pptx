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waiter with an order pad. Each table's notes stay on the pad until the bill is paid, and the pad grows with every item ordered. An LLM answer works the same way. The notes are the KV cache: one key and one value for every token, in every layer, for every KV head. Lesson 01 shows why it matters: for the Brightside answer, the model does about 340,000 token passes without notes, and 1,800 with them. Token passes count work through the network, a different unit from the attention comparisons on slide 4, so do not add the two. The analogy stops working in one place. A pad is paper the waiter carries, but the cache is a fixed slice of the GPU's memory that all running requests share. That is why its size is decided before the first customer arrives.</a:t>
            </a:r>
          </a:p>
          <a:p/>
          <a:p>
            <a:r>
              <a:t>From lessons: 01, 03</a:t>
            </a:r>
          </a:p>
          <a:p/>
          <a:p>
            <a:r>
              <a:t>Sources: https://www.databricks.com/blog/llm-inference-performance-engineering-best-practices ; https://blog.cloudflare.com/high-performance-llms/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definition slowly. The KV cache holds the keys and values of every earlier token, so the model does not recompute them for each new token. Name the parts. There is one key and one value per token, per layer and per KV head. Fewer KV heads means a smaller cache: Llama 3.1 8B has 32 query heads sharing 8 KV heads (grouped-query attention, GQA), so it stores 128 KiB per token where one KV head per query head would need 512 KiB (lesson 03). FP16 stores each number in 2 bytes; FP8 stores it in 1. Prefill fills the cache from the whole prompt in one parallel pass, then decode adds one token per step. The cache stays in GPU memory until the request ends, and the Brightside request ends with 1,800 cached tokens.</a:t>
            </a:r>
          </a:p>
          <a:p/>
          <a:p>
            <a:r>
              <a:t>From lessons: 01, 02, 03</a:t>
            </a:r>
          </a:p>
          <a:p/>
          <a:p>
            <a:r>
              <a:t>Sources: https://docs.vllm.ai/en/latest/configuration/engine_args.html ; https://www.databricks.com/blog/llm-inference-performance-engineering-best-practices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smallest working piece of the idea, and it counts attention comparisons rather than timing anything. Each decode step compares one new token with the cached tokens, so decode_pairs adds one comparison per cached token for each of the 200 answer steps. With the cache, the answer costs 340,100 pairs. Without it, lesson 02 reruns the whole sequence at every step: 289,673,400 pairs, about 852 times more. Prefill is extra: the 1,600-token prompt adds 1,280,800 pairs in its one parallel pass. Keep this unit apart from lesson 01's token passes, which count work through the network. Ask the room: which number changes if the answer is 2,000 tokens, and by how much?</a:t>
            </a:r>
          </a:p>
          <a:p/>
          <a:p>
            <a:r>
              <a:t>From lessons: 02</a:t>
            </a:r>
          </a:p>
          <a:p/>
          <a:p>
            <a:r>
              <a:t>Sources: https://docs.vllm.ai/en/latest/configuration/engine_args.html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flow left to right. Prefill is the cold start: the whole 1,600-token prompt goes through in one parallel pass, and that pass sets the wait before the first token. Decode is the pace: one token per step, and the cache is held for the whole answer. Kitchen prep works the same way: one big prep sets how long the first plate takes, then plating sets the pace. Lesson 06 explains why the pace is slow with the roofline model: a step takes at least the larger of its maths time and its memory-read time. A decode step at batch 1 reads all 16 GB of weights to make one token, so it is memory-bound. On an NVIDIA L4 (a 24 GB GPU), lesson 06's ideal floor is about 54 milliseconds per token for an 1,800-token context. That is a spec-sheet bound, not a measurement.</a:t>
            </a:r>
          </a:p>
          <a:p/>
          <a:p>
            <a:r>
              <a:t>From lessons: 02, 03, 06</a:t>
            </a:r>
          </a:p>
          <a:p/>
          <a:p>
            <a:r>
              <a:t>Sources: https://www.databricks.com/blog/llm-inference-performance-engineering-best-practices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car park has a fixed building and a bay kept for deliveries. The spaces that are left are for cars. The GPU works the same way. Its memory holds the model's weights, which are fixed, and a scratch area for each forward step, the activations. What is left is the KV budget, and it is split into token slots: one slot holds the keys and values of one cached token. Where the analogy breaks: a car leaves in one piece, but a request keeps taking slots for every token it generates, so the count has to be in tokens, not cars. Lesson 05 turns this into arithmetic on the next slides. The 24 GB of an NVIDIA L4 comes from NVIDIA's datasheet, and the 0.92 memory cap is vLLM's default.</a:t>
            </a:r>
          </a:p>
          <a:p/>
          <a:p>
            <a:r>
              <a:t>From lessons: 05</a:t>
            </a:r>
          </a:p>
          <a:p/>
          <a:p>
            <a:r>
              <a:t>Sources: https://docs.vllm.ai/en/latest/configuration/engine_args.html ; https://www.nvidia.com/en-us/data-center/l4/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definition and then walk the budget. Start with the L4's 24 GB, which is 22.35 GiB, and take 92 percent of it: 20.56 GiB. Subtract the 14.96 GiB of 8B FP16 weights and an assumed 1 GiB of activations. That leaves a KV budget of 4.61 GiB. Each Brightside request needs 225 MiB, from 1,800 tokens at 128 KiB each. So about 20 requests fit, and the engine also stops at max_num_seqs, its cap per step, which is 128 by default and does not bind here. The activation figure is the one number not in any config. The next slide does the three lines of arithmetic. Lesson 05 tests 0.5, 1 and 2 GiB and gets 23, 20 and 16. vLLM measures its real activation peak at startup, and its log shows the KV size it chose.</a:t>
            </a:r>
          </a:p>
          <a:p/>
          <a:p>
            <a:r>
              <a:t>From lessons: 05</a:t>
            </a:r>
          </a:p>
          <a:p/>
          <a:p>
            <a:r>
              <a:t>Sources: https://docs.vllm.ai/en/latest/configuration/engine_args.html ; https://www.nvidia.com/en-us/data-center/l4/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lines, checked by hand. First, 24 GB is 22.35 GiB, and the engine may use 92 percent: 22.35 × 0.92 = 20.56 GiB. Take off the 14.96 GiB of 8B weights (8.03 billion parameters at 2 bytes each) and the assumed 1 GiB of activations, and 4.6 GiB is left for the cache. Second, one Brightside request needs 1,800 tokens × 128 KiB = 225 MiB. Third, 4.61 GiB × 1,024 ÷ 225 is about 20.96, so 20 whole requests fit. The 1 GiB is an assumption, not a config value: lesson 05 gets 23 at 0.5 GiB and 16 at 2 GiB. Measure the activations at startup before you set a limit.</a:t>
            </a:r>
          </a:p>
          <a:p/>
          <a:p>
            <a:r>
              <a:t>From lessons: 05</a:t>
            </a:r>
          </a:p>
          <a:p/>
          <a:p>
            <a:r>
              <a:t>Sources: https://docs.vllm.ai/en/latest/configuration/engine_args.html ; https://www.nvidia.com/en-us/data-center/l4/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mistake most teams make first. Divide the GPU's bytes by one request's cache and you get 101 requests. That ignores the weights, the activations and the 0.92 cap, so it overstates capacity about five times. LLAMA_8B_KV is 128 × 1024 bytes, which is 128 KiB per token from lesson 03 for FP16, and TOKENS is the 1,800-token Brightside request. The last line carries the lesson 05 result: 20 with the budget, after the weights and activations are taken off. The notebook prints both counts, 101 against 20. Ask the room: which of the GPU's bytes are not free for cache, and who measured that number?</a:t>
            </a:r>
          </a:p>
          <a:p/>
          <a:p>
            <a:r>
              <a:t>From lessons: 05</a:t>
            </a:r>
          </a:p>
          <a:p/>
          <a:p>
            <a:r>
              <a:t>Sources: https://docs.vllm.ai/en/latest/configuration/engine_args.html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for one L4 is about 20 concurrent requests, and it is an estimate built from memory arithmetic. The activation range moves it from 23 to 16, so measure the activations before you set a limit. An FP8 cache stores 1 byte per number, 64 KiB per token, and gives 41. Lesson 09 is the capacity checkpoint. It adds a measured p95 time to first token, where p95 is the slow tail: 95 percent of requests are faster than it. That measurement comes from a vLLM server on a 4-core CPU running a 0.5-billion-parameter model. It tests the method, not the GPU. On that run the 2-second target held up to 2 concurrent requests. Say so in the report: a measured number and an estimated number are different claims.</a:t>
            </a:r>
          </a:p>
          <a:p/>
          <a:p>
            <a:r>
              <a:t>From lessons: 05, 09</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Everyone has waited in a restaurant. There is a wait for the first course, and then a pace for the rest. A streamed LLM answer is the same. The wait for the first token is called TTFT, and it covers the queue and the prompt's prefill. The pace afterwards is TPOT, the average gap between tokens. Where it breaks: a meal arrives in courses, but a streamed answer arrives token by token, so TPOT is an average of many small gaps. Lesson 07 measures both from the arrival time of each streamed token, and it treats the tail, not only the average, as the number users feel.</a:t>
            </a:r>
          </a:p>
          <a:p/>
          <a:p>
            <a:r>
              <a:t>From lessons: 07</a:t>
            </a:r>
          </a:p>
          <a:p/>
          <a:p>
            <a:r>
              <a:t>Sources: https://arxiv.org/abs/2401.09670 ; https://docs.vllm.ai/en/latest/cli/bench/serve/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definition, then the four parts. TTFT includes waiting for a free slot in the engine, and then the prefill of the prompt. TPOT is the mean gap after the first token, and it reflects decode speed. Goodput is a rate, not a time: the requests per second that meet all the targets at once. p95 is the 95th percentile, so 95 percent of requests are faster than it, and it shows the slow tail that users remember. The Brightside target in lesson 07 is TTFT under 0.5 s and TPOT under 15 ms. In the stand-in load run, a simulated engine on the laptop rather than a GPU, goodput was 0.67 requests per second at 1.5 offered, and 37 percent of requests met both targets. At 3.0 offered, goodput was 0.08 per second, and 3 percent met both. A server can look fast on average and still fail goodput, so report the tail and goodput together.</a:t>
            </a:r>
          </a:p>
          <a:p/>
          <a:p>
            <a:r>
              <a:t>From lessons: 07</a:t>
            </a:r>
          </a:p>
          <a:p/>
          <a:p>
            <a:r>
              <a:t>Sources: https://arxiv.org/abs/2401.09670 ; https://docs.vllm.ai/en/latest/cli/bench/serve/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clock is the measurement. The client starts a timer when the request is sent, and each streamed token records its arrival time. TTFT is the first arrival. TPOT is the mean gap after it, and the guard returns nothing for a one-token answer, because there is no gap to divide by. The first run in lesson 07 gives 24 tokens, TTFT 290 milliseconds and TPOT 10.4 milliseconds. Lesson 07's two stand-in profiles make the case: both finish in one second, but one answers at 0.20 seconds and the other at 0.90 seconds. Only the arrival times tell them apart. Lesson 08 then runs the same kind of client against a vLLM server on a CPU image, and on a laptop the notebook uses recorded output, so the lesson still reads correctly.</a:t>
            </a:r>
          </a:p>
          <a:p/>
          <a:p>
            <a:r>
              <a:t>From lessons: 07, 08</a:t>
            </a:r>
          </a:p>
          <a:p/>
          <a:p>
            <a:r>
              <a:t>Sources: https://docs.vllm.ai/en/latest/cli/bench/serve/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build path for the whole part, from the smallest working piece to the checkpoint. Lesson 02 gave the cache's saving in attention pairs. Lesson 03 turned the config into bytes per token. Lesson 05 turned bytes into a budget and a concurrency limit. Lesson 07 measured the time with a simulated engine that runs on the laptop, and lesson 08 repeats the same client against vLLM on a CPU image, which takes minutes to start on 4 cores; the notebook says so. Lesson 09 puts the estimate and the measurement in one report, with the target next to them. Keep the verdict honest: the CPU run tests the target and the method, not the GPU.</a:t>
            </a:r>
          </a:p>
          <a:p/>
          <a:p>
            <a:r>
              <a:t>From lessons: 02, 03, 05, 07, 08, 09</a:t>
            </a:r>
          </a:p>
          <a:p/>
          <a:p>
            <a:r>
              <a:t>Sources: https://docs.vllm.ai/en/latest/configuration/engine_args.html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with the questions a reviewer will ask. The first two come from lesson 03 and lesson 05: the per-token bytes come from the config, and the budget needs the activation number. The next two come from lesson 07: measure the first token and the gaps separately, and report the tail, with the targets and the concurrency they were tested at. The last comes from lesson 08: a dropped stream should free its request on the server, which you can check by watching the running count fall. Ask each person to write their own answer to one of these before the next part.</a:t>
            </a:r>
          </a:p>
          <a:p/>
          <a:p>
            <a:r>
              <a:t>From lessons: 03, 05, 07, 09</a:t>
            </a:r>
          </a:p>
          <a:p/>
          <a:p>
            <a:r>
              <a:t>Sources: https://docs.vllm.ai/en/latest/configuration/engine_args.html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3" name="TextBox 2"/>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a:t>
            </a:r>
          </a:p>
        </p:txBody>
      </p:sp>
      <p:sp>
        <p:nvSpPr>
          <p:cNvPr id="4" name="Oval 3"/>
          <p:cNvSpPr/>
          <p:nvPr/>
        </p:nvSpPr>
        <p:spPr>
          <a:xfrm>
            <a:off x="822960" y="146304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ube 4"/>
          <p:cNvSpPr/>
          <p:nvPr/>
        </p:nvSpPr>
        <p:spPr>
          <a:xfrm>
            <a:off x="1028700" y="1668780"/>
            <a:ext cx="411480" cy="411480"/>
          </a:xfrm>
          <a:prstGeom prst="cub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560320"/>
            <a:ext cx="7863840" cy="1463040"/>
          </a:xfrm>
          <a:prstGeom prst="rect">
            <a:avLst/>
          </a:prstGeom>
          <a:noFill/>
        </p:spPr>
        <p:txBody>
          <a:bodyPr wrap="square" lIns="0" rIns="0" tIns="0" bIns="0" anchor="b">
            <a:spAutoFit/>
          </a:bodyPr>
          <a:lstStyle/>
          <a:p>
            <a:pPr algn="l"/>
            <a:r>
              <a:rPr sz="4000" b="1" i="0">
                <a:solidFill>
                  <a:srgbClr val="1F2933"/>
                </a:solidFill>
                <a:latin typeface="Calibri"/>
              </a:rPr>
              <a:t>Part 1: one model server, and what one request costs</a:t>
            </a:r>
          </a:p>
        </p:txBody>
      </p:sp>
      <p:sp>
        <p:nvSpPr>
          <p:cNvPr id="7" name="TextBox 6"/>
          <p:cNvSpPr txBox="1"/>
          <p:nvPr/>
        </p:nvSpPr>
        <p:spPr>
          <a:xfrm>
            <a:off x="822960" y="4160520"/>
            <a:ext cx="10515600" cy="548640"/>
          </a:xfrm>
          <a:prstGeom prst="rect">
            <a:avLst/>
          </a:prstGeom>
          <a:noFill/>
        </p:spPr>
        <p:txBody>
          <a:bodyPr wrap="square" lIns="0" rIns="0" tIns="0" bIns="0" anchor="t">
            <a:spAutoFit/>
          </a:bodyPr>
          <a:lstStyle/>
          <a:p>
            <a:pPr algn="l"/>
            <a:r>
              <a:rPr sz="2000" b="0" i="0">
                <a:solidFill>
                  <a:srgbClr val="0F766E"/>
                </a:solidFill>
                <a:latin typeface="Calibri"/>
              </a:rPr>
              <a:t>KV Forge · Foundations and one server · lessons 01 to 09</a:t>
            </a:r>
          </a:p>
        </p:txBody>
      </p:sp>
      <p:sp>
        <p:nvSpPr>
          <p:cNvPr id="8" name="TextBox 7"/>
          <p:cNvSpPr txBox="1"/>
          <p:nvPr/>
        </p:nvSpPr>
        <p:spPr>
          <a:xfrm>
            <a:off x="822960" y="4800600"/>
            <a:ext cx="6858000" cy="457200"/>
          </a:xfrm>
          <a:prstGeom prst="rect">
            <a:avLst/>
          </a:prstGeom>
          <a:noFill/>
        </p:spPr>
        <p:txBody>
          <a:bodyPr wrap="square" lIns="0" rIns="0" tIns="0" bIns="0" anchor="t">
            <a:spAutoFit/>
          </a:bodyPr>
          <a:lstStyle/>
          <a:p>
            <a:pPr algn="l"/>
            <a:r>
              <a:rPr sz="1400" b="0" i="0">
                <a:solidFill>
                  <a:srgbClr val="6B7280"/>
                </a:solidFill>
                <a:latin typeface="Calibri"/>
              </a:rPr>
              <a:t>For learners of this course: developers and platform engineers</a:t>
            </a:r>
          </a:p>
        </p:txBody>
      </p:sp>
      <p:cxnSp>
        <p:nvCxnSpPr>
          <p:cNvPr id="9" name="Connector 8"/>
          <p:cNvCxnSpPr/>
          <p:nvPr/>
        </p:nvCxnSpPr>
        <p:spPr>
          <a:xfrm flipH="1" flipV="1">
            <a:off x="8686800" y="1188719"/>
            <a:ext cx="1371600" cy="914401"/>
          </a:xfrm>
          <a:prstGeom prst="line">
            <a:avLst/>
          </a:prstGeom>
          <a:ln w="25400">
            <a:solidFill>
              <a:srgbClr val="9FC8C5"/>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8430768" y="932687"/>
            <a:ext cx="512064" cy="512064"/>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V="1">
            <a:off x="10058400" y="1097279"/>
            <a:ext cx="1280160" cy="1005841"/>
          </a:xfrm>
          <a:prstGeom prst="line">
            <a:avLst/>
          </a:prstGeom>
          <a:ln w="25400">
            <a:solidFill>
              <a:srgbClr val="9FC8C5"/>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1082528" y="841247"/>
            <a:ext cx="512064" cy="512064"/>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H="1">
            <a:off x="8595360" y="2103120"/>
            <a:ext cx="1463040" cy="914400"/>
          </a:xfrm>
          <a:prstGeom prst="line">
            <a:avLst/>
          </a:prstGeom>
          <a:ln w="25400">
            <a:solidFill>
              <a:srgbClr val="9FC8C5"/>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339328" y="2761487"/>
            <a:ext cx="512064" cy="512064"/>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0058400" y="2103120"/>
            <a:ext cx="1371600" cy="1005840"/>
          </a:xfrm>
          <a:prstGeom prst="line">
            <a:avLst/>
          </a:prstGeom>
          <a:ln w="25400">
            <a:solidFill>
              <a:srgbClr val="9FC8C5"/>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1173968" y="2852928"/>
            <a:ext cx="512064" cy="512064"/>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V="1">
            <a:off x="10058400" y="548639"/>
            <a:ext cx="0" cy="1554481"/>
          </a:xfrm>
          <a:prstGeom prst="line">
            <a:avLst/>
          </a:prstGeom>
          <a:ln w="25400">
            <a:solidFill>
              <a:srgbClr val="9FC8C5"/>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9802368" y="292607"/>
            <a:ext cx="512064" cy="512064"/>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555480" y="1600199"/>
            <a:ext cx="1005840" cy="100584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Order pad: notes stay until the bill is paid</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2</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waiter's order pad</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Notes grow with each item until the bill is paid</a:t>
            </a:r>
          </a:p>
        </p:txBody>
      </p:sp>
      <p:sp>
        <p:nvSpPr>
          <p:cNvPr id="9" name="Rounded Rectangle 8"/>
          <p:cNvSpPr/>
          <p:nvPr/>
        </p:nvSpPr>
        <p:spPr>
          <a:xfrm>
            <a:off x="6428232" y="1828800"/>
            <a:ext cx="5120640" cy="3017520"/>
          </a:xfrm>
          <a:prstGeom prst="roundRect">
            <a:avLst>
              <a:gd name="adj" fmla="val 12000"/>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0F766E"/>
                </a:solidFill>
                <a:latin typeface="Calibri"/>
              </a:rPr>
              <a:t>The KV cache</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Each token's notes grow until the request ends</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0F766E"/>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The pad is paper; the cache is fixed GPU memory shared by requests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The KV cache keeps each token's keys and values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3</a:t>
            </a:r>
          </a:p>
        </p:txBody>
      </p:sp>
      <p:sp>
        <p:nvSpPr>
          <p:cNvPr id="5" name="Rounded Rectangle 4"/>
          <p:cNvSpPr/>
          <p:nvPr/>
        </p:nvSpPr>
        <p:spPr>
          <a:xfrm>
            <a:off x="640080" y="1508760"/>
            <a:ext cx="10908792" cy="1417320"/>
          </a:xfrm>
          <a:prstGeom prst="roundRect">
            <a:avLst>
              <a:gd name="adj" fmla="val 12000"/>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The KV cache stores each token's keys and values, so they are not recomputed.</a:t>
            </a:r>
          </a:p>
        </p:txBody>
      </p:sp>
      <p:sp>
        <p:nvSpPr>
          <p:cNvPr id="7" name="Rounded Rectangle 6"/>
          <p:cNvSpPr/>
          <p:nvPr/>
        </p:nvSpPr>
        <p:spPr>
          <a:xfrm>
            <a:off x="640080"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1972817" cy="777240"/>
          </a:xfrm>
          <a:prstGeom prst="rect">
            <a:avLst/>
          </a:prstGeom>
          <a:noFill/>
        </p:spPr>
        <p:txBody>
          <a:bodyPr wrap="square" lIns="0" rIns="0" tIns="0" bIns="0" anchor="b">
            <a:spAutoFit/>
          </a:bodyPr>
          <a:lstStyle/>
          <a:p>
            <a:pPr algn="l"/>
            <a:r>
              <a:rPr sz="2100" b="1" i="0">
                <a:solidFill>
                  <a:srgbClr val="0F766E"/>
                </a:solidFill>
                <a:latin typeface="Calibri"/>
              </a:rPr>
              <a:t>Keys, values</a:t>
            </a:r>
          </a:p>
        </p:txBody>
      </p:sp>
      <p:sp>
        <p:nvSpPr>
          <p:cNvPr id="9" name="TextBox 8"/>
          <p:cNvSpPr txBox="1"/>
          <p:nvPr/>
        </p:nvSpPr>
        <p:spPr>
          <a:xfrm>
            <a:off x="914400"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One pair per token, layer and KV head</a:t>
            </a:r>
          </a:p>
        </p:txBody>
      </p:sp>
      <p:sp>
        <p:nvSpPr>
          <p:cNvPr id="10" name="Rounded Rectangle 9"/>
          <p:cNvSpPr/>
          <p:nvPr/>
        </p:nvSpPr>
        <p:spPr>
          <a:xfrm>
            <a:off x="3435857"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10177" y="3337560"/>
            <a:ext cx="1972817" cy="777240"/>
          </a:xfrm>
          <a:prstGeom prst="rect">
            <a:avLst/>
          </a:prstGeom>
          <a:noFill/>
        </p:spPr>
        <p:txBody>
          <a:bodyPr wrap="square" lIns="0" rIns="0" tIns="0" bIns="0" anchor="b">
            <a:spAutoFit/>
          </a:bodyPr>
          <a:lstStyle/>
          <a:p>
            <a:pPr algn="l"/>
            <a:r>
              <a:rPr sz="2100" b="1" i="0">
                <a:solidFill>
                  <a:srgbClr val="0F766E"/>
                </a:solidFill>
                <a:latin typeface="Calibri"/>
              </a:rPr>
              <a:t>Prefill, decode</a:t>
            </a:r>
          </a:p>
        </p:txBody>
      </p:sp>
      <p:sp>
        <p:nvSpPr>
          <p:cNvPr id="12" name="TextBox 11"/>
          <p:cNvSpPr txBox="1"/>
          <p:nvPr/>
        </p:nvSpPr>
        <p:spPr>
          <a:xfrm>
            <a:off x="3710177"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Fill it once, then add one token per step</a:t>
            </a:r>
          </a:p>
        </p:txBody>
      </p:sp>
      <p:sp>
        <p:nvSpPr>
          <p:cNvPr id="13" name="Rounded Rectangle 12"/>
          <p:cNvSpPr/>
          <p:nvPr/>
        </p:nvSpPr>
        <p:spPr>
          <a:xfrm>
            <a:off x="6231636"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5955" y="3337560"/>
            <a:ext cx="1972817" cy="777240"/>
          </a:xfrm>
          <a:prstGeom prst="rect">
            <a:avLst/>
          </a:prstGeom>
          <a:noFill/>
        </p:spPr>
        <p:txBody>
          <a:bodyPr wrap="square" lIns="0" rIns="0" tIns="0" bIns="0" anchor="b">
            <a:spAutoFit/>
          </a:bodyPr>
          <a:lstStyle/>
          <a:p>
            <a:pPr algn="l"/>
            <a:r>
              <a:rPr sz="2100" b="1" i="0">
                <a:solidFill>
                  <a:srgbClr val="0F766E"/>
                </a:solidFill>
                <a:latin typeface="Calibri"/>
              </a:rPr>
              <a:t>Lifetime</a:t>
            </a:r>
          </a:p>
        </p:txBody>
      </p:sp>
      <p:sp>
        <p:nvSpPr>
          <p:cNvPr id="15" name="TextBox 14"/>
          <p:cNvSpPr txBox="1"/>
          <p:nvPr/>
        </p:nvSpPr>
        <p:spPr>
          <a:xfrm>
            <a:off x="6505955"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Held in GPU memory until the request ends</a:t>
            </a:r>
          </a:p>
        </p:txBody>
      </p:sp>
      <p:sp>
        <p:nvSpPr>
          <p:cNvPr id="16" name="Rounded Rectangle 15"/>
          <p:cNvSpPr/>
          <p:nvPr/>
        </p:nvSpPr>
        <p:spPr>
          <a:xfrm>
            <a:off x="9027413"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01734" y="3337560"/>
            <a:ext cx="1972817" cy="777240"/>
          </a:xfrm>
          <a:prstGeom prst="rect">
            <a:avLst/>
          </a:prstGeom>
          <a:noFill/>
        </p:spPr>
        <p:txBody>
          <a:bodyPr wrap="square" lIns="0" rIns="0" tIns="0" bIns="0" anchor="b">
            <a:spAutoFit/>
          </a:bodyPr>
          <a:lstStyle/>
          <a:p>
            <a:pPr algn="l"/>
            <a:r>
              <a:rPr sz="2100" b="1" i="0">
                <a:solidFill>
                  <a:srgbClr val="0F766E"/>
                </a:solidFill>
                <a:latin typeface="Calibri"/>
              </a:rPr>
              <a:t>KV heads (GQA)</a:t>
            </a:r>
          </a:p>
        </p:txBody>
      </p:sp>
      <p:sp>
        <p:nvSpPr>
          <p:cNvPr id="18" name="TextBox 17"/>
          <p:cNvSpPr txBox="1"/>
          <p:nvPr/>
        </p:nvSpPr>
        <p:spPr>
          <a:xfrm>
            <a:off x="9301734"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Fewer KV heads means a smaller cache</a:t>
            </a:r>
          </a:p>
        </p:txBody>
      </p:sp>
      <p:sp>
        <p:nvSpPr>
          <p:cNvPr id="19" name="TextBox 18"/>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Brightside: 1,800 tokens at 128 KiB (FP16: 2 bytes a number)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Decode with a cache: 340,100 pairs (prefill is extra)</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4</a:t>
            </a:r>
          </a:p>
        </p:txBody>
      </p:sp>
      <p:sp>
        <p:nvSpPr>
          <p:cNvPr id="5" name="Rounded Rectangle 4"/>
          <p:cNvSpPr/>
          <p:nvPr/>
        </p:nvSpPr>
        <p:spPr>
          <a:xfrm>
            <a:off x="640080" y="1554480"/>
            <a:ext cx="7315200" cy="2249424"/>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743200"/>
            <a:ext cx="7168896" cy="292608"/>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3255264"/>
            <a:ext cx="7168896" cy="292608"/>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6858000" cy="1975103"/>
          </a:xfrm>
          <a:prstGeom prst="rect">
            <a:avLst/>
          </a:prstGeom>
          <a:noFill/>
        </p:spPr>
        <p:txBody>
          <a:bodyPr wrap="none" lIns="0" rIns="0" tIns="0" bIns="0">
            <a:noAutofit/>
          </a:bodyPr>
          <a:lstStyle/>
          <a:p>
            <a:pPr algn="l">
              <a:lnSpc>
                <a:spcPct val="112000"/>
              </a:lnSpc>
            </a:pPr>
            <a:r>
              <a:rPr sz="1500" b="0" i="0">
                <a:solidFill>
                  <a:srgbClr val="1F2933"/>
                </a:solidFill>
                <a:latin typeface="Consolas"/>
              </a:rPr>
              <a:t>PROMPT = </a:t>
            </a:r>
            <a:r>
              <a:rPr sz="1500" b="0" i="0">
                <a:solidFill>
                  <a:srgbClr val="C2410C"/>
                </a:solidFill>
                <a:latin typeface="Consolas"/>
              </a:rPr>
              <a:t>1_600</a:t>
            </a:r>
            <a:r>
              <a:rPr sz="1500" b="0" i="0">
                <a:solidFill>
                  <a:srgbClr val="1F2933"/>
                </a:solidFill>
                <a:latin typeface="Consolas"/>
              </a:rPr>
              <a:t>   </a:t>
            </a:r>
            <a:r>
              <a:rPr sz="1500" b="0" i="1">
                <a:solidFill>
                  <a:srgbClr val="6B7280"/>
                </a:solidFill>
                <a:latin typeface="Consolas"/>
              </a:rPr>
              <a:t># the Brightside prompt from lesson 01</a:t>
            </a:r>
          </a:p>
          <a:p>
            <a:pPr algn="l">
              <a:lnSpc>
                <a:spcPct val="112000"/>
              </a:lnSpc>
            </a:pPr>
            <a:r>
              <a:rPr sz="1500" b="0" i="0">
                <a:solidFill>
                  <a:srgbClr val="1F2933"/>
                </a:solidFill>
                <a:latin typeface="Consolas"/>
              </a:rPr>
              <a:t>ANSWER = </a:t>
            </a:r>
            <a:r>
              <a:rPr sz="1500" b="0" i="0">
                <a:solidFill>
                  <a:srgbClr val="C2410C"/>
                </a:solidFill>
                <a:latin typeface="Consolas"/>
              </a:rPr>
              <a:t>200</a:t>
            </a:r>
          </a:p>
          <a:p>
            <a:pPr algn="l">
              <a:lnSpc>
                <a:spcPct val="112000"/>
              </a:lnSpc>
            </a:pPr>
            <a:r>
              <a:rPr sz="1500" b="0" i="0">
                <a:solidFill>
                  <a:srgbClr val="1F2933"/>
                </a:solidFill>
                <a:latin typeface="Consolas"/>
              </a:rPr>
              <a:t> </a:t>
            </a:r>
          </a:p>
          <a:p>
            <a:pPr algn="l">
              <a:lnSpc>
                <a:spcPct val="112000"/>
              </a:lnSpc>
            </a:pPr>
            <a:r>
              <a:rPr sz="1500" b="1" i="0">
                <a:solidFill>
                  <a:srgbClr val="0F766E"/>
                </a:solidFill>
                <a:latin typeface="Consolas"/>
              </a:rPr>
              <a:t>def</a:t>
            </a:r>
            <a:r>
              <a:rPr sz="1500" b="0" i="0">
                <a:solidFill>
                  <a:srgbClr val="1F2933"/>
                </a:solidFill>
                <a:latin typeface="Consolas"/>
              </a:rPr>
              <a:t> </a:t>
            </a:r>
            <a:r>
              <a:rPr sz="1500" b="1" i="0">
                <a:solidFill>
                  <a:srgbClr val="1F2933"/>
                </a:solidFill>
                <a:latin typeface="Consolas"/>
              </a:rPr>
              <a:t>decode_pairs</a:t>
            </a:r>
            <a:r>
              <a:rPr sz="1500" b="0" i="0">
                <a:solidFill>
                  <a:srgbClr val="1F2933"/>
                </a:solidFill>
                <a:latin typeface="Consolas"/>
              </a:rPr>
              <a:t>(prompt, answer):</a:t>
            </a:r>
          </a:p>
          <a:p>
            <a:pPr algn="l">
              <a:lnSpc>
                <a:spcPct val="112000"/>
              </a:lnSpc>
            </a:pPr>
            <a:r>
              <a:rPr sz="1500" b="0" i="0">
                <a:solidFill>
                  <a:srgbClr val="1F2933"/>
                </a:solidFill>
                <a:latin typeface="Consolas"/>
              </a:rPr>
              <a:t>    </a:t>
            </a:r>
            <a:r>
              <a:rPr sz="1500" b="1" i="0">
                <a:solidFill>
                  <a:srgbClr val="0F766E"/>
                </a:solidFill>
                <a:latin typeface="Consolas"/>
              </a:rPr>
              <a:t>return</a:t>
            </a:r>
            <a:r>
              <a:rPr sz="1500" b="0" i="0">
                <a:solidFill>
                  <a:srgbClr val="1F2933"/>
                </a:solidFill>
                <a:latin typeface="Consolas"/>
              </a:rPr>
              <a:t> </a:t>
            </a:r>
            <a:r>
              <a:rPr sz="1500" b="0" i="0">
                <a:solidFill>
                  <a:srgbClr val="0E7490"/>
                </a:solidFill>
                <a:latin typeface="Consolas"/>
              </a:rPr>
              <a:t>sum</a:t>
            </a:r>
            <a:r>
              <a:rPr sz="1500" b="0" i="0">
                <a:solidFill>
                  <a:srgbClr val="1F2933"/>
                </a:solidFill>
                <a:latin typeface="Consolas"/>
              </a:rPr>
              <a:t>(prompt + i </a:t>
            </a:r>
            <a:r>
              <a:rPr sz="1500" b="1" i="0">
                <a:solidFill>
                  <a:srgbClr val="0F766E"/>
                </a:solidFill>
                <a:latin typeface="Consolas"/>
              </a:rPr>
              <a:t>for</a:t>
            </a:r>
            <a:r>
              <a:rPr sz="1500" b="0" i="0">
                <a:solidFill>
                  <a:srgbClr val="1F2933"/>
                </a:solidFill>
                <a:latin typeface="Consolas"/>
              </a:rPr>
              <a:t> i </a:t>
            </a:r>
            <a:r>
              <a:rPr sz="1500" b="1" i="0">
                <a:solidFill>
                  <a:srgbClr val="0F766E"/>
                </a:solidFill>
                <a:latin typeface="Consolas"/>
              </a:rPr>
              <a:t>in</a:t>
            </a:r>
            <a:r>
              <a:rPr sz="1500" b="0" i="0">
                <a:solidFill>
                  <a:srgbClr val="1F2933"/>
                </a:solidFill>
                <a:latin typeface="Consolas"/>
              </a:rPr>
              <a:t> </a:t>
            </a:r>
            <a:r>
              <a:rPr sz="1500" b="0" i="0">
                <a:solidFill>
                  <a:srgbClr val="0E7490"/>
                </a:solidFill>
                <a:latin typeface="Consolas"/>
              </a:rPr>
              <a:t>range</a:t>
            </a:r>
            <a:r>
              <a:rPr sz="1500" b="0" i="0">
                <a:solidFill>
                  <a:srgbClr val="1F2933"/>
                </a:solidFill>
                <a:latin typeface="Consolas"/>
              </a:rPr>
              <a:t>(</a:t>
            </a:r>
            <a:r>
              <a:rPr sz="1500" b="0" i="0">
                <a:solidFill>
                  <a:srgbClr val="C2410C"/>
                </a:solidFill>
                <a:latin typeface="Consolas"/>
              </a:rPr>
              <a:t>1</a:t>
            </a:r>
            <a:r>
              <a:rPr sz="1500" b="0" i="0">
                <a:solidFill>
                  <a:srgbClr val="1F2933"/>
                </a:solidFill>
                <a:latin typeface="Consolas"/>
              </a:rPr>
              <a:t>, answer + </a:t>
            </a:r>
            <a:r>
              <a:rPr sz="1500" b="0" i="0">
                <a:solidFill>
                  <a:srgbClr val="C2410C"/>
                </a:solidFill>
                <a:latin typeface="Consolas"/>
              </a:rPr>
              <a:t>1</a:t>
            </a:r>
            <a:r>
              <a:rPr sz="1500" b="0" i="0">
                <a:solidFill>
                  <a:srgbClr val="1F2933"/>
                </a:solidFill>
                <a:latin typeface="Consolas"/>
              </a:rPr>
              <a:t>))</a:t>
            </a:r>
          </a:p>
          <a:p>
            <a:pPr algn="l">
              <a:lnSpc>
                <a:spcPct val="112000"/>
              </a:lnSpc>
            </a:pPr>
            <a:r>
              <a:rPr sz="1500" b="0" i="0">
                <a:solidFill>
                  <a:srgbClr val="1F2933"/>
                </a:solidFill>
                <a:latin typeface="Consolas"/>
              </a:rPr>
              <a:t> </a:t>
            </a:r>
          </a:p>
          <a:p>
            <a:pPr algn="l">
              <a:lnSpc>
                <a:spcPct val="112000"/>
              </a:lnSpc>
            </a:pPr>
            <a:r>
              <a:rPr sz="1500" b="0" i="0">
                <a:solidFill>
                  <a:srgbClr val="1F2933"/>
                </a:solidFill>
                <a:latin typeface="Consolas"/>
              </a:rPr>
              <a:t>cached = decode_pairs(PROMPT, ANSWER)</a:t>
            </a:r>
          </a:p>
        </p:txBody>
      </p:sp>
      <p:sp>
        <p:nvSpPr>
          <p:cNvPr id="9" name="TextBox 8"/>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0F766E"/>
                </a:solidFill>
                <a:latin typeface="Calibri"/>
              </a:rPr>
              <a:t>●  </a:t>
            </a:r>
            <a:r>
              <a:rPr sz="1900">
                <a:solidFill>
                  <a:srgbClr val="1F2933"/>
                </a:solidFill>
                <a:latin typeface="Calibri"/>
              </a:rPr>
              <a:t>Each step compares one new token with the cache</a:t>
            </a:r>
          </a:p>
          <a:p>
            <a:pPr>
              <a:spcAft>
                <a:spcPts val="1000"/>
              </a:spcAft>
            </a:pPr>
            <a:r>
              <a:rPr sz="1300">
                <a:solidFill>
                  <a:srgbClr val="0F766E"/>
                </a:solidFill>
                <a:latin typeface="Calibri"/>
              </a:rPr>
              <a:t>●  </a:t>
            </a:r>
            <a:r>
              <a:rPr sz="1900">
                <a:solidFill>
                  <a:srgbClr val="1F2933"/>
                </a:solidFill>
                <a:latin typeface="Calibri"/>
              </a:rPr>
              <a:t>Unit: attention comparisons (query-key pairs)</a:t>
            </a:r>
          </a:p>
          <a:p>
            <a:pPr>
              <a:spcAft>
                <a:spcPts val="1000"/>
              </a:spcAft>
            </a:pPr>
            <a:r>
              <a:rPr sz="1300">
                <a:solidFill>
                  <a:srgbClr val="0F766E"/>
                </a:solidFill>
                <a:latin typeface="Calibri"/>
              </a:rPr>
              <a:t>●  </a:t>
            </a:r>
            <a:r>
              <a:rPr sz="1900">
                <a:solidFill>
                  <a:srgbClr val="1F2933"/>
                </a:solidFill>
                <a:latin typeface="Calibri"/>
              </a:rPr>
              <a:t>The cache removes recomputation, not the comparisons</a:t>
            </a:r>
          </a:p>
        </p:txBody>
      </p:sp>
      <p:sp>
        <p:nvSpPr>
          <p:cNvPr id="10" name="TextBox 9"/>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Prefill sets the cold start; decode sets the pace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5</a:t>
            </a:r>
          </a:p>
        </p:txBody>
      </p:sp>
      <p:sp>
        <p:nvSpPr>
          <p:cNvPr id="5" name="Rounded Rectangle 4"/>
          <p:cNvSpPr/>
          <p:nvPr/>
        </p:nvSpPr>
        <p:spPr>
          <a:xfrm>
            <a:off x="640080" y="1645920"/>
            <a:ext cx="6949440" cy="41148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3131820"/>
            <a:ext cx="1453895"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Cold start: prefill, one pass</a:t>
            </a:r>
          </a:p>
        </p:txBody>
      </p:sp>
      <p:cxnSp>
        <p:nvCxnSpPr>
          <p:cNvPr id="7" name="Connector 6"/>
          <p:cNvCxnSpPr/>
          <p:nvPr/>
        </p:nvCxnSpPr>
        <p:spPr>
          <a:xfrm>
            <a:off x="2322575" y="3703320"/>
            <a:ext cx="164593" cy="0"/>
          </a:xfrm>
          <a:prstGeom prst="line">
            <a:avLst/>
          </a:prstGeom>
          <a:ln w="2540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532888" y="3131820"/>
            <a:ext cx="1453895"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KV cache: keys and values</a:t>
            </a:r>
          </a:p>
        </p:txBody>
      </p:sp>
      <p:cxnSp>
        <p:nvCxnSpPr>
          <p:cNvPr id="9" name="Connector 8"/>
          <p:cNvCxnSpPr/>
          <p:nvPr/>
        </p:nvCxnSpPr>
        <p:spPr>
          <a:xfrm>
            <a:off x="4032503" y="3703320"/>
            <a:ext cx="164593" cy="0"/>
          </a:xfrm>
          <a:prstGeom prst="line">
            <a:avLst/>
          </a:prstGeom>
          <a:ln w="2540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242816" y="3131820"/>
            <a:ext cx="1453895"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Pace: one token per step</a:t>
            </a:r>
          </a:p>
        </p:txBody>
      </p:sp>
      <p:cxnSp>
        <p:nvCxnSpPr>
          <p:cNvPr id="11" name="Connector 10"/>
          <p:cNvCxnSpPr/>
          <p:nvPr/>
        </p:nvCxnSpPr>
        <p:spPr>
          <a:xfrm>
            <a:off x="5742431" y="3703320"/>
            <a:ext cx="164593" cy="0"/>
          </a:xfrm>
          <a:prstGeom prst="line">
            <a:avLst/>
          </a:prstGeom>
          <a:ln w="2540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952744" y="3131820"/>
            <a:ext cx="1453895" cy="1143000"/>
          </a:xfrm>
          <a:prstGeom prst="roundRect">
            <a:avLst>
              <a:gd name="adj" fmla="val 12000"/>
            </a:avLst>
          </a:prstGeom>
          <a:solidFill>
            <a:srgbClr val="0F766E"/>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1">
                <a:solidFill>
                  <a:srgbClr val="FFFFFF"/>
                </a:solidFill>
                <a:latin typeface="Calibri"/>
              </a:rPr>
              <a:t>Request ends: memory freed</a:t>
            </a:r>
          </a:p>
        </p:txBody>
      </p:sp>
      <p:sp>
        <p:nvSpPr>
          <p:cNvPr id="13" name="TextBox 12"/>
          <p:cNvSpPr txBox="1"/>
          <p:nvPr/>
        </p:nvSpPr>
        <p:spPr>
          <a:xfrm>
            <a:off x="8001000" y="1920240"/>
            <a:ext cx="3566160" cy="3657600"/>
          </a:xfrm>
          <a:prstGeom prst="rect">
            <a:avLst/>
          </a:prstGeom>
          <a:noFill/>
        </p:spPr>
        <p:txBody>
          <a:bodyPr wrap="square" lIns="0" rIns="0" tIns="0" bIns="0">
            <a:spAutoFit/>
          </a:bodyPr>
          <a:lstStyle/>
          <a:p>
            <a:pPr>
              <a:spcAft>
                <a:spcPts val="1000"/>
              </a:spcAft>
            </a:pPr>
            <a:r>
              <a:rPr sz="1100">
                <a:solidFill>
                  <a:srgbClr val="0F766E"/>
                </a:solidFill>
                <a:latin typeface="Calibri"/>
              </a:rPr>
              <a:t>●  </a:t>
            </a:r>
            <a:r>
              <a:rPr sz="1700">
                <a:solidFill>
                  <a:srgbClr val="1F2933"/>
                </a:solidFill>
                <a:latin typeface="Calibri"/>
              </a:rPr>
              <a:t>Memory-bound: limited by reads; each token reads all 16 GB</a:t>
            </a:r>
          </a:p>
        </p:txBody>
      </p:sp>
      <p:sp>
        <p:nvSpPr>
          <p:cNvPr id="14" name="TextBox 13"/>
          <p:cNvSpPr txBox="1"/>
          <p:nvPr/>
        </p:nvSpPr>
        <p:spPr>
          <a:xfrm>
            <a:off x="640080" y="5852160"/>
            <a:ext cx="10881360" cy="411480"/>
          </a:xfrm>
          <a:prstGeom prst="rect">
            <a:avLst/>
          </a:prstGeom>
          <a:noFill/>
        </p:spPr>
        <p:txBody>
          <a:bodyPr wrap="square" lIns="0" rIns="0" tIns="0" bIns="0" anchor="t">
            <a:spAutoFit/>
          </a:bodyPr>
          <a:lstStyle/>
          <a:p>
            <a:pPr algn="l"/>
            <a:r>
              <a:rPr sz="1400" b="0" i="0">
                <a:solidFill>
                  <a:srgbClr val="6B7280"/>
                </a:solidFill>
                <a:latin typeface="Calibri"/>
              </a:rPr>
              <a:t>Kitchen: prep sets the first plate's wait; plating sets the pace.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Car park: the spaces left are your budget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6</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car park</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Spaces left after the building and a delivery bay</a:t>
            </a:r>
          </a:p>
        </p:txBody>
      </p:sp>
      <p:sp>
        <p:nvSpPr>
          <p:cNvPr id="9" name="Rounded Rectangle 8"/>
          <p:cNvSpPr/>
          <p:nvPr/>
        </p:nvSpPr>
        <p:spPr>
          <a:xfrm>
            <a:off x="6428232" y="1828800"/>
            <a:ext cx="5120640" cy="3017520"/>
          </a:xfrm>
          <a:prstGeom prst="roundRect">
            <a:avLst>
              <a:gd name="adj" fmla="val 12000"/>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0F766E"/>
                </a:solidFill>
                <a:latin typeface="Calibri"/>
              </a:rPr>
              <a:t>The KV budget</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GPU memory left after weights: one slot per cached token</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0F766E"/>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car leaves whole; a request keeps taking slots as it grows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Concurrency is the KV budget divided by one request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7</a:t>
            </a:r>
          </a:p>
        </p:txBody>
      </p:sp>
      <p:sp>
        <p:nvSpPr>
          <p:cNvPr id="5" name="Rounded Rectangle 4"/>
          <p:cNvSpPr/>
          <p:nvPr/>
        </p:nvSpPr>
        <p:spPr>
          <a:xfrm>
            <a:off x="640080" y="1508760"/>
            <a:ext cx="10908792" cy="1417320"/>
          </a:xfrm>
          <a:prstGeom prst="roundRect">
            <a:avLst>
              <a:gd name="adj" fmla="val 12000"/>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Max concurrency is the KV budget divided by the cache one request needs.</a:t>
            </a:r>
          </a:p>
        </p:txBody>
      </p:sp>
      <p:sp>
        <p:nvSpPr>
          <p:cNvPr id="7" name="Rounded Rectangle 6"/>
          <p:cNvSpPr/>
          <p:nvPr/>
        </p:nvSpPr>
        <p:spPr>
          <a:xfrm>
            <a:off x="640080"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2904744" cy="777240"/>
          </a:xfrm>
          <a:prstGeom prst="rect">
            <a:avLst/>
          </a:prstGeom>
          <a:noFill/>
        </p:spPr>
        <p:txBody>
          <a:bodyPr wrap="square" lIns="0" rIns="0" tIns="0" bIns="0" anchor="b">
            <a:spAutoFit/>
          </a:bodyPr>
          <a:lstStyle/>
          <a:p>
            <a:pPr algn="l"/>
            <a:r>
              <a:rPr sz="2100" b="1" i="0">
                <a:solidFill>
                  <a:srgbClr val="0F766E"/>
                </a:solidFill>
                <a:latin typeface="Calibri"/>
              </a:rPr>
              <a:t>KV budget</a:t>
            </a:r>
          </a:p>
        </p:txBody>
      </p:sp>
      <p:sp>
        <p:nvSpPr>
          <p:cNvPr id="9" name="TextBox 8"/>
          <p:cNvSpPr txBox="1"/>
          <p:nvPr/>
        </p:nvSpPr>
        <p:spPr>
          <a:xfrm>
            <a:off x="914400"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GPU memory times 0.92, minus weights and activations</a:t>
            </a:r>
          </a:p>
        </p:txBody>
      </p:sp>
      <p:sp>
        <p:nvSpPr>
          <p:cNvPr id="10" name="Rounded Rectangle 9"/>
          <p:cNvSpPr/>
          <p:nvPr/>
        </p:nvSpPr>
        <p:spPr>
          <a:xfrm>
            <a:off x="4367784"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42104" y="3337560"/>
            <a:ext cx="2904744" cy="777240"/>
          </a:xfrm>
          <a:prstGeom prst="rect">
            <a:avLst/>
          </a:prstGeom>
          <a:noFill/>
        </p:spPr>
        <p:txBody>
          <a:bodyPr wrap="square" lIns="0" rIns="0" tIns="0" bIns="0" anchor="b">
            <a:spAutoFit/>
          </a:bodyPr>
          <a:lstStyle/>
          <a:p>
            <a:pPr algn="l"/>
            <a:r>
              <a:rPr sz="2100" b="1" i="0">
                <a:solidFill>
                  <a:srgbClr val="0F766E"/>
                </a:solidFill>
                <a:latin typeface="Calibri"/>
              </a:rPr>
              <a:t>Weights</a:t>
            </a:r>
          </a:p>
        </p:txBody>
      </p:sp>
      <p:sp>
        <p:nvSpPr>
          <p:cNvPr id="12" name="TextBox 11"/>
          <p:cNvSpPr txBox="1"/>
          <p:nvPr/>
        </p:nvSpPr>
        <p:spPr>
          <a:xfrm>
            <a:off x="4642104"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The model's numbers, loaded once</a:t>
            </a:r>
          </a:p>
        </p:txBody>
      </p:sp>
      <p:sp>
        <p:nvSpPr>
          <p:cNvPr id="13" name="Rounded Rectangle 12"/>
          <p:cNvSpPr/>
          <p:nvPr/>
        </p:nvSpPr>
        <p:spPr>
          <a:xfrm>
            <a:off x="8095488"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9808" y="3337560"/>
            <a:ext cx="2904744" cy="777240"/>
          </a:xfrm>
          <a:prstGeom prst="rect">
            <a:avLst/>
          </a:prstGeom>
          <a:noFill/>
        </p:spPr>
        <p:txBody>
          <a:bodyPr wrap="square" lIns="0" rIns="0" tIns="0" bIns="0" anchor="b">
            <a:spAutoFit/>
          </a:bodyPr>
          <a:lstStyle/>
          <a:p>
            <a:pPr algn="l"/>
            <a:r>
              <a:rPr sz="2100" b="1" i="0">
                <a:solidFill>
                  <a:srgbClr val="0F766E"/>
                </a:solidFill>
                <a:latin typeface="Calibri"/>
              </a:rPr>
              <a:t>Activations</a:t>
            </a:r>
          </a:p>
        </p:txBody>
      </p:sp>
      <p:sp>
        <p:nvSpPr>
          <p:cNvPr id="15" name="TextBox 14"/>
          <p:cNvSpPr txBox="1"/>
          <p:nvPr/>
        </p:nvSpPr>
        <p:spPr>
          <a:xfrm>
            <a:off x="8369808"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Scratch memory per step, measured at startup</a:t>
            </a:r>
          </a:p>
        </p:txBody>
      </p:sp>
      <p:sp>
        <p:nvSpPr>
          <p:cNvPr id="16" name="TextBox 15"/>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Brightside on one NVIDIA L4 (24 GB GPU): 20 requests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Three lines of arithmetic give about 20 requests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8</a:t>
            </a:r>
          </a:p>
        </p:txBody>
      </p:sp>
      <p:sp>
        <p:nvSpPr>
          <p:cNvPr id="5" name="Rounded Rectangle 4"/>
          <p:cNvSpPr/>
          <p:nvPr/>
        </p:nvSpPr>
        <p:spPr>
          <a:xfrm>
            <a:off x="594359" y="2514600"/>
            <a:ext cx="3453383"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182880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822960" cy="822960"/>
          </a:xfrm>
          <a:prstGeom prst="rect">
            <a:avLst/>
          </a:prstGeom>
          <a:noFill/>
        </p:spPr>
        <p:txBody>
          <a:bodyPr wrap="square" lIns="0" rIns="0" tIns="0" bIns="0" anchor="ctr">
            <a:spAutoFit/>
          </a:bodyPr>
          <a:lstStyle/>
          <a:p>
            <a:pPr algn="ctr"/>
            <a:r>
              <a:rPr sz="1900" b="1" i="0">
                <a:solidFill>
                  <a:srgbClr val="0F766E"/>
                </a:solidFill>
                <a:latin typeface="Calibri"/>
              </a:rPr>
              <a:t>1</a:t>
            </a:r>
          </a:p>
        </p:txBody>
      </p:sp>
      <p:cxnSp>
        <p:nvCxnSpPr>
          <p:cNvPr id="8" name="Connector 7"/>
          <p:cNvCxnSpPr/>
          <p:nvPr/>
        </p:nvCxnSpPr>
        <p:spPr>
          <a:xfrm>
            <a:off x="1828800" y="2240280"/>
            <a:ext cx="2767584" cy="0"/>
          </a:xfrm>
          <a:prstGeom prst="line">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14400" y="2926080"/>
            <a:ext cx="2813303" cy="822960"/>
          </a:xfrm>
          <a:prstGeom prst="rect">
            <a:avLst/>
          </a:prstGeom>
          <a:noFill/>
        </p:spPr>
        <p:txBody>
          <a:bodyPr wrap="square" lIns="0" rIns="0" tIns="0" bIns="0" anchor="t">
            <a:spAutoFit/>
          </a:bodyPr>
          <a:lstStyle/>
          <a:p>
            <a:pPr algn="l"/>
            <a:r>
              <a:rPr sz="2100" b="1" i="0">
                <a:solidFill>
                  <a:srgbClr val="1F2933"/>
                </a:solidFill>
                <a:latin typeface="Calibri"/>
              </a:rPr>
              <a:t>Memory left</a:t>
            </a:r>
          </a:p>
        </p:txBody>
      </p:sp>
      <p:sp>
        <p:nvSpPr>
          <p:cNvPr id="10" name="TextBox 9"/>
          <p:cNvSpPr txBox="1"/>
          <p:nvPr/>
        </p:nvSpPr>
        <p:spPr>
          <a:xfrm>
            <a:off x="914400" y="3840480"/>
            <a:ext cx="2813303" cy="1280160"/>
          </a:xfrm>
          <a:prstGeom prst="rect">
            <a:avLst/>
          </a:prstGeom>
          <a:noFill/>
        </p:spPr>
        <p:txBody>
          <a:bodyPr wrap="square" lIns="0" rIns="0" tIns="0" bIns="0" anchor="t">
            <a:spAutoFit/>
          </a:bodyPr>
          <a:lstStyle/>
          <a:p>
            <a:pPr algn="l"/>
            <a:r>
              <a:rPr sz="1700" b="0" i="0">
                <a:solidFill>
                  <a:srgbClr val="1F2933"/>
                </a:solidFill>
                <a:latin typeface="Calibri"/>
              </a:rPr>
              <a:t>20.56 − 14.96 − 1 = 4.6 GiB</a:t>
            </a:r>
          </a:p>
        </p:txBody>
      </p:sp>
      <p:sp>
        <p:nvSpPr>
          <p:cNvPr id="11" name="Rounded Rectangle 10"/>
          <p:cNvSpPr/>
          <p:nvPr/>
        </p:nvSpPr>
        <p:spPr>
          <a:xfrm>
            <a:off x="4367784" y="2514600"/>
            <a:ext cx="3453383"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687823" y="182880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87823" y="1828800"/>
            <a:ext cx="822960" cy="822960"/>
          </a:xfrm>
          <a:prstGeom prst="rect">
            <a:avLst/>
          </a:prstGeom>
          <a:noFill/>
        </p:spPr>
        <p:txBody>
          <a:bodyPr wrap="square" lIns="0" rIns="0" tIns="0" bIns="0" anchor="ctr">
            <a:spAutoFit/>
          </a:bodyPr>
          <a:lstStyle/>
          <a:p>
            <a:pPr algn="ctr"/>
            <a:r>
              <a:rPr sz="1900" b="1" i="0">
                <a:solidFill>
                  <a:srgbClr val="0F766E"/>
                </a:solidFill>
                <a:latin typeface="Calibri"/>
              </a:rPr>
              <a:t>2</a:t>
            </a:r>
          </a:p>
        </p:txBody>
      </p:sp>
      <p:cxnSp>
        <p:nvCxnSpPr>
          <p:cNvPr id="14" name="Connector 13"/>
          <p:cNvCxnSpPr/>
          <p:nvPr/>
        </p:nvCxnSpPr>
        <p:spPr>
          <a:xfrm>
            <a:off x="5602223" y="2240280"/>
            <a:ext cx="2767584" cy="0"/>
          </a:xfrm>
          <a:prstGeom prst="line">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687823" y="2926080"/>
            <a:ext cx="2813303" cy="822960"/>
          </a:xfrm>
          <a:prstGeom prst="rect">
            <a:avLst/>
          </a:prstGeom>
          <a:noFill/>
        </p:spPr>
        <p:txBody>
          <a:bodyPr wrap="square" lIns="0" rIns="0" tIns="0" bIns="0" anchor="t">
            <a:spAutoFit/>
          </a:bodyPr>
          <a:lstStyle/>
          <a:p>
            <a:pPr algn="l"/>
            <a:r>
              <a:rPr sz="2100" b="1" i="0">
                <a:solidFill>
                  <a:srgbClr val="1F2933"/>
                </a:solidFill>
                <a:latin typeface="Calibri"/>
              </a:rPr>
              <a:t>Per request</a:t>
            </a:r>
          </a:p>
        </p:txBody>
      </p:sp>
      <p:sp>
        <p:nvSpPr>
          <p:cNvPr id="16" name="TextBox 15"/>
          <p:cNvSpPr txBox="1"/>
          <p:nvPr/>
        </p:nvSpPr>
        <p:spPr>
          <a:xfrm>
            <a:off x="4687823" y="3840480"/>
            <a:ext cx="2813303" cy="1280160"/>
          </a:xfrm>
          <a:prstGeom prst="rect">
            <a:avLst/>
          </a:prstGeom>
          <a:noFill/>
        </p:spPr>
        <p:txBody>
          <a:bodyPr wrap="square" lIns="0" rIns="0" tIns="0" bIns="0" anchor="t">
            <a:spAutoFit/>
          </a:bodyPr>
          <a:lstStyle/>
          <a:p>
            <a:pPr algn="l"/>
            <a:r>
              <a:rPr sz="1700" b="0" i="0">
                <a:solidFill>
                  <a:srgbClr val="1F2933"/>
                </a:solidFill>
                <a:latin typeface="Calibri"/>
              </a:rPr>
              <a:t>1,800 tokens × 128 KiB = 225 MiB</a:t>
            </a:r>
          </a:p>
        </p:txBody>
      </p:sp>
      <p:sp>
        <p:nvSpPr>
          <p:cNvPr id="17" name="Rounded Rectangle 16"/>
          <p:cNvSpPr/>
          <p:nvPr/>
        </p:nvSpPr>
        <p:spPr>
          <a:xfrm>
            <a:off x="8141207" y="2514600"/>
            <a:ext cx="3453383"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461247" y="182880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61247" y="1828800"/>
            <a:ext cx="822960" cy="822960"/>
          </a:xfrm>
          <a:prstGeom prst="rect">
            <a:avLst/>
          </a:prstGeom>
          <a:noFill/>
        </p:spPr>
        <p:txBody>
          <a:bodyPr wrap="square" lIns="0" rIns="0" tIns="0" bIns="0" anchor="ctr">
            <a:spAutoFit/>
          </a:bodyPr>
          <a:lstStyle/>
          <a:p>
            <a:pPr algn="ctr"/>
            <a:r>
              <a:rPr sz="1900" b="1" i="0">
                <a:solidFill>
                  <a:srgbClr val="0F766E"/>
                </a:solidFill>
                <a:latin typeface="Calibri"/>
              </a:rPr>
              <a:t>3</a:t>
            </a:r>
          </a:p>
        </p:txBody>
      </p:sp>
      <p:sp>
        <p:nvSpPr>
          <p:cNvPr id="20" name="TextBox 19"/>
          <p:cNvSpPr txBox="1"/>
          <p:nvPr/>
        </p:nvSpPr>
        <p:spPr>
          <a:xfrm>
            <a:off x="8461247" y="2926080"/>
            <a:ext cx="2813303" cy="822960"/>
          </a:xfrm>
          <a:prstGeom prst="rect">
            <a:avLst/>
          </a:prstGeom>
          <a:noFill/>
        </p:spPr>
        <p:txBody>
          <a:bodyPr wrap="square" lIns="0" rIns="0" tIns="0" bIns="0" anchor="t">
            <a:spAutoFit/>
          </a:bodyPr>
          <a:lstStyle/>
          <a:p>
            <a:pPr algn="l"/>
            <a:r>
              <a:rPr sz="2100" b="1" i="0">
                <a:solidFill>
                  <a:srgbClr val="1F2933"/>
                </a:solidFill>
                <a:latin typeface="Calibri"/>
              </a:rPr>
              <a:t>Requests</a:t>
            </a:r>
          </a:p>
        </p:txBody>
      </p:sp>
      <p:sp>
        <p:nvSpPr>
          <p:cNvPr id="21" name="TextBox 20"/>
          <p:cNvSpPr txBox="1"/>
          <p:nvPr/>
        </p:nvSpPr>
        <p:spPr>
          <a:xfrm>
            <a:off x="8461247" y="3840480"/>
            <a:ext cx="2813303" cy="1280160"/>
          </a:xfrm>
          <a:prstGeom prst="rect">
            <a:avLst/>
          </a:prstGeom>
          <a:noFill/>
        </p:spPr>
        <p:txBody>
          <a:bodyPr wrap="square" lIns="0" rIns="0" tIns="0" bIns="0" anchor="t">
            <a:spAutoFit/>
          </a:bodyPr>
          <a:lstStyle/>
          <a:p>
            <a:pPr algn="l"/>
            <a:r>
              <a:rPr sz="1700" b="0" i="0">
                <a:solidFill>
                  <a:srgbClr val="1F2933"/>
                </a:solidFill>
                <a:latin typeface="Calibri"/>
              </a:rPr>
              <a:t>4.6 GiB ÷ 225 MiB ≈ 20, rounded down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Dividing the whole GPU overstates capacity about five times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9</a:t>
            </a:r>
          </a:p>
        </p:txBody>
      </p:sp>
      <p:sp>
        <p:nvSpPr>
          <p:cNvPr id="5" name="Rounded Rectangle 4"/>
          <p:cNvSpPr/>
          <p:nvPr/>
        </p:nvSpPr>
        <p:spPr>
          <a:xfrm>
            <a:off x="640080" y="1554480"/>
            <a:ext cx="7315200" cy="1737360"/>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487168"/>
            <a:ext cx="7168896" cy="292608"/>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6858000" cy="1463040"/>
          </a:xfrm>
          <a:prstGeom prst="rect">
            <a:avLst/>
          </a:prstGeom>
          <a:noFill/>
        </p:spPr>
        <p:txBody>
          <a:bodyPr wrap="none" lIns="0" rIns="0" tIns="0" bIns="0">
            <a:noAutofit/>
          </a:bodyPr>
          <a:lstStyle/>
          <a:p>
            <a:pPr algn="l">
              <a:lnSpc>
                <a:spcPct val="112000"/>
              </a:lnSpc>
            </a:pPr>
            <a:r>
              <a:rPr sz="1500" b="0" i="0">
                <a:solidFill>
                  <a:srgbClr val="1F2933"/>
                </a:solidFill>
                <a:latin typeface="Consolas"/>
              </a:rPr>
              <a:t>L4_BYTES = </a:t>
            </a:r>
            <a:r>
              <a:rPr sz="1500" b="0" i="0">
                <a:solidFill>
                  <a:srgbClr val="C2410C"/>
                </a:solidFill>
                <a:latin typeface="Consolas"/>
              </a:rPr>
              <a:t>24e9</a:t>
            </a:r>
            <a:r>
              <a:rPr sz="1500" b="0" i="0">
                <a:solidFill>
                  <a:srgbClr val="1F2933"/>
                </a:solidFill>
                <a:latin typeface="Consolas"/>
              </a:rPr>
              <a:t>      </a:t>
            </a:r>
            <a:r>
              <a:rPr sz="1500" b="0" i="1">
                <a:solidFill>
                  <a:srgbClr val="6B7280"/>
                </a:solidFill>
                <a:latin typeface="Consolas"/>
              </a:rPr>
              <a:t># NVIDIA L4 spec: 24 GB</a:t>
            </a:r>
          </a:p>
          <a:p>
            <a:pPr algn="l">
              <a:lnSpc>
                <a:spcPct val="112000"/>
              </a:lnSpc>
            </a:pPr>
            <a:r>
              <a:rPr sz="1500" b="0" i="0">
                <a:solidFill>
                  <a:srgbClr val="1F2933"/>
                </a:solidFill>
                <a:latin typeface="Consolas"/>
              </a:rPr>
              <a:t>TOKENS = </a:t>
            </a:r>
            <a:r>
              <a:rPr sz="1500" b="0" i="0">
                <a:solidFill>
                  <a:srgbClr val="C2410C"/>
                </a:solidFill>
                <a:latin typeface="Consolas"/>
              </a:rPr>
              <a:t>1_600</a:t>
            </a:r>
            <a:r>
              <a:rPr sz="1500" b="0" i="0">
                <a:solidFill>
                  <a:srgbClr val="1F2933"/>
                </a:solidFill>
                <a:latin typeface="Consolas"/>
              </a:rPr>
              <a:t> + </a:t>
            </a:r>
            <a:r>
              <a:rPr sz="1500" b="0" i="0">
                <a:solidFill>
                  <a:srgbClr val="C2410C"/>
                </a:solidFill>
                <a:latin typeface="Consolas"/>
              </a:rPr>
              <a:t>200</a:t>
            </a:r>
            <a:r>
              <a:rPr sz="1500" b="0" i="0">
                <a:solidFill>
                  <a:srgbClr val="1F2933"/>
                </a:solidFill>
                <a:latin typeface="Consolas"/>
              </a:rPr>
              <a:t>  </a:t>
            </a:r>
            <a:r>
              <a:rPr sz="1500" b="0" i="1">
                <a:solidFill>
                  <a:srgbClr val="6B7280"/>
                </a:solidFill>
                <a:latin typeface="Consolas"/>
              </a:rPr>
              <a:t># prompt + answer, lesson 02</a:t>
            </a:r>
          </a:p>
          <a:p>
            <a:pPr algn="l">
              <a:lnSpc>
                <a:spcPct val="112000"/>
              </a:lnSpc>
            </a:pPr>
            <a:r>
              <a:rPr sz="1500" b="0" i="1">
                <a:solidFill>
                  <a:srgbClr val="6B7280"/>
                </a:solidFill>
                <a:latin typeface="Consolas"/>
              </a:rPr>
              <a:t># LLAMA_8B_KV = 128 KiB per token, defined in lesson 05</a:t>
            </a:r>
          </a:p>
          <a:p>
            <a:pPr algn="l">
              <a:lnSpc>
                <a:spcPct val="112000"/>
              </a:lnSpc>
            </a:pPr>
            <a:r>
              <a:rPr sz="1500" b="0" i="0">
                <a:solidFill>
                  <a:srgbClr val="1F2933"/>
                </a:solidFill>
                <a:latin typeface="Consolas"/>
              </a:rPr>
              <a:t>naive = </a:t>
            </a:r>
            <a:r>
              <a:rPr sz="1500" b="0" i="0">
                <a:solidFill>
                  <a:srgbClr val="0E7490"/>
                </a:solidFill>
                <a:latin typeface="Consolas"/>
              </a:rPr>
              <a:t>int</a:t>
            </a:r>
            <a:r>
              <a:rPr sz="1500" b="0" i="0">
                <a:solidFill>
                  <a:srgbClr val="1F2933"/>
                </a:solidFill>
                <a:latin typeface="Consolas"/>
              </a:rPr>
              <a:t>(L4_BYTES // (LLAMA_8B_KV * TOKENS))</a:t>
            </a:r>
          </a:p>
          <a:p>
            <a:pPr algn="l">
              <a:lnSpc>
                <a:spcPct val="112000"/>
              </a:lnSpc>
            </a:pPr>
            <a:r>
              <a:rPr sz="1500" b="0" i="1">
                <a:solidFill>
                  <a:srgbClr val="6B7280"/>
                </a:solidFill>
                <a:latin typeface="Consolas"/>
              </a:rPr>
              <a:t># budget-based: 20 (lesson 05: weights and activations out)</a:t>
            </a:r>
          </a:p>
        </p:txBody>
      </p:sp>
      <p:sp>
        <p:nvSpPr>
          <p:cNvPr id="8" name="Rounded Rectangle 7"/>
          <p:cNvSpPr/>
          <p:nvPr/>
        </p:nvSpPr>
        <p:spPr>
          <a:xfrm>
            <a:off x="640080" y="3401568"/>
            <a:ext cx="7315200" cy="658368"/>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474720"/>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0" name="TextBox 9"/>
          <p:cNvSpPr txBox="1"/>
          <p:nvPr/>
        </p:nvSpPr>
        <p:spPr>
          <a:xfrm>
            <a:off x="1828800" y="3493008"/>
            <a:ext cx="5943600" cy="384048"/>
          </a:xfrm>
          <a:prstGeom prst="rect">
            <a:avLst/>
          </a:prstGeom>
          <a:noFill/>
        </p:spPr>
        <p:txBody>
          <a:bodyPr wrap="square" lIns="0" rIns="0" tIns="0" bIns="0" anchor="t">
            <a:spAutoFit/>
          </a:bodyPr>
          <a:lstStyle/>
          <a:p>
            <a:pPr algn="l"/>
            <a:r>
              <a:rPr sz="1600" b="0" i="0">
                <a:solidFill>
                  <a:srgbClr val="E5E7EB"/>
                </a:solidFill>
                <a:latin typeface="Consolas"/>
              </a:rPr>
              <a:t>naive: 101 requests (whole GPU, no weights)   budget-based: 20</a:t>
            </a:r>
          </a:p>
        </p:txBody>
      </p:sp>
      <p:sp>
        <p:nvSpPr>
          <p:cNvPr id="11" name="TextBox 10"/>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0F766E"/>
                </a:solidFill>
                <a:latin typeface="Calibri"/>
              </a:rPr>
              <a:t>●  </a:t>
            </a:r>
            <a:r>
              <a:rPr sz="1900">
                <a:solidFill>
                  <a:srgbClr val="1F2933"/>
                </a:solidFill>
                <a:latin typeface="Calibri"/>
              </a:rPr>
              <a:t>Ignores the weights and the activations</a:t>
            </a:r>
          </a:p>
          <a:p>
            <a:pPr>
              <a:spcAft>
                <a:spcPts val="1000"/>
              </a:spcAft>
            </a:pPr>
            <a:r>
              <a:rPr sz="1300">
                <a:solidFill>
                  <a:srgbClr val="0F766E"/>
                </a:solidFill>
                <a:latin typeface="Calibri"/>
              </a:rPr>
              <a:t>●  </a:t>
            </a:r>
            <a:r>
              <a:rPr sz="1900">
                <a:solidFill>
                  <a:srgbClr val="1F2933"/>
                </a:solidFill>
                <a:latin typeface="Calibri"/>
              </a:rPr>
              <a:t>Ignores the 0.92 memory cap</a:t>
            </a:r>
          </a:p>
        </p:txBody>
      </p:sp>
      <p:sp>
        <p:nvSpPr>
          <p:cNvPr id="12" name="TextBox 11"/>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One L4 holds about 20 requests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10</a:t>
            </a:r>
          </a:p>
        </p:txBody>
      </p:sp>
      <p:sp>
        <p:nvSpPr>
          <p:cNvPr id="5" name="Rounded Rectangle 4"/>
          <p:cNvSpPr/>
          <p:nvPr/>
        </p:nvSpPr>
        <p:spPr>
          <a:xfrm>
            <a:off x="640080" y="1737360"/>
            <a:ext cx="4754880" cy="4023360"/>
          </a:xfrm>
          <a:prstGeom prst="roundRect">
            <a:avLst>
              <a:gd name="adj" fmla="val 12000"/>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4023360" cy="1737360"/>
          </a:xfrm>
          <a:prstGeom prst="rect">
            <a:avLst/>
          </a:prstGeom>
          <a:noFill/>
        </p:spPr>
        <p:txBody>
          <a:bodyPr wrap="square" lIns="0" rIns="0" tIns="0" bIns="0" anchor="ctr">
            <a:spAutoFit/>
          </a:bodyPr>
          <a:lstStyle/>
          <a:p>
            <a:pPr algn="l"/>
            <a:r>
              <a:rPr sz="7200" b="1" i="0">
                <a:solidFill>
                  <a:srgbClr val="0F766E"/>
                </a:solidFill>
                <a:latin typeface="Calibri"/>
              </a:rPr>
              <a:t>20</a:t>
            </a:r>
          </a:p>
        </p:txBody>
      </p:sp>
      <p:sp>
        <p:nvSpPr>
          <p:cNvPr id="7" name="TextBox 6"/>
          <p:cNvSpPr txBox="1"/>
          <p:nvPr/>
        </p:nvSpPr>
        <p:spPr>
          <a:xfrm>
            <a:off x="1005840" y="3931920"/>
            <a:ext cx="4023360" cy="1097280"/>
          </a:xfrm>
          <a:prstGeom prst="rect">
            <a:avLst/>
          </a:prstGeom>
          <a:noFill/>
        </p:spPr>
        <p:txBody>
          <a:bodyPr wrap="square" lIns="0" rIns="0" tIns="0" bIns="0" anchor="t">
            <a:spAutoFit/>
          </a:bodyPr>
          <a:lstStyle/>
          <a:p>
            <a:pPr algn="l"/>
            <a:r>
              <a:rPr sz="1800" b="0" i="0">
                <a:solidFill>
                  <a:srgbClr val="1F2933"/>
                </a:solidFill>
                <a:latin typeface="Calibri"/>
              </a:rPr>
              <a:t>requests fit on one L4 (8B, FP16, 1,800 tokens)</a:t>
            </a:r>
          </a:p>
        </p:txBody>
      </p:sp>
      <p:sp>
        <p:nvSpPr>
          <p:cNvPr id="8" name="TextBox 7"/>
          <p:cNvSpPr txBox="1"/>
          <p:nvPr/>
        </p:nvSpPr>
        <p:spPr>
          <a:xfrm>
            <a:off x="1005840" y="5120640"/>
            <a:ext cx="4023360" cy="457200"/>
          </a:xfrm>
          <a:prstGeom prst="rect">
            <a:avLst/>
          </a:prstGeom>
          <a:noFill/>
        </p:spPr>
        <p:txBody>
          <a:bodyPr wrap="square" lIns="0" rIns="0" tIns="0" bIns="0" anchor="t">
            <a:spAutoFit/>
          </a:bodyPr>
          <a:lstStyle/>
          <a:p>
            <a:pPr algn="l"/>
            <a:r>
              <a:rPr sz="1100" b="0" i="0">
                <a:solidFill>
                  <a:srgbClr val="6B7280"/>
                </a:solidFill>
                <a:latin typeface="Calibri"/>
              </a:rPr>
              <a:t>Source: https://www.nvidia.com/en-us/data-center/l4/</a:t>
            </a:r>
          </a:p>
        </p:txBody>
      </p:sp>
      <p:sp>
        <p:nvSpPr>
          <p:cNvPr id="9" name="TextBox 8"/>
          <p:cNvSpPr txBox="1"/>
          <p:nvPr/>
        </p:nvSpPr>
        <p:spPr>
          <a:xfrm>
            <a:off x="5943600" y="2011680"/>
            <a:ext cx="5577840" cy="3657600"/>
          </a:xfrm>
          <a:prstGeom prst="rect">
            <a:avLst/>
          </a:prstGeom>
          <a:noFill/>
        </p:spPr>
        <p:txBody>
          <a:bodyPr wrap="square" lIns="0" rIns="0" tIns="0" bIns="0">
            <a:spAutoFit/>
          </a:bodyPr>
          <a:lstStyle/>
          <a:p>
            <a:pPr>
              <a:spcAft>
                <a:spcPts val="1000"/>
              </a:spcAft>
            </a:pPr>
            <a:r>
              <a:rPr sz="1300">
                <a:solidFill>
                  <a:srgbClr val="0F766E"/>
                </a:solidFill>
                <a:latin typeface="Calibri"/>
              </a:rPr>
              <a:t>●  </a:t>
            </a:r>
            <a:r>
              <a:rPr sz="1900">
                <a:solidFill>
                  <a:srgbClr val="1F2933"/>
                </a:solidFill>
                <a:latin typeface="Calibri"/>
              </a:rPr>
              <a:t>Activations of 0.5 to 2 GiB give 23 down to 16</a:t>
            </a:r>
          </a:p>
          <a:p>
            <a:pPr>
              <a:spcAft>
                <a:spcPts val="1000"/>
              </a:spcAft>
            </a:pPr>
            <a:r>
              <a:rPr sz="1300">
                <a:solidFill>
                  <a:srgbClr val="0F766E"/>
                </a:solidFill>
                <a:latin typeface="Calibri"/>
              </a:rPr>
              <a:t>●  </a:t>
            </a:r>
            <a:r>
              <a:rPr sz="1900">
                <a:solidFill>
                  <a:srgbClr val="1F2933"/>
                </a:solidFill>
                <a:latin typeface="Calibri"/>
              </a:rPr>
              <a:t>An FP8 cache (1 byte per number) doubles the room to 41</a:t>
            </a:r>
          </a:p>
          <a:p>
            <a:pPr>
              <a:spcAft>
                <a:spcPts val="1000"/>
              </a:spcAft>
            </a:pPr>
            <a:r>
              <a:rPr sz="1300">
                <a:solidFill>
                  <a:srgbClr val="0F766E"/>
                </a:solidFill>
                <a:latin typeface="Calibri"/>
              </a:rPr>
              <a:t>●  </a:t>
            </a:r>
            <a:r>
              <a:rPr sz="1900">
                <a:solidFill>
                  <a:srgbClr val="1F2933"/>
                </a:solidFill>
                <a:latin typeface="Calibri"/>
              </a:rPr>
              <a:t>Measured on CPU, 0.5B model: tests the method, not the GPU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meal: the first course, then the pace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11</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restaurant meal</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A wait for the first course, then a pace</a:t>
            </a:r>
          </a:p>
        </p:txBody>
      </p:sp>
      <p:sp>
        <p:nvSpPr>
          <p:cNvPr id="9" name="Rounded Rectangle 8"/>
          <p:cNvSpPr/>
          <p:nvPr/>
        </p:nvSpPr>
        <p:spPr>
          <a:xfrm>
            <a:off x="6428232" y="1828800"/>
            <a:ext cx="5120640" cy="3017520"/>
          </a:xfrm>
          <a:prstGeom prst="roundRect">
            <a:avLst>
              <a:gd name="adj" fmla="val 12000"/>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0F766E"/>
                </a:solidFill>
                <a:latin typeface="Calibri"/>
              </a:rPr>
              <a:t>A streamed answer</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A wait for the first token, then a gap per token</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0F766E"/>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Courses arrive whole; tokens arrive one at a time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TTFT is the first wait; TPOT is the pace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12</a:t>
            </a:r>
          </a:p>
        </p:txBody>
      </p:sp>
      <p:sp>
        <p:nvSpPr>
          <p:cNvPr id="5" name="Rounded Rectangle 4"/>
          <p:cNvSpPr/>
          <p:nvPr/>
        </p:nvSpPr>
        <p:spPr>
          <a:xfrm>
            <a:off x="640080" y="1508760"/>
            <a:ext cx="10908792" cy="1417320"/>
          </a:xfrm>
          <a:prstGeom prst="roundRect">
            <a:avLst>
              <a:gd name="adj" fmla="val 12000"/>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TTFT is the wait for the first token; TPOT is the average gap after it.</a:t>
            </a:r>
          </a:p>
        </p:txBody>
      </p:sp>
      <p:sp>
        <p:nvSpPr>
          <p:cNvPr id="7" name="Rounded Rectangle 6"/>
          <p:cNvSpPr/>
          <p:nvPr/>
        </p:nvSpPr>
        <p:spPr>
          <a:xfrm>
            <a:off x="640080"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1972817" cy="777240"/>
          </a:xfrm>
          <a:prstGeom prst="rect">
            <a:avLst/>
          </a:prstGeom>
          <a:noFill/>
        </p:spPr>
        <p:txBody>
          <a:bodyPr wrap="square" lIns="0" rIns="0" tIns="0" bIns="0" anchor="b">
            <a:spAutoFit/>
          </a:bodyPr>
          <a:lstStyle/>
          <a:p>
            <a:pPr algn="l"/>
            <a:r>
              <a:rPr sz="2100" b="1" i="0">
                <a:solidFill>
                  <a:srgbClr val="0F766E"/>
                </a:solidFill>
                <a:latin typeface="Calibri"/>
              </a:rPr>
              <a:t>TTFT</a:t>
            </a:r>
          </a:p>
        </p:txBody>
      </p:sp>
      <p:sp>
        <p:nvSpPr>
          <p:cNvPr id="9" name="TextBox 8"/>
          <p:cNvSpPr txBox="1"/>
          <p:nvPr/>
        </p:nvSpPr>
        <p:spPr>
          <a:xfrm>
            <a:off x="914400"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Queueing plus the prompt's prefill</a:t>
            </a:r>
          </a:p>
        </p:txBody>
      </p:sp>
      <p:sp>
        <p:nvSpPr>
          <p:cNvPr id="10" name="Rounded Rectangle 9"/>
          <p:cNvSpPr/>
          <p:nvPr/>
        </p:nvSpPr>
        <p:spPr>
          <a:xfrm>
            <a:off x="3435857"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10177" y="3337560"/>
            <a:ext cx="1972817" cy="777240"/>
          </a:xfrm>
          <a:prstGeom prst="rect">
            <a:avLst/>
          </a:prstGeom>
          <a:noFill/>
        </p:spPr>
        <p:txBody>
          <a:bodyPr wrap="square" lIns="0" rIns="0" tIns="0" bIns="0" anchor="b">
            <a:spAutoFit/>
          </a:bodyPr>
          <a:lstStyle/>
          <a:p>
            <a:pPr algn="l"/>
            <a:r>
              <a:rPr sz="2100" b="1" i="0">
                <a:solidFill>
                  <a:srgbClr val="0F766E"/>
                </a:solidFill>
                <a:latin typeface="Calibri"/>
              </a:rPr>
              <a:t>TPOT</a:t>
            </a:r>
          </a:p>
        </p:txBody>
      </p:sp>
      <p:sp>
        <p:nvSpPr>
          <p:cNvPr id="12" name="TextBox 11"/>
          <p:cNvSpPr txBox="1"/>
          <p:nvPr/>
        </p:nvSpPr>
        <p:spPr>
          <a:xfrm>
            <a:off x="3710177"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The decode pace, one token per step</a:t>
            </a:r>
          </a:p>
        </p:txBody>
      </p:sp>
      <p:sp>
        <p:nvSpPr>
          <p:cNvPr id="13" name="Rounded Rectangle 12"/>
          <p:cNvSpPr/>
          <p:nvPr/>
        </p:nvSpPr>
        <p:spPr>
          <a:xfrm>
            <a:off x="6231636"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5955" y="3337560"/>
            <a:ext cx="1972817" cy="777240"/>
          </a:xfrm>
          <a:prstGeom prst="rect">
            <a:avLst/>
          </a:prstGeom>
          <a:noFill/>
        </p:spPr>
        <p:txBody>
          <a:bodyPr wrap="square" lIns="0" rIns="0" tIns="0" bIns="0" anchor="b">
            <a:spAutoFit/>
          </a:bodyPr>
          <a:lstStyle/>
          <a:p>
            <a:pPr algn="l"/>
            <a:r>
              <a:rPr sz="2100" b="1" i="0">
                <a:solidFill>
                  <a:srgbClr val="0F766E"/>
                </a:solidFill>
                <a:latin typeface="Calibri"/>
              </a:rPr>
              <a:t>Goodput</a:t>
            </a:r>
          </a:p>
        </p:txBody>
      </p:sp>
      <p:sp>
        <p:nvSpPr>
          <p:cNvPr id="15" name="TextBox 14"/>
          <p:cNvSpPr txBox="1"/>
          <p:nvPr/>
        </p:nvSpPr>
        <p:spPr>
          <a:xfrm>
            <a:off x="6505955"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Requests per second meeting all targets</a:t>
            </a:r>
          </a:p>
        </p:txBody>
      </p:sp>
      <p:sp>
        <p:nvSpPr>
          <p:cNvPr id="16" name="Rounded Rectangle 15"/>
          <p:cNvSpPr/>
          <p:nvPr/>
        </p:nvSpPr>
        <p:spPr>
          <a:xfrm>
            <a:off x="9027413"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01734" y="3337560"/>
            <a:ext cx="1972817" cy="777240"/>
          </a:xfrm>
          <a:prstGeom prst="rect">
            <a:avLst/>
          </a:prstGeom>
          <a:noFill/>
        </p:spPr>
        <p:txBody>
          <a:bodyPr wrap="square" lIns="0" rIns="0" tIns="0" bIns="0" anchor="b">
            <a:spAutoFit/>
          </a:bodyPr>
          <a:lstStyle/>
          <a:p>
            <a:pPr algn="l"/>
            <a:r>
              <a:rPr sz="2100" b="1" i="0">
                <a:solidFill>
                  <a:srgbClr val="0F766E"/>
                </a:solidFill>
                <a:latin typeface="Calibri"/>
              </a:rPr>
              <a:t>p95</a:t>
            </a:r>
          </a:p>
        </p:txBody>
      </p:sp>
      <p:sp>
        <p:nvSpPr>
          <p:cNvPr id="18" name="TextBox 17"/>
          <p:cNvSpPr txBox="1"/>
          <p:nvPr/>
        </p:nvSpPr>
        <p:spPr>
          <a:xfrm>
            <a:off x="9301734"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The slow tail: 95% of requests are faster</a:t>
            </a:r>
          </a:p>
        </p:txBody>
      </p:sp>
      <p:sp>
        <p:nvSpPr>
          <p:cNvPr id="19" name="TextBox 18"/>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Brightside: TTFT under 0.5 s, TPOT under 15 ms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Time the first token and the gaps separately</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13</a:t>
            </a:r>
          </a:p>
        </p:txBody>
      </p:sp>
      <p:sp>
        <p:nvSpPr>
          <p:cNvPr id="5" name="Rounded Rectangle 4"/>
          <p:cNvSpPr/>
          <p:nvPr/>
        </p:nvSpPr>
        <p:spPr>
          <a:xfrm>
            <a:off x="640080" y="1554480"/>
            <a:ext cx="7315200" cy="2607868"/>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913888"/>
            <a:ext cx="7168896" cy="275539"/>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3630777"/>
            <a:ext cx="7168896" cy="275539"/>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6858000" cy="2333548"/>
          </a:xfrm>
          <a:prstGeom prst="rect">
            <a:avLst/>
          </a:prstGeom>
          <a:noFill/>
        </p:spPr>
        <p:txBody>
          <a:bodyPr wrap="none" lIns="0" rIns="0" tIns="0" bIns="0">
            <a:noAutofit/>
          </a:bodyPr>
          <a:lstStyle/>
          <a:p>
            <a:pPr algn="l">
              <a:lnSpc>
                <a:spcPct val="112000"/>
              </a:lnSpc>
            </a:pPr>
            <a:r>
              <a:rPr sz="1400" b="0" i="0">
                <a:solidFill>
                  <a:srgbClr val="1F2933"/>
                </a:solidFill>
                <a:latin typeface="Consolas"/>
              </a:rPr>
              <a:t>t_send = time.perf_counter()</a:t>
            </a:r>
          </a:p>
          <a:p>
            <a:pPr algn="l">
              <a:lnSpc>
                <a:spcPct val="112000"/>
              </a:lnSpc>
            </a:pPr>
            <a:r>
              <a:rPr sz="1400" b="0" i="0">
                <a:solidFill>
                  <a:srgbClr val="1F2933"/>
                </a:solidFill>
                <a:latin typeface="Consolas"/>
              </a:rPr>
              <a:t>arrivals = []</a:t>
            </a:r>
          </a:p>
          <a:p>
            <a:pPr algn="l">
              <a:lnSpc>
                <a:spcPct val="112000"/>
              </a:lnSpc>
            </a:pPr>
            <a:r>
              <a:rPr sz="1400" b="0" i="1">
                <a:solidFill>
                  <a:srgbClr val="6B7280"/>
                </a:solidFill>
                <a:latin typeface="Consolas"/>
              </a:rPr>
              <a:t># open the stream: async with client.stream(...) as r:</a:t>
            </a:r>
          </a:p>
          <a:p>
            <a:pPr algn="l">
              <a:lnSpc>
                <a:spcPct val="112000"/>
              </a:lnSpc>
            </a:pPr>
            <a:r>
              <a:rPr sz="1400" b="1" i="0">
                <a:solidFill>
                  <a:srgbClr val="0F766E"/>
                </a:solidFill>
                <a:latin typeface="Consolas"/>
              </a:rPr>
              <a:t>async</a:t>
            </a:r>
            <a:r>
              <a:rPr sz="1400" b="0" i="0">
                <a:solidFill>
                  <a:srgbClr val="1F2933"/>
                </a:solidFill>
                <a:latin typeface="Consolas"/>
              </a:rPr>
              <a:t> </a:t>
            </a:r>
            <a:r>
              <a:rPr sz="1400" b="1" i="0">
                <a:solidFill>
                  <a:srgbClr val="0F766E"/>
                </a:solidFill>
                <a:latin typeface="Consolas"/>
              </a:rPr>
              <a:t>for</a:t>
            </a:r>
            <a:r>
              <a:rPr sz="1400" b="0" i="0">
                <a:solidFill>
                  <a:srgbClr val="1F2933"/>
                </a:solidFill>
                <a:latin typeface="Consolas"/>
              </a:rPr>
              <a:t> line </a:t>
            </a:r>
            <a:r>
              <a:rPr sz="1400" b="1" i="0">
                <a:solidFill>
                  <a:srgbClr val="0F766E"/>
                </a:solidFill>
                <a:latin typeface="Consolas"/>
              </a:rPr>
              <a:t>in</a:t>
            </a:r>
            <a:r>
              <a:rPr sz="1400" b="0" i="0">
                <a:solidFill>
                  <a:srgbClr val="1F2933"/>
                </a:solidFill>
                <a:latin typeface="Consolas"/>
              </a:rPr>
              <a:t> r.aiter_lines():</a:t>
            </a:r>
          </a:p>
          <a:p>
            <a:pPr algn="l">
              <a:lnSpc>
                <a:spcPct val="112000"/>
              </a:lnSpc>
            </a:pPr>
            <a:r>
              <a:rPr sz="1400" b="0" i="0">
                <a:solidFill>
                  <a:srgbClr val="1F2933"/>
                </a:solidFill>
                <a:latin typeface="Consolas"/>
              </a:rPr>
              <a:t>    </a:t>
            </a:r>
            <a:r>
              <a:rPr sz="1400" b="1" i="0">
                <a:solidFill>
                  <a:srgbClr val="0F766E"/>
                </a:solidFill>
                <a:latin typeface="Consolas"/>
              </a:rPr>
              <a:t>if</a:t>
            </a:r>
            <a:r>
              <a:rPr sz="1400" b="0" i="0">
                <a:solidFill>
                  <a:srgbClr val="1F2933"/>
                </a:solidFill>
                <a:latin typeface="Consolas"/>
              </a:rPr>
              <a:t> line.startswith(</a:t>
            </a:r>
            <a:r>
              <a:rPr sz="1400" b="0" i="0">
                <a:solidFill>
                  <a:srgbClr val="B45309"/>
                </a:solidFill>
                <a:latin typeface="Consolas"/>
              </a:rPr>
              <a:t>"data: "</a:t>
            </a:r>
            <a:r>
              <a:rPr sz="1400" b="0" i="0">
                <a:solidFill>
                  <a:srgbClr val="1F2933"/>
                </a:solidFill>
                <a:latin typeface="Consolas"/>
              </a:rPr>
              <a:t>) </a:t>
            </a:r>
            <a:r>
              <a:rPr sz="1400" b="1" i="0">
                <a:solidFill>
                  <a:srgbClr val="0F766E"/>
                </a:solidFill>
                <a:latin typeface="Consolas"/>
              </a:rPr>
              <a:t>and</a:t>
            </a:r>
            <a:r>
              <a:rPr sz="1400" b="0" i="0">
                <a:solidFill>
                  <a:srgbClr val="1F2933"/>
                </a:solidFill>
                <a:latin typeface="Consolas"/>
              </a:rPr>
              <a:t> line != </a:t>
            </a:r>
            <a:r>
              <a:rPr sz="1400" b="0" i="0">
                <a:solidFill>
                  <a:srgbClr val="B45309"/>
                </a:solidFill>
                <a:latin typeface="Consolas"/>
              </a:rPr>
              <a:t>"data: [DONE]"</a:t>
            </a:r>
            <a:r>
              <a:rPr sz="1400" b="0" i="0">
                <a:solidFill>
                  <a:srgbClr val="1F2933"/>
                </a:solidFill>
                <a:latin typeface="Consolas"/>
              </a:rPr>
              <a:t>:</a:t>
            </a:r>
          </a:p>
          <a:p>
            <a:pPr algn="l">
              <a:lnSpc>
                <a:spcPct val="112000"/>
              </a:lnSpc>
            </a:pPr>
            <a:r>
              <a:rPr sz="1400" b="0" i="0">
                <a:solidFill>
                  <a:srgbClr val="1F2933"/>
                </a:solidFill>
                <a:latin typeface="Consolas"/>
              </a:rPr>
              <a:t>        arrivals.append(time.perf_counter() - t_send)</a:t>
            </a:r>
          </a:p>
          <a:p>
            <a:pPr algn="l">
              <a:lnSpc>
                <a:spcPct val="112000"/>
              </a:lnSpc>
            </a:pPr>
            <a:r>
              <a:rPr sz="1400" b="0" i="0">
                <a:solidFill>
                  <a:srgbClr val="1F2933"/>
                </a:solidFill>
                <a:latin typeface="Consolas"/>
              </a:rPr>
              <a:t>n = </a:t>
            </a:r>
            <a:r>
              <a:rPr sz="1400" b="0" i="0">
                <a:solidFill>
                  <a:srgbClr val="0E7490"/>
                </a:solidFill>
                <a:latin typeface="Consolas"/>
              </a:rPr>
              <a:t>len</a:t>
            </a:r>
            <a:r>
              <a:rPr sz="1400" b="0" i="0">
                <a:solidFill>
                  <a:srgbClr val="1F2933"/>
                </a:solidFill>
                <a:latin typeface="Consolas"/>
              </a:rPr>
              <a:t>(arrivals)</a:t>
            </a:r>
          </a:p>
          <a:p>
            <a:pPr algn="l">
              <a:lnSpc>
                <a:spcPct val="112000"/>
              </a:lnSpc>
            </a:pPr>
            <a:r>
              <a:rPr sz="1400" b="0" i="0">
                <a:solidFill>
                  <a:srgbClr val="1F2933"/>
                </a:solidFill>
                <a:latin typeface="Consolas"/>
              </a:rPr>
              <a:t>ttft, e2e = arrivals[</a:t>
            </a:r>
            <a:r>
              <a:rPr sz="1400" b="0" i="0">
                <a:solidFill>
                  <a:srgbClr val="C2410C"/>
                </a:solidFill>
                <a:latin typeface="Consolas"/>
              </a:rPr>
              <a:t>0</a:t>
            </a:r>
            <a:r>
              <a:rPr sz="1400" b="0" i="0">
                <a:solidFill>
                  <a:srgbClr val="1F2933"/>
                </a:solidFill>
                <a:latin typeface="Consolas"/>
              </a:rPr>
              <a:t>], arrivals[-</a:t>
            </a:r>
            <a:r>
              <a:rPr sz="1400" b="0" i="0">
                <a:solidFill>
                  <a:srgbClr val="C2410C"/>
                </a:solidFill>
                <a:latin typeface="Consolas"/>
              </a:rPr>
              <a:t>1</a:t>
            </a:r>
            <a:r>
              <a:rPr sz="1400" b="0" i="0">
                <a:solidFill>
                  <a:srgbClr val="1F2933"/>
                </a:solidFill>
                <a:latin typeface="Consolas"/>
              </a:rPr>
              <a:t>]</a:t>
            </a:r>
          </a:p>
          <a:p>
            <a:pPr algn="l">
              <a:lnSpc>
                <a:spcPct val="112000"/>
              </a:lnSpc>
            </a:pPr>
            <a:r>
              <a:rPr sz="1400" b="0" i="0">
                <a:solidFill>
                  <a:srgbClr val="1F2933"/>
                </a:solidFill>
                <a:latin typeface="Consolas"/>
              </a:rPr>
              <a:t>tpot = (e2e - ttft) / (n - </a:t>
            </a:r>
            <a:r>
              <a:rPr sz="1400" b="0" i="0">
                <a:solidFill>
                  <a:srgbClr val="C2410C"/>
                </a:solidFill>
                <a:latin typeface="Consolas"/>
              </a:rPr>
              <a:t>1</a:t>
            </a:r>
            <a:r>
              <a:rPr sz="1400" b="0" i="0">
                <a:solidFill>
                  <a:srgbClr val="1F2933"/>
                </a:solidFill>
                <a:latin typeface="Consolas"/>
              </a:rPr>
              <a:t>) </a:t>
            </a:r>
            <a:r>
              <a:rPr sz="1400" b="1" i="0">
                <a:solidFill>
                  <a:srgbClr val="0F766E"/>
                </a:solidFill>
                <a:latin typeface="Consolas"/>
              </a:rPr>
              <a:t>if</a:t>
            </a:r>
            <a:r>
              <a:rPr sz="1400" b="0" i="0">
                <a:solidFill>
                  <a:srgbClr val="1F2933"/>
                </a:solidFill>
                <a:latin typeface="Consolas"/>
              </a:rPr>
              <a:t> n &gt;= </a:t>
            </a:r>
            <a:r>
              <a:rPr sz="1400" b="0" i="0">
                <a:solidFill>
                  <a:srgbClr val="C2410C"/>
                </a:solidFill>
                <a:latin typeface="Consolas"/>
              </a:rPr>
              <a:t>2</a:t>
            </a:r>
            <a:r>
              <a:rPr sz="1400" b="0" i="0">
                <a:solidFill>
                  <a:srgbClr val="1F2933"/>
                </a:solidFill>
                <a:latin typeface="Consolas"/>
              </a:rPr>
              <a:t> </a:t>
            </a:r>
            <a:r>
              <a:rPr sz="1400" b="1" i="0">
                <a:solidFill>
                  <a:srgbClr val="0F766E"/>
                </a:solidFill>
                <a:latin typeface="Consolas"/>
              </a:rPr>
              <a:t>else</a:t>
            </a:r>
            <a:r>
              <a:rPr sz="1400" b="0" i="0">
                <a:solidFill>
                  <a:srgbClr val="1F2933"/>
                </a:solidFill>
                <a:latin typeface="Consolas"/>
              </a:rPr>
              <a:t> </a:t>
            </a:r>
            <a:r>
              <a:rPr sz="1400" b="1" i="0">
                <a:solidFill>
                  <a:srgbClr val="0F766E"/>
                </a:solidFill>
                <a:latin typeface="Consolas"/>
              </a:rPr>
              <a:t>None</a:t>
            </a:r>
          </a:p>
        </p:txBody>
      </p:sp>
      <p:sp>
        <p:nvSpPr>
          <p:cNvPr id="9" name="Rounded Rectangle 8"/>
          <p:cNvSpPr/>
          <p:nvPr/>
        </p:nvSpPr>
        <p:spPr>
          <a:xfrm>
            <a:off x="640080" y="4272076"/>
            <a:ext cx="7315200" cy="658368"/>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345228"/>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1" name="TextBox 10"/>
          <p:cNvSpPr txBox="1"/>
          <p:nvPr/>
        </p:nvSpPr>
        <p:spPr>
          <a:xfrm>
            <a:off x="1828800" y="4363516"/>
            <a:ext cx="5943600" cy="384048"/>
          </a:xfrm>
          <a:prstGeom prst="rect">
            <a:avLst/>
          </a:prstGeom>
          <a:noFill/>
        </p:spPr>
        <p:txBody>
          <a:bodyPr wrap="square" lIns="0" rIns="0" tIns="0" bIns="0" anchor="t">
            <a:spAutoFit/>
          </a:bodyPr>
          <a:lstStyle/>
          <a:p>
            <a:pPr algn="l"/>
            <a:r>
              <a:rPr sz="1600" b="0" i="0">
                <a:solidFill>
                  <a:srgbClr val="E5E7EB"/>
                </a:solidFill>
                <a:latin typeface="Consolas"/>
              </a:rPr>
              <a:t>24 tokens: TTFT 290 ms, TPOT 10.4 ms, end-to-end 0.53 s</a:t>
            </a:r>
          </a:p>
        </p:txBody>
      </p:sp>
      <p:sp>
        <p:nvSpPr>
          <p:cNvPr id="12" name="TextBox 11"/>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0F766E"/>
                </a:solidFill>
                <a:latin typeface="Calibri"/>
              </a:rPr>
              <a:t>●  </a:t>
            </a:r>
            <a:r>
              <a:rPr sz="1900">
                <a:solidFill>
                  <a:srgbClr val="1F2933"/>
                </a:solidFill>
                <a:latin typeface="Calibri"/>
              </a:rPr>
              <a:t>Each streamed token records its arrival time</a:t>
            </a:r>
          </a:p>
          <a:p>
            <a:pPr>
              <a:spcAft>
                <a:spcPts val="1000"/>
              </a:spcAft>
            </a:pPr>
            <a:r>
              <a:rPr sz="1300">
                <a:solidFill>
                  <a:srgbClr val="0F766E"/>
                </a:solidFill>
                <a:latin typeface="Calibri"/>
              </a:rPr>
              <a:t>●  </a:t>
            </a:r>
            <a:r>
              <a:rPr sz="1900">
                <a:solidFill>
                  <a:srgbClr val="1F2933"/>
                </a:solidFill>
                <a:latin typeface="Calibri"/>
              </a:rPr>
              <a:t>The same client works on a real vLLM server on CPU (lesson 08)</a:t>
            </a:r>
          </a:p>
        </p:txBody>
      </p:sp>
      <p:sp>
        <p:nvSpPr>
          <p:cNvPr id="13" name="TextBox 12"/>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Output: lesson 07's simulated engine, a stand-in that sleeps and is not a language model.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From pairs to a measured server</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14</a:t>
            </a:r>
          </a:p>
        </p:txBody>
      </p:sp>
      <p:sp>
        <p:nvSpPr>
          <p:cNvPr id="5" name="Rounded Rectangle 4"/>
          <p:cNvSpPr/>
          <p:nvPr/>
        </p:nvSpPr>
        <p:spPr>
          <a:xfrm>
            <a:off x="594359"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182880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822960" cy="822960"/>
          </a:xfrm>
          <a:prstGeom prst="rect">
            <a:avLst/>
          </a:prstGeom>
          <a:noFill/>
        </p:spPr>
        <p:txBody>
          <a:bodyPr wrap="square" lIns="0" rIns="0" tIns="0" bIns="0" anchor="ctr">
            <a:spAutoFit/>
          </a:bodyPr>
          <a:lstStyle/>
          <a:p>
            <a:pPr algn="ctr"/>
            <a:r>
              <a:rPr sz="1900" b="1" i="0">
                <a:solidFill>
                  <a:srgbClr val="0F766E"/>
                </a:solidFill>
                <a:latin typeface="Calibri"/>
              </a:rPr>
              <a:t>1</a:t>
            </a:r>
          </a:p>
        </p:txBody>
      </p:sp>
      <p:cxnSp>
        <p:nvCxnSpPr>
          <p:cNvPr id="8" name="Connector 7"/>
          <p:cNvCxnSpPr/>
          <p:nvPr/>
        </p:nvCxnSpPr>
        <p:spPr>
          <a:xfrm>
            <a:off x="1828800" y="2240280"/>
            <a:ext cx="1258214" cy="0"/>
          </a:xfrm>
          <a:prstGeom prst="line">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14400"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02 cache</a:t>
            </a:r>
          </a:p>
        </p:txBody>
      </p:sp>
      <p:sp>
        <p:nvSpPr>
          <p:cNvPr id="10" name="TextBox 9"/>
          <p:cNvSpPr txBox="1"/>
          <p:nvPr/>
        </p:nvSpPr>
        <p:spPr>
          <a:xfrm>
            <a:off x="914400"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340,100 pairs, not 289 million</a:t>
            </a:r>
          </a:p>
        </p:txBody>
      </p:sp>
      <p:sp>
        <p:nvSpPr>
          <p:cNvPr id="11" name="Rounded Rectangle 10"/>
          <p:cNvSpPr/>
          <p:nvPr/>
        </p:nvSpPr>
        <p:spPr>
          <a:xfrm>
            <a:off x="2858414"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178454" y="182880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78454" y="1828800"/>
            <a:ext cx="822960" cy="822960"/>
          </a:xfrm>
          <a:prstGeom prst="rect">
            <a:avLst/>
          </a:prstGeom>
          <a:noFill/>
        </p:spPr>
        <p:txBody>
          <a:bodyPr wrap="square" lIns="0" rIns="0" tIns="0" bIns="0" anchor="ctr">
            <a:spAutoFit/>
          </a:bodyPr>
          <a:lstStyle/>
          <a:p>
            <a:pPr algn="ctr"/>
            <a:r>
              <a:rPr sz="1900" b="1" i="0">
                <a:solidFill>
                  <a:srgbClr val="0F766E"/>
                </a:solidFill>
                <a:latin typeface="Calibri"/>
              </a:rPr>
              <a:t>2</a:t>
            </a:r>
          </a:p>
        </p:txBody>
      </p:sp>
      <p:cxnSp>
        <p:nvCxnSpPr>
          <p:cNvPr id="14" name="Connector 13"/>
          <p:cNvCxnSpPr/>
          <p:nvPr/>
        </p:nvCxnSpPr>
        <p:spPr>
          <a:xfrm>
            <a:off x="4092854" y="2240280"/>
            <a:ext cx="1258214" cy="0"/>
          </a:xfrm>
          <a:prstGeom prst="line">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178454"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03 bytes</a:t>
            </a:r>
          </a:p>
        </p:txBody>
      </p:sp>
      <p:sp>
        <p:nvSpPr>
          <p:cNvPr id="16" name="TextBox 15"/>
          <p:cNvSpPr txBox="1"/>
          <p:nvPr/>
        </p:nvSpPr>
        <p:spPr>
          <a:xfrm>
            <a:off x="3178454"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128 KiB per token, 8B in FP16</a:t>
            </a:r>
          </a:p>
        </p:txBody>
      </p:sp>
      <p:sp>
        <p:nvSpPr>
          <p:cNvPr id="17" name="Rounded Rectangle 16"/>
          <p:cNvSpPr/>
          <p:nvPr/>
        </p:nvSpPr>
        <p:spPr>
          <a:xfrm>
            <a:off x="5122468"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442508" y="182880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42508" y="1828800"/>
            <a:ext cx="822960" cy="822960"/>
          </a:xfrm>
          <a:prstGeom prst="rect">
            <a:avLst/>
          </a:prstGeom>
          <a:noFill/>
        </p:spPr>
        <p:txBody>
          <a:bodyPr wrap="square" lIns="0" rIns="0" tIns="0" bIns="0" anchor="ctr">
            <a:spAutoFit/>
          </a:bodyPr>
          <a:lstStyle/>
          <a:p>
            <a:pPr algn="ctr"/>
            <a:r>
              <a:rPr sz="1900" b="1" i="0">
                <a:solidFill>
                  <a:srgbClr val="0F766E"/>
                </a:solidFill>
                <a:latin typeface="Calibri"/>
              </a:rPr>
              <a:t>3</a:t>
            </a:r>
          </a:p>
        </p:txBody>
      </p:sp>
      <p:cxnSp>
        <p:nvCxnSpPr>
          <p:cNvPr id="20" name="Connector 19"/>
          <p:cNvCxnSpPr/>
          <p:nvPr/>
        </p:nvCxnSpPr>
        <p:spPr>
          <a:xfrm>
            <a:off x="6356908" y="2240280"/>
            <a:ext cx="1258215" cy="0"/>
          </a:xfrm>
          <a:prstGeom prst="line">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42508"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05 budget</a:t>
            </a:r>
          </a:p>
        </p:txBody>
      </p:sp>
      <p:sp>
        <p:nvSpPr>
          <p:cNvPr id="22" name="TextBox 21"/>
          <p:cNvSpPr txBox="1"/>
          <p:nvPr/>
        </p:nvSpPr>
        <p:spPr>
          <a:xfrm>
            <a:off x="5442508"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About 20 requests on one L4</a:t>
            </a:r>
          </a:p>
        </p:txBody>
      </p:sp>
      <p:sp>
        <p:nvSpPr>
          <p:cNvPr id="23" name="Rounded Rectangle 22"/>
          <p:cNvSpPr/>
          <p:nvPr/>
        </p:nvSpPr>
        <p:spPr>
          <a:xfrm>
            <a:off x="7386523"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706563" y="182880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06563" y="1828800"/>
            <a:ext cx="822960" cy="822960"/>
          </a:xfrm>
          <a:prstGeom prst="rect">
            <a:avLst/>
          </a:prstGeom>
          <a:noFill/>
        </p:spPr>
        <p:txBody>
          <a:bodyPr wrap="square" lIns="0" rIns="0" tIns="0" bIns="0" anchor="ctr">
            <a:spAutoFit/>
          </a:bodyPr>
          <a:lstStyle/>
          <a:p>
            <a:pPr algn="ctr"/>
            <a:r>
              <a:rPr sz="1900" b="1" i="0">
                <a:solidFill>
                  <a:srgbClr val="0F766E"/>
                </a:solidFill>
                <a:latin typeface="Calibri"/>
              </a:rPr>
              <a:t>4</a:t>
            </a:r>
          </a:p>
        </p:txBody>
      </p:sp>
      <p:cxnSp>
        <p:nvCxnSpPr>
          <p:cNvPr id="26" name="Connector 25"/>
          <p:cNvCxnSpPr/>
          <p:nvPr/>
        </p:nvCxnSpPr>
        <p:spPr>
          <a:xfrm>
            <a:off x="8620963" y="2240280"/>
            <a:ext cx="1258214" cy="0"/>
          </a:xfrm>
          <a:prstGeom prst="line">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06563"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07 and 08 measure</a:t>
            </a:r>
          </a:p>
        </p:txBody>
      </p:sp>
      <p:sp>
        <p:nvSpPr>
          <p:cNvPr id="28" name="TextBox 27"/>
          <p:cNvSpPr txBox="1"/>
          <p:nvPr/>
        </p:nvSpPr>
        <p:spPr>
          <a:xfrm>
            <a:off x="7706563"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TTFT and TPOT: simulated engine (07), real vLLM on CPU (08)</a:t>
            </a:r>
          </a:p>
        </p:txBody>
      </p:sp>
      <p:sp>
        <p:nvSpPr>
          <p:cNvPr id="29" name="Rounded Rectangle 28"/>
          <p:cNvSpPr/>
          <p:nvPr/>
        </p:nvSpPr>
        <p:spPr>
          <a:xfrm>
            <a:off x="9650577"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70617" y="182880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70617" y="1828800"/>
            <a:ext cx="822960" cy="822960"/>
          </a:xfrm>
          <a:prstGeom prst="rect">
            <a:avLst/>
          </a:prstGeom>
          <a:noFill/>
        </p:spPr>
        <p:txBody>
          <a:bodyPr wrap="square" lIns="0" rIns="0" tIns="0" bIns="0" anchor="ctr">
            <a:spAutoFit/>
          </a:bodyPr>
          <a:lstStyle/>
          <a:p>
            <a:pPr algn="ctr"/>
            <a:r>
              <a:rPr sz="1900" b="1" i="0">
                <a:solidFill>
                  <a:srgbClr val="0F766E"/>
                </a:solidFill>
                <a:latin typeface="Calibri"/>
              </a:rPr>
              <a:t>5</a:t>
            </a:r>
          </a:p>
        </p:txBody>
      </p:sp>
      <p:sp>
        <p:nvSpPr>
          <p:cNvPr id="32" name="TextBox 31"/>
          <p:cNvSpPr txBox="1"/>
          <p:nvPr/>
        </p:nvSpPr>
        <p:spPr>
          <a:xfrm>
            <a:off x="9970617"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09 report</a:t>
            </a:r>
          </a:p>
        </p:txBody>
      </p:sp>
      <p:sp>
        <p:nvSpPr>
          <p:cNvPr id="33" name="TextBox 32"/>
          <p:cNvSpPr txBox="1"/>
          <p:nvPr/>
        </p:nvSpPr>
        <p:spPr>
          <a:xfrm>
            <a:off x="9970617"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Estimate, measurement, verdict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Questions to ask about your serving design</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15</a:t>
            </a:r>
          </a:p>
        </p:txBody>
      </p:sp>
      <p:sp>
        <p:nvSpPr>
          <p:cNvPr id="5" name="Oval 4"/>
          <p:cNvSpPr/>
          <p:nvPr/>
        </p:nvSpPr>
        <p:spPr>
          <a:xfrm>
            <a:off x="640080" y="1783080"/>
            <a:ext cx="914400" cy="91440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Callout 5"/>
          <p:cNvSpPr/>
          <p:nvPr/>
        </p:nvSpPr>
        <p:spPr>
          <a:xfrm>
            <a:off x="868680" y="2011680"/>
            <a:ext cx="457200" cy="457200"/>
          </a:xfrm>
          <a:prstGeom prst="wedgeEllipseCallou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0" y="1783080"/>
            <a:ext cx="548640" cy="548640"/>
          </a:xfrm>
          <a:prstGeom prst="rect">
            <a:avLst/>
          </a:prstGeom>
          <a:noFill/>
        </p:spPr>
        <p:txBody>
          <a:bodyPr wrap="square" lIns="0" rIns="0" tIns="0" bIns="0" anchor="t">
            <a:spAutoFit/>
          </a:bodyPr>
          <a:lstStyle/>
          <a:p>
            <a:pPr algn="l"/>
            <a:r>
              <a:rPr sz="2200" b="1" i="0">
                <a:solidFill>
                  <a:srgbClr val="0F766E"/>
                </a:solidFill>
                <a:latin typeface="Calibri"/>
              </a:rPr>
              <a:t>1</a:t>
            </a:r>
          </a:p>
        </p:txBody>
      </p:sp>
      <p:sp>
        <p:nvSpPr>
          <p:cNvPr id="8" name="TextBox 7"/>
          <p:cNvSpPr txBox="1"/>
          <p:nvPr/>
        </p:nvSpPr>
        <p:spPr>
          <a:xfrm>
            <a:off x="2560320" y="1810512"/>
            <a:ext cx="8961120" cy="731520"/>
          </a:xfrm>
          <a:prstGeom prst="rect">
            <a:avLst/>
          </a:prstGeom>
          <a:noFill/>
        </p:spPr>
        <p:txBody>
          <a:bodyPr wrap="square" lIns="0" rIns="0" tIns="0" bIns="0" anchor="t">
            <a:spAutoFit/>
          </a:bodyPr>
          <a:lstStyle/>
          <a:p>
            <a:pPr algn="l"/>
            <a:r>
              <a:rPr sz="1900" b="0" i="0">
                <a:solidFill>
                  <a:srgbClr val="1F2933"/>
                </a:solidFill>
                <a:latin typeface="Calibri"/>
              </a:rPr>
              <a:t>What are my model's KV bytes per token?</a:t>
            </a:r>
          </a:p>
        </p:txBody>
      </p:sp>
      <p:sp>
        <p:nvSpPr>
          <p:cNvPr id="9" name="TextBox 8"/>
          <p:cNvSpPr txBox="1"/>
          <p:nvPr/>
        </p:nvSpPr>
        <p:spPr>
          <a:xfrm>
            <a:off x="2011680" y="2624328"/>
            <a:ext cx="548640" cy="548640"/>
          </a:xfrm>
          <a:prstGeom prst="rect">
            <a:avLst/>
          </a:prstGeom>
          <a:noFill/>
        </p:spPr>
        <p:txBody>
          <a:bodyPr wrap="square" lIns="0" rIns="0" tIns="0" bIns="0" anchor="t">
            <a:spAutoFit/>
          </a:bodyPr>
          <a:lstStyle/>
          <a:p>
            <a:pPr algn="l"/>
            <a:r>
              <a:rPr sz="2200" b="1" i="0">
                <a:solidFill>
                  <a:srgbClr val="0F766E"/>
                </a:solidFill>
                <a:latin typeface="Calibri"/>
              </a:rPr>
              <a:t>2</a:t>
            </a:r>
          </a:p>
        </p:txBody>
      </p:sp>
      <p:sp>
        <p:nvSpPr>
          <p:cNvPr id="10" name="TextBox 9"/>
          <p:cNvSpPr txBox="1"/>
          <p:nvPr/>
        </p:nvSpPr>
        <p:spPr>
          <a:xfrm>
            <a:off x="2560320" y="2651760"/>
            <a:ext cx="8961120" cy="731520"/>
          </a:xfrm>
          <a:prstGeom prst="rect">
            <a:avLst/>
          </a:prstGeom>
          <a:noFill/>
        </p:spPr>
        <p:txBody>
          <a:bodyPr wrap="square" lIns="0" rIns="0" tIns="0" bIns="0" anchor="t">
            <a:spAutoFit/>
          </a:bodyPr>
          <a:lstStyle/>
          <a:p>
            <a:pPr algn="l"/>
            <a:r>
              <a:rPr sz="1900" b="0" i="0">
                <a:solidFill>
                  <a:srgbClr val="1F2933"/>
                </a:solidFill>
                <a:latin typeface="Calibri"/>
              </a:rPr>
              <a:t>What is my KV budget after activations?</a:t>
            </a:r>
          </a:p>
        </p:txBody>
      </p:sp>
      <p:sp>
        <p:nvSpPr>
          <p:cNvPr id="11" name="TextBox 10"/>
          <p:cNvSpPr txBox="1"/>
          <p:nvPr/>
        </p:nvSpPr>
        <p:spPr>
          <a:xfrm>
            <a:off x="2011680" y="3465576"/>
            <a:ext cx="548640" cy="548640"/>
          </a:xfrm>
          <a:prstGeom prst="rect">
            <a:avLst/>
          </a:prstGeom>
          <a:noFill/>
        </p:spPr>
        <p:txBody>
          <a:bodyPr wrap="square" lIns="0" rIns="0" tIns="0" bIns="0" anchor="t">
            <a:spAutoFit/>
          </a:bodyPr>
          <a:lstStyle/>
          <a:p>
            <a:pPr algn="l"/>
            <a:r>
              <a:rPr sz="2200" b="1" i="0">
                <a:solidFill>
                  <a:srgbClr val="0F766E"/>
                </a:solidFill>
                <a:latin typeface="Calibri"/>
              </a:rPr>
              <a:t>3</a:t>
            </a:r>
          </a:p>
        </p:txBody>
      </p:sp>
      <p:sp>
        <p:nvSpPr>
          <p:cNvPr id="12" name="TextBox 11"/>
          <p:cNvSpPr txBox="1"/>
          <p:nvPr/>
        </p:nvSpPr>
        <p:spPr>
          <a:xfrm>
            <a:off x="2560320" y="3493008"/>
            <a:ext cx="8961120" cy="731520"/>
          </a:xfrm>
          <a:prstGeom prst="rect">
            <a:avLst/>
          </a:prstGeom>
          <a:noFill/>
        </p:spPr>
        <p:txBody>
          <a:bodyPr wrap="square" lIns="0" rIns="0" tIns="0" bIns="0" anchor="t">
            <a:spAutoFit/>
          </a:bodyPr>
          <a:lstStyle/>
          <a:p>
            <a:pPr algn="l"/>
            <a:r>
              <a:rPr sz="1900" b="0" i="0">
                <a:solidFill>
                  <a:srgbClr val="1F2933"/>
                </a:solidFill>
                <a:latin typeface="Calibri"/>
              </a:rPr>
              <a:t>Do I report TTFT and TPOT separately, at p95?</a:t>
            </a:r>
          </a:p>
        </p:txBody>
      </p:sp>
      <p:sp>
        <p:nvSpPr>
          <p:cNvPr id="13" name="TextBox 12"/>
          <p:cNvSpPr txBox="1"/>
          <p:nvPr/>
        </p:nvSpPr>
        <p:spPr>
          <a:xfrm>
            <a:off x="2011680" y="4306824"/>
            <a:ext cx="548640" cy="548640"/>
          </a:xfrm>
          <a:prstGeom prst="rect">
            <a:avLst/>
          </a:prstGeom>
          <a:noFill/>
        </p:spPr>
        <p:txBody>
          <a:bodyPr wrap="square" lIns="0" rIns="0" tIns="0" bIns="0" anchor="t">
            <a:spAutoFit/>
          </a:bodyPr>
          <a:lstStyle/>
          <a:p>
            <a:pPr algn="l"/>
            <a:r>
              <a:rPr sz="2200" b="1" i="0">
                <a:solidFill>
                  <a:srgbClr val="0F766E"/>
                </a:solidFill>
                <a:latin typeface="Calibri"/>
              </a:rPr>
              <a:t>4</a:t>
            </a:r>
          </a:p>
        </p:txBody>
      </p:sp>
      <p:sp>
        <p:nvSpPr>
          <p:cNvPr id="14" name="TextBox 13"/>
          <p:cNvSpPr txBox="1"/>
          <p:nvPr/>
        </p:nvSpPr>
        <p:spPr>
          <a:xfrm>
            <a:off x="2560320" y="4334256"/>
            <a:ext cx="8961120" cy="731520"/>
          </a:xfrm>
          <a:prstGeom prst="rect">
            <a:avLst/>
          </a:prstGeom>
          <a:noFill/>
        </p:spPr>
        <p:txBody>
          <a:bodyPr wrap="square" lIns="0" rIns="0" tIns="0" bIns="0" anchor="t">
            <a:spAutoFit/>
          </a:bodyPr>
          <a:lstStyle/>
          <a:p>
            <a:pPr algn="l"/>
            <a:r>
              <a:rPr sz="1900" b="0" i="0">
                <a:solidFill>
                  <a:srgbClr val="1F2933"/>
                </a:solidFill>
                <a:latin typeface="Calibri"/>
              </a:rPr>
              <a:t>Which targets, at what concurrency?</a:t>
            </a:r>
          </a:p>
        </p:txBody>
      </p:sp>
      <p:sp>
        <p:nvSpPr>
          <p:cNvPr id="15" name="TextBox 14"/>
          <p:cNvSpPr txBox="1"/>
          <p:nvPr/>
        </p:nvSpPr>
        <p:spPr>
          <a:xfrm>
            <a:off x="2011680" y="5148072"/>
            <a:ext cx="548640" cy="548640"/>
          </a:xfrm>
          <a:prstGeom prst="rect">
            <a:avLst/>
          </a:prstGeom>
          <a:noFill/>
        </p:spPr>
        <p:txBody>
          <a:bodyPr wrap="square" lIns="0" rIns="0" tIns="0" bIns="0" anchor="t">
            <a:spAutoFit/>
          </a:bodyPr>
          <a:lstStyle/>
          <a:p>
            <a:pPr algn="l"/>
            <a:r>
              <a:rPr sz="2200" b="1" i="0">
                <a:solidFill>
                  <a:srgbClr val="0F766E"/>
                </a:solidFill>
                <a:latin typeface="Calibri"/>
              </a:rPr>
              <a:t>5</a:t>
            </a:r>
          </a:p>
        </p:txBody>
      </p:sp>
      <p:sp>
        <p:nvSpPr>
          <p:cNvPr id="16" name="TextBox 15"/>
          <p:cNvSpPr txBox="1"/>
          <p:nvPr/>
        </p:nvSpPr>
        <p:spPr>
          <a:xfrm>
            <a:off x="2560320" y="5175504"/>
            <a:ext cx="8961120" cy="731520"/>
          </a:xfrm>
          <a:prstGeom prst="rect">
            <a:avLst/>
          </a:prstGeom>
          <a:noFill/>
        </p:spPr>
        <p:txBody>
          <a:bodyPr wrap="square" lIns="0" rIns="0" tIns="0" bIns="0" anchor="t">
            <a:spAutoFit/>
          </a:bodyPr>
          <a:lstStyle/>
          <a:p>
            <a:pPr algn="l"/>
            <a:r>
              <a:rPr sz="1900" b="0" i="0">
                <a:solidFill>
                  <a:srgbClr val="1F2933"/>
                </a:solidFill>
                <a:latin typeface="Calibri"/>
              </a:rPr>
              <a:t>Does a disconnect stop generation?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 1: one model server, and what one request costs</dc:title>
  <dc:subject/>
  <dc:creator>Tutorial factory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