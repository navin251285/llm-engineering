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course teaches one skill: take a language model and work out how much GPU memory, how many requests and how many replicas a serving service needs, then prove it with measurements. Today is the first teaching session. We cover why the course exists, the one idea everything else builds on, a first taste of code, what you will build, how a lesson runs, and what you will be able to do at the end. Nothing today needs a key or a GPU. You can run every lesson on a laptop.</a:t>
            </a:r>
          </a:p>
          <a:p/>
          <a:p>
            <a:r>
              <a:t>From lessons: 01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problem you already know. A web API call is cheap and the same every time. An LLM answer is written one token at a time, and each new token needs the whole conversation so far. Lesson 01 counts the work for the Brightside support desk: a 1,600-token prompt and a 200-token answer. Without saved notes the model makes 339,900 token passes. With saved notes it makes 1,800, because the prompt runs once and each new token runs once. The numbers are counted, not timed, and the lesson says so. At 800 answer tokens the counts are 1,599,600 and 2,400. Memory is the other half of the story: lesson 05 shows that a naive guess of 101 requests on a 24 GB L4 falls to about 20 once weights and activations are counted.</a:t>
            </a:r>
          </a:p>
          <a:p/>
          <a:p>
            <a:r>
              <a:t>From lessons: 01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Picture a chef who writes a long reply one word at a time. Before each new word, the chef rereads the order so far. That is the model. The chef's notes are the KV cache: they hold what was already worked out, so the earlier text does not need reading again. The comparison stops at memory. A notebook is free, but the notes of an LLM sit in GPU memory for as long as the request is open, and each token adds one more entry. That is why the cache, not the arithmetic, usually limits how many requests one GPU can serve. Lesson 02 covers the loop itself, and lesson 03 turns the notes into a size you can compute.</a:t>
            </a:r>
          </a:p>
          <a:p/>
          <a:p>
            <a:r>
              <a:t>From lessons: 01, 02, 03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definition slowly; it is the one sentence to remember from today. Prefill reads the whole prompt in one parallel pass and fills the cache. Decode then writes one token per step, and each step reads the weights and every cached token. A KV head is a head whose keys and values are stored; the config field num_key_value_heads counts them. The size per token comes from a formula with four numbers from config.json, times two for keys and values: 2 × layers × KV heads × head size × bytes. For Llama 3.1 8B in FP16 that is 128 KiB per token, and a 1,800-token request holds 225 MiB. Lesson 03 checks the formula against the known 128 KiB and 320 KiB for the 70B model, and prints the 225 MiB itself.</a:t>
            </a:r>
          </a:p>
          <a:p/>
          <a:p>
            <a:r>
              <a:t>From lessons: 01, 02, 03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first code you will run, and it is the whole argument in a few lines. The Brightside request has 1,600 prompt tokens (1,500 policy plus question) and a 200-token answer. token_passes is defined in step 2 of lesson 01. Without a cache, token k reruns every token before it, so the count is a sum over the answer length. With a cache, the prompt runs once and each new token runs once. The highlighted lines are the calls; the printed lines are real output. Ask the room: at 800 answer tokens, 1,599,600 passes without the cache (4.7 times more) and 2,400 with it (1.3 times more).</a:t>
            </a:r>
          </a:p>
          <a:p/>
          <a:p>
            <a:r>
              <a:t>From lessons: 01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common mistake in a cache-size estimate, and interviewers listen for it. The 70B model has 64 query heads, but the cache stores only its 8 KV heads. The comment gives the factors: 2 for keys and values, 80 layers, head size 128, and 2 bytes per FP16 number. Multiply by query heads and you overstate the cache eight times. The printed output is lesson 03's real common-mistakes cell: wrong 2,560 KiB per token, right 320 KiB. Grouped-query attention is why the caches are small enough to serve; lesson 04 compares the variants. Remember: the cache follows num_key_value_heads, not num_attention_heads.</a:t>
            </a:r>
          </a:p>
          <a:p/>
          <a:p>
            <a:r>
              <a:t>From lessons: 03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you will be at the end, stated as things you can do. Size: from a config file and a GPU's memory, derive the cache per token and how many requests fit (lessons 03 and 05). Tune: measure time to first token in lesson 07, then tune an engine to a TTFT target (lesson 18 is that checkpoint). Scale: queries per second to replicas, routing, autoscaling and cost per million tokens (lessons 26 to 31). Defend: roll out a change behind an eval gate (lesson 35), and write the design down for a reviewer in the capstone (lesson 40). Every claim is backed by a notebook that prints a number you can reproduce.</a:t>
            </a:r>
          </a:p>
          <a:p/>
          <a:p>
            <a:r>
              <a:t>From lessons: 03, 05, 07, 18, 26, 27, 28, 29, 30, 31, 35, 40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will build one real thing across the course: the Brightside support desk, a service that answers support questions from a local engine. It grows in four steps. Step 1 comes after chapter 1 (checkpoint lesson 09): one endpoint, a text box and a health check, which lesson 08 builds. Step 2 comes after chapter 3 (lesson 25): engine settings from the config, latency metrics and tests. Step 3 comes after chapter 5 (lesson 37): two local server processes behind a small gateway, with queue metrics and admission control. Step 4 comes after chapter 6 (lesson 40): one run command, full tests and a README. No Docker or Kubernetes is needed for the app.</a:t>
            </a:r>
          </a:p>
          <a:p/>
          <a:p>
            <a:r>
              <a:t>From lessons: 08, 09, 25, 37, 40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agenda is filled from the course syllabus. Chapter 1 is Basic: nine lessons, about 3 hours 20 minutes of estimated lesson time. Chapters 2 and 3 are Intermediate: sixteen lessons, about 6 hours. Chapters 4, 5 and 6 are Advanced: fifteen lessons, about 5 hours 35 minutes. The estimates add to 14 hours 55 minutes, inside the 15-hour limit. Each lesson lists its own minutes. If you have less time, the Essentials path builds only the core lessons. Chapter 6 ends with the capstone, where you design a Llama 70B serving platform.</a:t>
            </a:r>
          </a:p>
          <a:p/>
          <a:p>
            <a:r>
              <a:t>From lessons: 01, 10, 19, 26, 29, 38</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lesson follows this shape, so you always know where you are. The goal and the why come first, with the problem without the idea. The idea section gives one everyday comparison and a diagram. Step by step has the runnable cells, and each one says what you should see, so a wrong number is caught at once. Try it asks you to predict one change before you open the hidden answer. At work links the idea to a real production case with its date and source. Many lessons end with an Interview line you can rehearse. If a cell needs Docker or a GPU, it is tagged and says so, and it has a fallback that runs on a laptop.</a:t>
            </a:r>
          </a:p>
          <a:p/>
          <a:p>
            <a:r>
              <a:t>From lessons: 01, 03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course has three levels, and each one stands on its own. Basic is chapter 1: what one request costs, the cache size, the concurrency limit, and a capacity report. Intermediate is chapters 2 and 3: how engines fit more requests into the same memory, the flags you tune, quantization, parallelism and GPU choice, ending with the TTFT tuning and the GPU pick for a latency target. Advanced is chapters 4 to 6: Little's law and load tests, cost per million tokens, a gateway with routing and autoscaling, rollouts, security, and the capstone. The times are the lesson estimates from the syllabus.</a:t>
            </a:r>
          </a:p>
          <a:p/>
          <a:p>
            <a:r>
              <a:t>From lessons: 09, 18, 25, 37, 40</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once, before lesson 01. Python 3.12 comes with the course in its own environment, so you never install packages into your system Python. Docker is needed from lesson 08, the first lesson that starts an engine; lesson 01's engine cell is optional and prints a notice when no engine is reachable. The .env file is a template with placeholder names, and offline runs fill in no value. The GPU is optional: lessons 20, 21 and 27 name a GPU step, which is skipped or shown as commands, with a CPU fallback. Never paste a real key or project id into a notebook you share.</a:t>
            </a:r>
          </a:p>
          <a:p/>
          <a:p>
            <a:r>
              <a:t>From lessons: 01, 08, 20, 21, 27</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is proven three ways. First, four checkpoints: the capacity report in lesson 09, the TTFT tuning in lesson 18, the GPU and parallelism choice for a latency target in lesson 25, and operating the mock cluster in lesson 37. The capstone design in lesson 40 closes the course. Each one ends with a number you measured and can defend. Second, nineteen lessons are marked interview-critical in the syllabus, such as the KV cache size and the concurrency limit. Third, every lesson runs offline: a cell that needs Docker or a GPU is tagged and skipped with a clear message on a laptop. Interview questions and project briefs are written from the finished course.</a:t>
            </a:r>
          </a:p>
          <a:p/>
          <a:p>
            <a:r>
              <a:t>From lessons: 09, 18, 25, 37, 40, 03, 05</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five words come up in almost every lesson, so write them down. The full list is in GLOSSARY.md, which says which lesson teaches each term. Key and value come first: the cache stores them for each earlier word, and lessons 02 and 03 use them. TTFT and TPOT are the two latency numbers, and lesson 01 introduces them; you will measure both in lesson 07. An SLO is the target a service is measured against, such as TTFT under 0.5 s. Goodput counts only the requests that meet every SLO, so a fast answer that misses its target does not count. Later you will also meet PagedAttention; the glossary gives its meaning and the lesson that teaches it.</a:t>
            </a:r>
          </a:p>
          <a:p/>
          <a:p>
            <a:r>
              <a:t>From lessons: 01, 02, 03, 07</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these five questions in mind. The first two you can answer after lesson 03, with a config file and a calculator. The third takes lesson 05: weights, activations and the KV budget. The fourth takes the capacity and economics chapter, and the checkpoint in lesson 25 is where you practise a latency target. The last one is the habit this course is built around: measure before you trust. Next session we open lesson 01 together, run it, and check the numbers against the course output. Bring a laptop with Python 3.12 and Docker installed; no keys are needed.</a:t>
            </a:r>
          </a:p>
          <a:p/>
          <a:p>
            <a:r>
              <a:t>From lessons: 03, 05, 18, 26, 40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3" name="TextBox 2"/>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a:t>
            </a:r>
          </a:p>
        </p:txBody>
      </p:sp>
      <p:sp>
        <p:nvSpPr>
          <p:cNvPr id="4" name="Oval 3"/>
          <p:cNvSpPr/>
          <p:nvPr/>
        </p:nvSpPr>
        <p:spPr>
          <a:xfrm>
            <a:off x="822960" y="1463040"/>
            <a:ext cx="822960" cy="822960"/>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ube 4"/>
          <p:cNvSpPr/>
          <p:nvPr/>
        </p:nvSpPr>
        <p:spPr>
          <a:xfrm>
            <a:off x="1028700" y="1668780"/>
            <a:ext cx="411480" cy="411480"/>
          </a:xfrm>
          <a:prstGeom prst="cub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560320"/>
            <a:ext cx="7863840" cy="1463040"/>
          </a:xfrm>
          <a:prstGeom prst="rect">
            <a:avLst/>
          </a:prstGeom>
          <a:noFill/>
        </p:spPr>
        <p:txBody>
          <a:bodyPr wrap="square" lIns="0" rIns="0" tIns="0" bIns="0" anchor="b">
            <a:spAutoFit/>
          </a:bodyPr>
          <a:lstStyle/>
          <a:p>
            <a:pPr algn="l"/>
            <a:r>
              <a:rPr sz="4000" b="1" i="0">
                <a:solidFill>
                  <a:srgbClr val="1F2933"/>
                </a:solidFill>
                <a:latin typeface="Calibri"/>
              </a:rPr>
              <a:t>KV Forge: LLM inference, from KV cache to production</a:t>
            </a:r>
          </a:p>
        </p:txBody>
      </p:sp>
      <p:sp>
        <p:nvSpPr>
          <p:cNvPr id="7" name="TextBox 6"/>
          <p:cNvSpPr txBox="1"/>
          <p:nvPr/>
        </p:nvSpPr>
        <p:spPr>
          <a:xfrm>
            <a:off x="822960" y="4160520"/>
            <a:ext cx="10515600" cy="548640"/>
          </a:xfrm>
          <a:prstGeom prst="rect">
            <a:avLst/>
          </a:prstGeom>
          <a:noFill/>
        </p:spPr>
        <p:txBody>
          <a:bodyPr wrap="square" lIns="0" rIns="0" tIns="0" bIns="0" anchor="t">
            <a:spAutoFit/>
          </a:bodyPr>
          <a:lstStyle/>
          <a:p>
            <a:pPr algn="l"/>
            <a:r>
              <a:rPr sz="2000" b="0" i="0">
                <a:solidFill>
                  <a:srgbClr val="1D4ED8"/>
                </a:solidFill>
                <a:latin typeface="Calibri"/>
              </a:rPr>
              <a:t>Course kickoff · 15 hours · 40 lessons · session 1</a:t>
            </a:r>
          </a:p>
        </p:txBody>
      </p:sp>
      <p:sp>
        <p:nvSpPr>
          <p:cNvPr id="8" name="TextBox 7"/>
          <p:cNvSpPr txBox="1"/>
          <p:nvPr/>
        </p:nvSpPr>
        <p:spPr>
          <a:xfrm>
            <a:off x="822960" y="4800600"/>
            <a:ext cx="6858000" cy="457200"/>
          </a:xfrm>
          <a:prstGeom prst="rect">
            <a:avLst/>
          </a:prstGeom>
          <a:noFill/>
        </p:spPr>
        <p:txBody>
          <a:bodyPr wrap="square" lIns="0" rIns="0" tIns="0" bIns="0" anchor="t">
            <a:spAutoFit/>
          </a:bodyPr>
          <a:lstStyle/>
          <a:p>
            <a:pPr algn="l"/>
            <a:r>
              <a:rPr sz="1400" b="0" i="0">
                <a:solidFill>
                  <a:srgbClr val="6B7280"/>
                </a:solidFill>
                <a:latin typeface="Calibri"/>
              </a:rPr>
              <a:t>For developers and platform engineers who run Python services</a:t>
            </a:r>
          </a:p>
        </p:txBody>
      </p:sp>
      <p:cxnSp>
        <p:nvCxnSpPr>
          <p:cNvPr id="9" name="Connector 8"/>
          <p:cNvCxnSpPr/>
          <p:nvPr/>
        </p:nvCxnSpPr>
        <p:spPr>
          <a:xfrm flipH="1" flipV="1">
            <a:off x="8686800" y="1188719"/>
            <a:ext cx="1371600" cy="914401"/>
          </a:xfrm>
          <a:prstGeom prst="line">
            <a:avLst/>
          </a:prstGeom>
          <a:ln w="25400">
            <a:solidFill>
              <a:srgbClr val="A5B8EF"/>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8430768" y="932687"/>
            <a:ext cx="512064" cy="512064"/>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flipV="1">
            <a:off x="10058400" y="1097279"/>
            <a:ext cx="1280160" cy="1005841"/>
          </a:xfrm>
          <a:prstGeom prst="line">
            <a:avLst/>
          </a:prstGeom>
          <a:ln w="25400">
            <a:solidFill>
              <a:srgbClr val="A5B8EF"/>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1082528" y="841247"/>
            <a:ext cx="512064" cy="512064"/>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flipH="1">
            <a:off x="8595360" y="2103120"/>
            <a:ext cx="1463040" cy="914400"/>
          </a:xfrm>
          <a:prstGeom prst="line">
            <a:avLst/>
          </a:prstGeom>
          <a:ln w="25400">
            <a:solidFill>
              <a:srgbClr val="A5B8EF"/>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8339328" y="2761487"/>
            <a:ext cx="512064" cy="512064"/>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10058400" y="2103120"/>
            <a:ext cx="1371600" cy="1005840"/>
          </a:xfrm>
          <a:prstGeom prst="line">
            <a:avLst/>
          </a:prstGeom>
          <a:ln w="25400">
            <a:solidFill>
              <a:srgbClr val="A5B8EF"/>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11173968" y="2852928"/>
            <a:ext cx="512064" cy="512064"/>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V="1">
            <a:off x="10058400" y="548639"/>
            <a:ext cx="0" cy="1554481"/>
          </a:xfrm>
          <a:prstGeom prst="line">
            <a:avLst/>
          </a:prstGeom>
          <a:ln w="25400">
            <a:solidFill>
              <a:srgbClr val="A5B8EF"/>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9802368" y="292607"/>
            <a:ext cx="512064" cy="512064"/>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555480" y="1600199"/>
            <a:ext cx="1005840" cy="100584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Without a cache, one answer repeats its work</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2</a:t>
            </a:r>
          </a:p>
        </p:txBody>
      </p:sp>
      <p:sp>
        <p:nvSpPr>
          <p:cNvPr id="5" name="Rounded Rectangle 4"/>
          <p:cNvSpPr/>
          <p:nvPr/>
        </p:nvSpPr>
        <p:spPr>
          <a:xfrm>
            <a:off x="640080" y="1737360"/>
            <a:ext cx="4754880" cy="4023360"/>
          </a:xfrm>
          <a:prstGeom prst="roundRect">
            <a:avLst>
              <a:gd name="adj" fmla="val 12000"/>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03120"/>
            <a:ext cx="4023360" cy="1737360"/>
          </a:xfrm>
          <a:prstGeom prst="rect">
            <a:avLst/>
          </a:prstGeom>
          <a:noFill/>
        </p:spPr>
        <p:txBody>
          <a:bodyPr wrap="square" lIns="0" rIns="0" tIns="0" bIns="0" anchor="ctr">
            <a:spAutoFit/>
          </a:bodyPr>
          <a:lstStyle/>
          <a:p>
            <a:pPr algn="l"/>
            <a:r>
              <a:rPr sz="7200" b="1" i="0">
                <a:solidFill>
                  <a:srgbClr val="1D4ED8"/>
                </a:solidFill>
                <a:latin typeface="Calibri"/>
              </a:rPr>
              <a:t>339,900</a:t>
            </a:r>
          </a:p>
        </p:txBody>
      </p:sp>
      <p:sp>
        <p:nvSpPr>
          <p:cNvPr id="7" name="TextBox 6"/>
          <p:cNvSpPr txBox="1"/>
          <p:nvPr/>
        </p:nvSpPr>
        <p:spPr>
          <a:xfrm>
            <a:off x="1005840" y="3931920"/>
            <a:ext cx="4023360" cy="1097280"/>
          </a:xfrm>
          <a:prstGeom prst="rect">
            <a:avLst/>
          </a:prstGeom>
          <a:noFill/>
        </p:spPr>
        <p:txBody>
          <a:bodyPr wrap="square" lIns="0" rIns="0" tIns="0" bIns="0" anchor="t">
            <a:spAutoFit/>
          </a:bodyPr>
          <a:lstStyle/>
          <a:p>
            <a:pPr algn="l"/>
            <a:r>
              <a:rPr sz="1800" b="0" i="0">
                <a:solidFill>
                  <a:srgbClr val="1F2933"/>
                </a:solidFill>
                <a:latin typeface="Calibri"/>
              </a:rPr>
              <a:t>token passes for one 200-token answer, with no KV cache</a:t>
            </a:r>
          </a:p>
        </p:txBody>
      </p:sp>
      <p:sp>
        <p:nvSpPr>
          <p:cNvPr id="8" name="TextBox 7"/>
          <p:cNvSpPr txBox="1"/>
          <p:nvPr/>
        </p:nvSpPr>
        <p:spPr>
          <a:xfrm>
            <a:off x="1005840" y="5120640"/>
            <a:ext cx="4023360" cy="457200"/>
          </a:xfrm>
          <a:prstGeom prst="rect">
            <a:avLst/>
          </a:prstGeom>
          <a:noFill/>
        </p:spPr>
        <p:txBody>
          <a:bodyPr wrap="square" lIns="0" rIns="0" tIns="0" bIns="0" anchor="t">
            <a:spAutoFit/>
          </a:bodyPr>
          <a:lstStyle/>
          <a:p>
            <a:pPr algn="l"/>
            <a:r>
              <a:rPr sz="1100" b="0" i="0">
                <a:solidFill>
                  <a:srgbClr val="6B7280"/>
                </a:solidFill>
                <a:latin typeface="Calibri"/>
              </a:rPr>
              <a:t>Source: Lesson 01, step 2 (counted, not timed)</a:t>
            </a:r>
          </a:p>
        </p:txBody>
      </p:sp>
      <p:sp>
        <p:nvSpPr>
          <p:cNvPr id="9" name="TextBox 8"/>
          <p:cNvSpPr txBox="1"/>
          <p:nvPr/>
        </p:nvSpPr>
        <p:spPr>
          <a:xfrm>
            <a:off x="5943600" y="2011680"/>
            <a:ext cx="5577840" cy="3657600"/>
          </a:xfrm>
          <a:prstGeom prst="rect">
            <a:avLst/>
          </a:prstGeom>
          <a:noFill/>
        </p:spPr>
        <p:txBody>
          <a:bodyPr wrap="square" lIns="0" rIns="0" tIns="0" bIns="0">
            <a:spAutoFit/>
          </a:bodyPr>
          <a:lstStyle/>
          <a:p>
            <a:pPr>
              <a:spcAft>
                <a:spcPts val="1000"/>
              </a:spcAft>
            </a:pPr>
            <a:r>
              <a:rPr sz="1300">
                <a:solidFill>
                  <a:srgbClr val="1D4ED8"/>
                </a:solidFill>
                <a:latin typeface="Calibri"/>
              </a:rPr>
              <a:t>●  </a:t>
            </a:r>
            <a:r>
              <a:rPr sz="1900">
                <a:solidFill>
                  <a:srgbClr val="1F2933"/>
                </a:solidFill>
                <a:latin typeface="Calibri"/>
              </a:rPr>
              <a:t>With the cache: 1,800 passes</a:t>
            </a:r>
          </a:p>
          <a:p>
            <a:pPr>
              <a:spcAft>
                <a:spcPts val="1000"/>
              </a:spcAft>
            </a:pPr>
            <a:r>
              <a:rPr sz="1300">
                <a:solidFill>
                  <a:srgbClr val="1D4ED8"/>
                </a:solidFill>
                <a:latin typeface="Calibri"/>
              </a:rPr>
              <a:t>●  </a:t>
            </a:r>
            <a:r>
              <a:rPr sz="1900">
                <a:solidFill>
                  <a:srgbClr val="1F2933"/>
                </a:solidFill>
                <a:latin typeface="Calibri"/>
              </a:rPr>
              <a:t>The gap grows with answer length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Notes let the chef skip rereading the order</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3</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A chef writing a reply</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Notes on the order so far, one word at a time</a:t>
            </a:r>
          </a:p>
        </p:txBody>
      </p:sp>
      <p:sp>
        <p:nvSpPr>
          <p:cNvPr id="9" name="Rounded Rectangle 8"/>
          <p:cNvSpPr/>
          <p:nvPr/>
        </p:nvSpPr>
        <p:spPr>
          <a:xfrm>
            <a:off x="6428232" y="1828800"/>
            <a:ext cx="5120640" cy="3017520"/>
          </a:xfrm>
          <a:prstGeom prst="roundRect">
            <a:avLst>
              <a:gd name="adj" fmla="val 12000"/>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1D4ED8"/>
                </a:solidFill>
                <a:latin typeface="Calibri"/>
              </a:rPr>
              <a:t>The KV cache</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Keys and values of earlier tokens, kept</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1D4ED8"/>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Notes cost GPU memory per token, per open request; cost grows with answer length and users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The KV cache keeps earlier keys and values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4</a:t>
            </a:r>
          </a:p>
        </p:txBody>
      </p:sp>
      <p:sp>
        <p:nvSpPr>
          <p:cNvPr id="5" name="Rounded Rectangle 4"/>
          <p:cNvSpPr/>
          <p:nvPr/>
        </p:nvSpPr>
        <p:spPr>
          <a:xfrm>
            <a:off x="640080" y="1508760"/>
            <a:ext cx="10908792" cy="1417320"/>
          </a:xfrm>
          <a:prstGeom prst="roundRect">
            <a:avLst>
              <a:gd name="adj" fmla="val 12000"/>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The stored keys and values of earlier tokens, so they are not recomputed.</a:t>
            </a:r>
          </a:p>
        </p:txBody>
      </p:sp>
      <p:sp>
        <p:nvSpPr>
          <p:cNvPr id="7" name="Rounded Rectangle 6"/>
          <p:cNvSpPr/>
          <p:nvPr/>
        </p:nvSpPr>
        <p:spPr>
          <a:xfrm>
            <a:off x="640080"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2904744" cy="777240"/>
          </a:xfrm>
          <a:prstGeom prst="rect">
            <a:avLst/>
          </a:prstGeom>
          <a:noFill/>
        </p:spPr>
        <p:txBody>
          <a:bodyPr wrap="square" lIns="0" rIns="0" tIns="0" bIns="0" anchor="b">
            <a:spAutoFit/>
          </a:bodyPr>
          <a:lstStyle/>
          <a:p>
            <a:pPr algn="l"/>
            <a:r>
              <a:rPr sz="2100" b="1" i="0">
                <a:solidFill>
                  <a:srgbClr val="1D4ED8"/>
                </a:solidFill>
                <a:latin typeface="Calibri"/>
              </a:rPr>
              <a:t>Prefill</a:t>
            </a:r>
          </a:p>
        </p:txBody>
      </p:sp>
      <p:sp>
        <p:nvSpPr>
          <p:cNvPr id="9" name="TextBox 8"/>
          <p:cNvSpPr txBox="1"/>
          <p:nvPr/>
        </p:nvSpPr>
        <p:spPr>
          <a:xfrm>
            <a:off x="914400"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One pass over the prompt</a:t>
            </a:r>
          </a:p>
        </p:txBody>
      </p:sp>
      <p:sp>
        <p:nvSpPr>
          <p:cNvPr id="10" name="Rounded Rectangle 9"/>
          <p:cNvSpPr/>
          <p:nvPr/>
        </p:nvSpPr>
        <p:spPr>
          <a:xfrm>
            <a:off x="4367784"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42104" y="3337560"/>
            <a:ext cx="2904744" cy="777240"/>
          </a:xfrm>
          <a:prstGeom prst="rect">
            <a:avLst/>
          </a:prstGeom>
          <a:noFill/>
        </p:spPr>
        <p:txBody>
          <a:bodyPr wrap="square" lIns="0" rIns="0" tIns="0" bIns="0" anchor="b">
            <a:spAutoFit/>
          </a:bodyPr>
          <a:lstStyle/>
          <a:p>
            <a:pPr algn="l"/>
            <a:r>
              <a:rPr sz="2100" b="1" i="0">
                <a:solidFill>
                  <a:srgbClr val="1D4ED8"/>
                </a:solidFill>
                <a:latin typeface="Calibri"/>
              </a:rPr>
              <a:t>Decode</a:t>
            </a:r>
          </a:p>
        </p:txBody>
      </p:sp>
      <p:sp>
        <p:nvSpPr>
          <p:cNvPr id="12" name="TextBox 11"/>
          <p:cNvSpPr txBox="1"/>
          <p:nvPr/>
        </p:nvSpPr>
        <p:spPr>
          <a:xfrm>
            <a:off x="4642104"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One new token per step</a:t>
            </a:r>
          </a:p>
        </p:txBody>
      </p:sp>
      <p:sp>
        <p:nvSpPr>
          <p:cNvPr id="13" name="Rounded Rectangle 12"/>
          <p:cNvSpPr/>
          <p:nvPr/>
        </p:nvSpPr>
        <p:spPr>
          <a:xfrm>
            <a:off x="8095488"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69808" y="3337560"/>
            <a:ext cx="2904744" cy="777240"/>
          </a:xfrm>
          <a:prstGeom prst="rect">
            <a:avLst/>
          </a:prstGeom>
          <a:noFill/>
        </p:spPr>
        <p:txBody>
          <a:bodyPr wrap="square" lIns="0" rIns="0" tIns="0" bIns="0" anchor="b">
            <a:spAutoFit/>
          </a:bodyPr>
          <a:lstStyle/>
          <a:p>
            <a:pPr algn="l"/>
            <a:r>
              <a:rPr sz="2100" b="1" i="0">
                <a:solidFill>
                  <a:srgbClr val="1D4ED8"/>
                </a:solidFill>
                <a:latin typeface="Calibri"/>
              </a:rPr>
              <a:t>KV head</a:t>
            </a:r>
          </a:p>
        </p:txBody>
      </p:sp>
      <p:sp>
        <p:nvSpPr>
          <p:cNvPr id="15" name="TextBox 14"/>
          <p:cNvSpPr txBox="1"/>
          <p:nvPr/>
        </p:nvSpPr>
        <p:spPr>
          <a:xfrm>
            <a:off x="8369808"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A head whose keys and values are kept</a:t>
            </a:r>
          </a:p>
        </p:txBody>
      </p:sp>
      <p:sp>
        <p:nvSpPr>
          <p:cNvPr id="16" name="TextBox 15"/>
          <p:cNvSpPr txBox="1"/>
          <p:nvPr/>
        </p:nvSpPr>
        <p:spPr>
          <a:xfrm>
            <a:off x="640080" y="5486400"/>
            <a:ext cx="10881360" cy="548640"/>
          </a:xfrm>
          <a:prstGeom prst="rect">
            <a:avLst/>
          </a:prstGeom>
          <a:noFill/>
        </p:spPr>
        <p:txBody>
          <a:bodyPr wrap="square" lIns="0" rIns="0" tIns="0" bIns="0" anchor="t">
            <a:spAutoFit/>
          </a:bodyPr>
          <a:lstStyle/>
          <a:p>
            <a:pPr algn="l"/>
            <a:r>
              <a:rPr sz="1700" b="0" i="1">
                <a:solidFill>
                  <a:srgbClr val="6B7280"/>
                </a:solidFill>
                <a:latin typeface="Calibri"/>
              </a:rPr>
              <a:t>Example: 2 × 32 layers × 8 KV heads × 128 × 2 bytes = 128 KiB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Start small: count passes with and without cache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5</a:t>
            </a:r>
          </a:p>
        </p:txBody>
      </p:sp>
      <p:sp>
        <p:nvSpPr>
          <p:cNvPr id="5" name="Rounded Rectangle 4"/>
          <p:cNvSpPr/>
          <p:nvPr/>
        </p:nvSpPr>
        <p:spPr>
          <a:xfrm>
            <a:off x="640080" y="1554480"/>
            <a:ext cx="7315200" cy="1481328"/>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231136"/>
            <a:ext cx="7168896" cy="292608"/>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6858000" cy="1207008"/>
          </a:xfrm>
          <a:prstGeom prst="rect">
            <a:avLst/>
          </a:prstGeom>
          <a:noFill/>
        </p:spPr>
        <p:txBody>
          <a:bodyPr wrap="none" lIns="0" rIns="0" tIns="0" bIns="0">
            <a:noAutofit/>
          </a:bodyPr>
          <a:lstStyle/>
          <a:p>
            <a:pPr algn="l">
              <a:lnSpc>
                <a:spcPct val="112000"/>
              </a:lnSpc>
            </a:pPr>
            <a:r>
              <a:rPr sz="1500" b="0" i="0">
                <a:solidFill>
                  <a:srgbClr val="1F2933"/>
                </a:solidFill>
                <a:latin typeface="Consolas"/>
              </a:rPr>
              <a:t>ANSWER_TOKENS = </a:t>
            </a:r>
            <a:r>
              <a:rPr sz="1500" b="0" i="0">
                <a:solidFill>
                  <a:srgbClr val="C2410C"/>
                </a:solidFill>
                <a:latin typeface="Consolas"/>
              </a:rPr>
              <a:t>200</a:t>
            </a:r>
            <a:r>
              <a:rPr sz="1500" b="0" i="0">
                <a:solidFill>
                  <a:srgbClr val="1F2933"/>
                </a:solidFill>
                <a:latin typeface="Consolas"/>
              </a:rPr>
              <a:t>      </a:t>
            </a:r>
            <a:r>
              <a:rPr sz="1500" b="0" i="1">
                <a:solidFill>
                  <a:srgbClr val="6B7280"/>
                </a:solidFill>
                <a:latin typeface="Consolas"/>
              </a:rPr>
              <a:t># the answer (assumed)</a:t>
            </a:r>
          </a:p>
          <a:p>
            <a:pPr algn="l">
              <a:lnSpc>
                <a:spcPct val="112000"/>
              </a:lnSpc>
            </a:pPr>
            <a:r>
              <a:rPr sz="1500" b="0" i="1">
                <a:solidFill>
                  <a:srgbClr val="6B7280"/>
                </a:solidFill>
                <a:latin typeface="Consolas"/>
              </a:rPr>
              <a:t># PROMPT = 1,600: the 1,500 policy plus the 100 question</a:t>
            </a:r>
          </a:p>
          <a:p>
            <a:pPr algn="l">
              <a:lnSpc>
                <a:spcPct val="112000"/>
              </a:lnSpc>
            </a:pPr>
            <a:r>
              <a:rPr sz="1500" b="0" i="0">
                <a:solidFill>
                  <a:srgbClr val="1F2933"/>
                </a:solidFill>
                <a:latin typeface="Consolas"/>
              </a:rPr>
              <a:t>cached = token_passes(PROMPT, ANSWER_TOKENS, kv_cache=</a:t>
            </a:r>
            <a:r>
              <a:rPr sz="1500" b="1" i="0">
                <a:solidFill>
                  <a:srgbClr val="1D4ED8"/>
                </a:solidFill>
                <a:latin typeface="Consolas"/>
              </a:rPr>
              <a:t>True</a:t>
            </a:r>
            <a:r>
              <a:rPr sz="1500" b="0" i="0">
                <a:solidFill>
                  <a:srgbClr val="1F2933"/>
                </a:solidFill>
                <a:latin typeface="Consolas"/>
              </a:rPr>
              <a:t>)</a:t>
            </a:r>
          </a:p>
          <a:p>
            <a:pPr algn="l">
              <a:lnSpc>
                <a:spcPct val="112000"/>
              </a:lnSpc>
            </a:pPr>
            <a:r>
              <a:rPr sz="1500" b="0" i="0">
                <a:solidFill>
                  <a:srgbClr val="0E7490"/>
                </a:solidFill>
                <a:latin typeface="Consolas"/>
              </a:rPr>
              <a:t>print</a:t>
            </a:r>
            <a:r>
              <a:rPr sz="1500" b="0" i="0">
                <a:solidFill>
                  <a:srgbClr val="1F2933"/>
                </a:solidFill>
                <a:latin typeface="Consolas"/>
              </a:rPr>
              <a:t>(</a:t>
            </a:r>
            <a:r>
              <a:rPr sz="1500" b="0" i="0">
                <a:solidFill>
                  <a:srgbClr val="B45309"/>
                </a:solidFill>
                <a:latin typeface="Consolas"/>
              </a:rPr>
              <a:t>f"with KV cache:    {</a:t>
            </a:r>
            <a:r>
              <a:rPr sz="1500" b="0" i="0">
                <a:solidFill>
                  <a:srgbClr val="1F2933"/>
                </a:solidFill>
                <a:latin typeface="Consolas"/>
              </a:rPr>
              <a:t>cached</a:t>
            </a:r>
            <a:r>
              <a:rPr sz="1500" b="0" i="0">
                <a:solidFill>
                  <a:srgbClr val="B45309"/>
                </a:solidFill>
                <a:latin typeface="Consolas"/>
              </a:rPr>
              <a:t>:,} token passes"</a:t>
            </a:r>
            <a:r>
              <a:rPr sz="1500" b="0" i="0">
                <a:solidFill>
                  <a:srgbClr val="1F2933"/>
                </a:solidFill>
                <a:latin typeface="Consolas"/>
              </a:rPr>
              <a:t>)</a:t>
            </a:r>
          </a:p>
        </p:txBody>
      </p:sp>
      <p:sp>
        <p:nvSpPr>
          <p:cNvPr id="8" name="Rounded Rectangle 7"/>
          <p:cNvSpPr/>
          <p:nvPr/>
        </p:nvSpPr>
        <p:spPr>
          <a:xfrm>
            <a:off x="640080" y="3145536"/>
            <a:ext cx="7315200" cy="658368"/>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218688"/>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0" name="TextBox 9"/>
          <p:cNvSpPr txBox="1"/>
          <p:nvPr/>
        </p:nvSpPr>
        <p:spPr>
          <a:xfrm>
            <a:off x="1828800" y="3236976"/>
            <a:ext cx="5943600" cy="384048"/>
          </a:xfrm>
          <a:prstGeom prst="rect">
            <a:avLst/>
          </a:prstGeom>
          <a:noFill/>
        </p:spPr>
        <p:txBody>
          <a:bodyPr wrap="square" lIns="0" rIns="0" tIns="0" bIns="0" anchor="t">
            <a:spAutoFit/>
          </a:bodyPr>
          <a:lstStyle/>
          <a:p>
            <a:pPr algn="l"/>
            <a:r>
              <a:rPr sz="1600" b="0" i="0">
                <a:solidFill>
                  <a:srgbClr val="E5E7EB"/>
                </a:solidFill>
                <a:latin typeface="Consolas"/>
              </a:rPr>
              <a:t>with KV cache:    1,800 token passes</a:t>
            </a:r>
          </a:p>
        </p:txBody>
      </p:sp>
      <p:sp>
        <p:nvSpPr>
          <p:cNvPr id="11" name="TextBox 10"/>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1D4ED8"/>
                </a:solidFill>
                <a:latin typeface="Calibri"/>
              </a:rPr>
              <a:t>●  </a:t>
            </a:r>
            <a:r>
              <a:rPr sz="1900">
                <a:solidFill>
                  <a:srgbClr val="1F2933"/>
                </a:solidFill>
                <a:latin typeface="Calibri"/>
              </a:rPr>
              <a:t>Prefill once, then one token per step</a:t>
            </a:r>
          </a:p>
          <a:p>
            <a:pPr>
              <a:spcAft>
                <a:spcPts val="1000"/>
              </a:spcAft>
            </a:pPr>
            <a:r>
              <a:rPr sz="1300">
                <a:solidFill>
                  <a:srgbClr val="1D4ED8"/>
                </a:solidFill>
                <a:latin typeface="Calibri"/>
              </a:rPr>
              <a:t>●  </a:t>
            </a:r>
            <a:r>
              <a:rPr sz="1900">
                <a:solidFill>
                  <a:srgbClr val="1F2933"/>
                </a:solidFill>
                <a:latin typeface="Calibri"/>
              </a:rPr>
              <a:t>Same prompt and answer both times</a:t>
            </a:r>
          </a:p>
          <a:p>
            <a:pPr>
              <a:spcAft>
                <a:spcPts val="1000"/>
              </a:spcAft>
            </a:pPr>
            <a:r>
              <a:rPr sz="1300">
                <a:solidFill>
                  <a:srgbClr val="1D4ED8"/>
                </a:solidFill>
                <a:latin typeface="Calibri"/>
              </a:rPr>
              <a:t>●  </a:t>
            </a:r>
            <a:r>
              <a:rPr sz="1900">
                <a:solidFill>
                  <a:srgbClr val="1F2933"/>
                </a:solidFill>
                <a:latin typeface="Calibri"/>
              </a:rPr>
              <a:t>Counted, not timed</a:t>
            </a:r>
          </a:p>
        </p:txBody>
      </p:sp>
      <p:sp>
        <p:nvSpPr>
          <p:cNvPr id="12" name="TextBox 11"/>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Count KV heads, not query heads: 8x less cache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6</a:t>
            </a:r>
          </a:p>
        </p:txBody>
      </p:sp>
      <p:sp>
        <p:nvSpPr>
          <p:cNvPr id="5" name="Rounded Rectangle 4"/>
          <p:cNvSpPr/>
          <p:nvPr/>
        </p:nvSpPr>
        <p:spPr>
          <a:xfrm>
            <a:off x="640080" y="1554480"/>
            <a:ext cx="7315200" cy="1549603"/>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1992172"/>
            <a:ext cx="7168896" cy="309676"/>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1" y="2265273"/>
            <a:ext cx="7168896" cy="309676"/>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6858000" cy="1275283"/>
          </a:xfrm>
          <a:prstGeom prst="rect">
            <a:avLst/>
          </a:prstGeom>
          <a:noFill/>
        </p:spPr>
        <p:txBody>
          <a:bodyPr wrap="none" lIns="0" rIns="0" tIns="0" bIns="0">
            <a:noAutofit/>
          </a:bodyPr>
          <a:lstStyle/>
          <a:p>
            <a:pPr algn="l">
              <a:lnSpc>
                <a:spcPct val="112000"/>
              </a:lnSpc>
            </a:pPr>
            <a:r>
              <a:rPr sz="1600" b="0" i="1">
                <a:solidFill>
                  <a:srgbClr val="6B7280"/>
                </a:solidFill>
                <a:latin typeface="Consolas"/>
              </a:rPr>
              <a:t># 2=K and V, 80=layers, 128=head size, 2=bytes</a:t>
            </a:r>
          </a:p>
          <a:p>
            <a:pPr algn="l">
              <a:lnSpc>
                <a:spcPct val="112000"/>
              </a:lnSpc>
            </a:pPr>
            <a:r>
              <a:rPr sz="1600" b="0" i="0">
                <a:solidFill>
                  <a:srgbClr val="1F2933"/>
                </a:solidFill>
                <a:latin typeface="Consolas"/>
              </a:rPr>
              <a:t>wrong = </a:t>
            </a:r>
            <a:r>
              <a:rPr sz="1600" b="0" i="0">
                <a:solidFill>
                  <a:srgbClr val="C2410C"/>
                </a:solidFill>
                <a:latin typeface="Consolas"/>
              </a:rPr>
              <a:t>2</a:t>
            </a:r>
            <a:r>
              <a:rPr sz="1600" b="0" i="0">
                <a:solidFill>
                  <a:srgbClr val="1F2933"/>
                </a:solidFill>
                <a:latin typeface="Consolas"/>
              </a:rPr>
              <a:t> * </a:t>
            </a:r>
            <a:r>
              <a:rPr sz="1600" b="0" i="0">
                <a:solidFill>
                  <a:srgbClr val="C2410C"/>
                </a:solidFill>
                <a:latin typeface="Consolas"/>
              </a:rPr>
              <a:t>80</a:t>
            </a:r>
            <a:r>
              <a:rPr sz="1600" b="0" i="0">
                <a:solidFill>
                  <a:srgbClr val="1F2933"/>
                </a:solidFill>
                <a:latin typeface="Consolas"/>
              </a:rPr>
              <a:t> * </a:t>
            </a:r>
            <a:r>
              <a:rPr sz="1600" b="0" i="0">
                <a:solidFill>
                  <a:srgbClr val="C2410C"/>
                </a:solidFill>
                <a:latin typeface="Consolas"/>
              </a:rPr>
              <a:t>64</a:t>
            </a:r>
            <a:r>
              <a:rPr sz="1600" b="0" i="0">
                <a:solidFill>
                  <a:srgbClr val="1F2933"/>
                </a:solidFill>
                <a:latin typeface="Consolas"/>
              </a:rPr>
              <a:t> * </a:t>
            </a:r>
            <a:r>
              <a:rPr sz="1600" b="0" i="0">
                <a:solidFill>
                  <a:srgbClr val="C2410C"/>
                </a:solidFill>
                <a:latin typeface="Consolas"/>
              </a:rPr>
              <a:t>128</a:t>
            </a:r>
            <a:r>
              <a:rPr sz="1600" b="0" i="0">
                <a:solidFill>
                  <a:srgbClr val="1F2933"/>
                </a:solidFill>
                <a:latin typeface="Consolas"/>
              </a:rPr>
              <a:t> * </a:t>
            </a:r>
            <a:r>
              <a:rPr sz="1600" b="0" i="0">
                <a:solidFill>
                  <a:srgbClr val="C2410C"/>
                </a:solidFill>
                <a:latin typeface="Consolas"/>
              </a:rPr>
              <a:t>2</a:t>
            </a:r>
            <a:r>
              <a:rPr sz="1600" b="0" i="0">
                <a:solidFill>
                  <a:srgbClr val="1F2933"/>
                </a:solidFill>
                <a:latin typeface="Consolas"/>
              </a:rPr>
              <a:t>   </a:t>
            </a:r>
            <a:r>
              <a:rPr sz="1600" b="0" i="1">
                <a:solidFill>
                  <a:srgbClr val="6B7280"/>
                </a:solidFill>
                <a:latin typeface="Consolas"/>
              </a:rPr>
              <a:t># 64 query heads: wrong</a:t>
            </a:r>
          </a:p>
          <a:p>
            <a:pPr algn="l">
              <a:lnSpc>
                <a:spcPct val="112000"/>
              </a:lnSpc>
            </a:pPr>
            <a:r>
              <a:rPr sz="1600" b="0" i="0">
                <a:solidFill>
                  <a:srgbClr val="1F2933"/>
                </a:solidFill>
                <a:latin typeface="Consolas"/>
              </a:rPr>
              <a:t>right = </a:t>
            </a:r>
            <a:r>
              <a:rPr sz="1600" b="0" i="0">
                <a:solidFill>
                  <a:srgbClr val="C2410C"/>
                </a:solidFill>
                <a:latin typeface="Consolas"/>
              </a:rPr>
              <a:t>2</a:t>
            </a:r>
            <a:r>
              <a:rPr sz="1600" b="0" i="0">
                <a:solidFill>
                  <a:srgbClr val="1F2933"/>
                </a:solidFill>
                <a:latin typeface="Consolas"/>
              </a:rPr>
              <a:t> * </a:t>
            </a:r>
            <a:r>
              <a:rPr sz="1600" b="0" i="0">
                <a:solidFill>
                  <a:srgbClr val="C2410C"/>
                </a:solidFill>
                <a:latin typeface="Consolas"/>
              </a:rPr>
              <a:t>80</a:t>
            </a:r>
            <a:r>
              <a:rPr sz="1600" b="0" i="0">
                <a:solidFill>
                  <a:srgbClr val="1F2933"/>
                </a:solidFill>
                <a:latin typeface="Consolas"/>
              </a:rPr>
              <a:t> * </a:t>
            </a:r>
            <a:r>
              <a:rPr sz="1600" b="0" i="0">
                <a:solidFill>
                  <a:srgbClr val="C2410C"/>
                </a:solidFill>
                <a:latin typeface="Consolas"/>
              </a:rPr>
              <a:t>8</a:t>
            </a:r>
            <a:r>
              <a:rPr sz="1600" b="0" i="0">
                <a:solidFill>
                  <a:srgbClr val="1F2933"/>
                </a:solidFill>
                <a:latin typeface="Consolas"/>
              </a:rPr>
              <a:t> * </a:t>
            </a:r>
            <a:r>
              <a:rPr sz="1600" b="0" i="0">
                <a:solidFill>
                  <a:srgbClr val="C2410C"/>
                </a:solidFill>
                <a:latin typeface="Consolas"/>
              </a:rPr>
              <a:t>128</a:t>
            </a:r>
            <a:r>
              <a:rPr sz="1600" b="0" i="0">
                <a:solidFill>
                  <a:srgbClr val="1F2933"/>
                </a:solidFill>
                <a:latin typeface="Consolas"/>
              </a:rPr>
              <a:t> * </a:t>
            </a:r>
            <a:r>
              <a:rPr sz="1600" b="0" i="0">
                <a:solidFill>
                  <a:srgbClr val="C2410C"/>
                </a:solidFill>
                <a:latin typeface="Consolas"/>
              </a:rPr>
              <a:t>2</a:t>
            </a:r>
            <a:r>
              <a:rPr sz="1600" b="0" i="0">
                <a:solidFill>
                  <a:srgbClr val="1F2933"/>
                </a:solidFill>
                <a:latin typeface="Consolas"/>
              </a:rPr>
              <a:t>    </a:t>
            </a:r>
            <a:r>
              <a:rPr sz="1600" b="0" i="1">
                <a:solidFill>
                  <a:srgbClr val="6B7280"/>
                </a:solidFill>
                <a:latin typeface="Consolas"/>
              </a:rPr>
              <a:t># 8 KV heads: right</a:t>
            </a:r>
          </a:p>
          <a:p>
            <a:pPr algn="l">
              <a:lnSpc>
                <a:spcPct val="112000"/>
              </a:lnSpc>
            </a:pPr>
            <a:r>
              <a:rPr sz="1600" b="0" i="1">
                <a:solidFill>
                  <a:srgbClr val="6B7280"/>
                </a:solidFill>
                <a:latin typeface="Consolas"/>
              </a:rPr>
              <a:t># lesson 03 prints both sizes, labelled wrong and right</a:t>
            </a:r>
          </a:p>
        </p:txBody>
      </p:sp>
      <p:sp>
        <p:nvSpPr>
          <p:cNvPr id="9" name="Rounded Rectangle 8"/>
          <p:cNvSpPr/>
          <p:nvPr/>
        </p:nvSpPr>
        <p:spPr>
          <a:xfrm>
            <a:off x="640080" y="3213811"/>
            <a:ext cx="7315200" cy="658368"/>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286963"/>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1" name="TextBox 10"/>
          <p:cNvSpPr txBox="1"/>
          <p:nvPr/>
        </p:nvSpPr>
        <p:spPr>
          <a:xfrm>
            <a:off x="1828800" y="3305251"/>
            <a:ext cx="5943600" cy="384048"/>
          </a:xfrm>
          <a:prstGeom prst="rect">
            <a:avLst/>
          </a:prstGeom>
          <a:noFill/>
        </p:spPr>
        <p:txBody>
          <a:bodyPr wrap="square" lIns="0" rIns="0" tIns="0" bIns="0" anchor="t">
            <a:spAutoFit/>
          </a:bodyPr>
          <a:lstStyle/>
          <a:p>
            <a:pPr algn="l"/>
            <a:r>
              <a:rPr sz="1600" b="0" i="0">
                <a:solidFill>
                  <a:srgbClr val="E5E7EB"/>
                </a:solidFill>
                <a:latin typeface="Consolas"/>
              </a:rPr>
              <a:t>wrong: 2560 KiB per token, right: 320 KiB per token</a:t>
            </a:r>
          </a:p>
        </p:txBody>
      </p:sp>
      <p:sp>
        <p:nvSpPr>
          <p:cNvPr id="12" name="TextBox 11"/>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1D4ED8"/>
                </a:solidFill>
                <a:latin typeface="Calibri"/>
              </a:rPr>
              <a:t>●  </a:t>
            </a:r>
            <a:r>
              <a:rPr sz="1900">
                <a:solidFill>
                  <a:srgbClr val="1F2933"/>
                </a:solidFill>
                <a:latin typeface="Calibri"/>
              </a:rPr>
              <a:t>The cache stores KV heads, not query heads</a:t>
            </a:r>
          </a:p>
          <a:p>
            <a:pPr>
              <a:spcAft>
                <a:spcPts val="1000"/>
              </a:spcAft>
            </a:pPr>
            <a:r>
              <a:rPr sz="1300">
                <a:solidFill>
                  <a:srgbClr val="1D4ED8"/>
                </a:solidFill>
                <a:latin typeface="Calibri"/>
              </a:rPr>
              <a:t>●  </a:t>
            </a:r>
            <a:r>
              <a:rPr sz="1900">
                <a:solidFill>
                  <a:srgbClr val="1F2933"/>
                </a:solidFill>
                <a:latin typeface="Calibri"/>
              </a:rPr>
              <a:t>70B config: 64 query heads, 8 KV heads</a:t>
            </a:r>
          </a:p>
          <a:p>
            <a:pPr>
              <a:spcAft>
                <a:spcPts val="1000"/>
              </a:spcAft>
            </a:pPr>
            <a:r>
              <a:rPr sz="1300">
                <a:solidFill>
                  <a:srgbClr val="1D4ED8"/>
                </a:solidFill>
                <a:latin typeface="Calibri"/>
              </a:rPr>
              <a:t>●  </a:t>
            </a:r>
            <a:r>
              <a:rPr sz="1900">
                <a:solidFill>
                  <a:srgbClr val="1F2933"/>
                </a:solidFill>
                <a:latin typeface="Calibri"/>
              </a:rPr>
              <a:t>Counting query heads overstates the cache 8x</a:t>
            </a:r>
          </a:p>
        </p:txBody>
      </p:sp>
      <p:sp>
        <p:nvSpPr>
          <p:cNvPr id="13" name="TextBox 12"/>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You will size, tune and defend a server</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7</a:t>
            </a:r>
          </a:p>
        </p:txBody>
      </p:sp>
      <p:sp>
        <p:nvSpPr>
          <p:cNvPr id="5" name="Rounded Rectangle 4"/>
          <p:cNvSpPr/>
          <p:nvPr/>
        </p:nvSpPr>
        <p:spPr>
          <a:xfrm>
            <a:off x="640080" y="1828800"/>
            <a:ext cx="2487168"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05840" y="2194560"/>
            <a:ext cx="777240" cy="777240"/>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an 6"/>
          <p:cNvSpPr/>
          <p:nvPr/>
        </p:nvSpPr>
        <p:spPr>
          <a:xfrm>
            <a:off x="1200150" y="2388870"/>
            <a:ext cx="388620" cy="388620"/>
          </a:xfrm>
          <a:prstGeom prst="can">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200400"/>
            <a:ext cx="1755647" cy="731520"/>
          </a:xfrm>
          <a:prstGeom prst="rect">
            <a:avLst/>
          </a:prstGeom>
          <a:noFill/>
        </p:spPr>
        <p:txBody>
          <a:bodyPr wrap="square" lIns="0" rIns="0" tIns="0" bIns="0" anchor="t">
            <a:spAutoFit/>
          </a:bodyPr>
          <a:lstStyle/>
          <a:p>
            <a:pPr algn="l"/>
            <a:r>
              <a:rPr sz="2200" b="1" i="0">
                <a:solidFill>
                  <a:srgbClr val="1F2933"/>
                </a:solidFill>
                <a:latin typeface="Calibri"/>
              </a:rPr>
              <a:t>Size</a:t>
            </a:r>
          </a:p>
        </p:txBody>
      </p:sp>
      <p:sp>
        <p:nvSpPr>
          <p:cNvPr id="9" name="TextBox 8"/>
          <p:cNvSpPr txBox="1"/>
          <p:nvPr/>
        </p:nvSpPr>
        <p:spPr>
          <a:xfrm>
            <a:off x="1005840" y="3931920"/>
            <a:ext cx="1755647" cy="1371600"/>
          </a:xfrm>
          <a:prstGeom prst="rect">
            <a:avLst/>
          </a:prstGeom>
          <a:noFill/>
        </p:spPr>
        <p:txBody>
          <a:bodyPr wrap="square" lIns="0" rIns="0" tIns="0" bIns="0" anchor="t">
            <a:spAutoFit/>
          </a:bodyPr>
          <a:lstStyle/>
          <a:p>
            <a:pPr algn="l"/>
            <a:r>
              <a:rPr sz="1700" b="0" i="0">
                <a:solidFill>
                  <a:srgbClr val="1F2933"/>
                </a:solidFill>
                <a:latin typeface="Calibri"/>
              </a:rPr>
              <a:t>KV cache bytes and max concurrency</a:t>
            </a:r>
          </a:p>
        </p:txBody>
      </p:sp>
      <p:sp>
        <p:nvSpPr>
          <p:cNvPr id="10" name="Rounded Rectangle 9"/>
          <p:cNvSpPr/>
          <p:nvPr/>
        </p:nvSpPr>
        <p:spPr>
          <a:xfrm>
            <a:off x="3447287" y="1828800"/>
            <a:ext cx="2487168"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813048" y="2194560"/>
            <a:ext cx="777240" cy="777240"/>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Gear 6 11"/>
          <p:cNvSpPr/>
          <p:nvPr/>
        </p:nvSpPr>
        <p:spPr>
          <a:xfrm>
            <a:off x="4007358" y="2388870"/>
            <a:ext cx="388620" cy="388620"/>
          </a:xfrm>
          <a:prstGeom prst="gear6">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13048" y="3200400"/>
            <a:ext cx="1755647" cy="731520"/>
          </a:xfrm>
          <a:prstGeom prst="rect">
            <a:avLst/>
          </a:prstGeom>
          <a:noFill/>
        </p:spPr>
        <p:txBody>
          <a:bodyPr wrap="square" lIns="0" rIns="0" tIns="0" bIns="0" anchor="t">
            <a:spAutoFit/>
          </a:bodyPr>
          <a:lstStyle/>
          <a:p>
            <a:pPr algn="l"/>
            <a:r>
              <a:rPr sz="2200" b="1" i="0">
                <a:solidFill>
                  <a:srgbClr val="1F2933"/>
                </a:solidFill>
                <a:latin typeface="Calibri"/>
              </a:rPr>
              <a:t>Tune</a:t>
            </a:r>
          </a:p>
        </p:txBody>
      </p:sp>
      <p:sp>
        <p:nvSpPr>
          <p:cNvPr id="14" name="TextBox 13"/>
          <p:cNvSpPr txBox="1"/>
          <p:nvPr/>
        </p:nvSpPr>
        <p:spPr>
          <a:xfrm>
            <a:off x="3813048" y="3931920"/>
            <a:ext cx="1755647" cy="1371600"/>
          </a:xfrm>
          <a:prstGeom prst="rect">
            <a:avLst/>
          </a:prstGeom>
          <a:noFill/>
        </p:spPr>
        <p:txBody>
          <a:bodyPr wrap="square" lIns="0" rIns="0" tIns="0" bIns="0" anchor="t">
            <a:spAutoFit/>
          </a:bodyPr>
          <a:lstStyle/>
          <a:p>
            <a:pPr algn="l"/>
            <a:r>
              <a:rPr sz="1700" b="0" i="0">
                <a:solidFill>
                  <a:srgbClr val="1F2933"/>
                </a:solidFill>
                <a:latin typeface="Calibri"/>
              </a:rPr>
              <a:t>An engine to a TTFT target</a:t>
            </a:r>
          </a:p>
        </p:txBody>
      </p:sp>
      <p:sp>
        <p:nvSpPr>
          <p:cNvPr id="15" name="Rounded Rectangle 14"/>
          <p:cNvSpPr/>
          <p:nvPr/>
        </p:nvSpPr>
        <p:spPr>
          <a:xfrm>
            <a:off x="6254496" y="1828800"/>
            <a:ext cx="2487168"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620256" y="2194560"/>
            <a:ext cx="777240" cy="777240"/>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loud 16"/>
          <p:cNvSpPr/>
          <p:nvPr/>
        </p:nvSpPr>
        <p:spPr>
          <a:xfrm>
            <a:off x="6814566" y="2388870"/>
            <a:ext cx="388620" cy="388620"/>
          </a:xfrm>
          <a:prstGeom prst="cloud">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20256" y="3200400"/>
            <a:ext cx="1755647" cy="731520"/>
          </a:xfrm>
          <a:prstGeom prst="rect">
            <a:avLst/>
          </a:prstGeom>
          <a:noFill/>
        </p:spPr>
        <p:txBody>
          <a:bodyPr wrap="square" lIns="0" rIns="0" tIns="0" bIns="0" anchor="t">
            <a:spAutoFit/>
          </a:bodyPr>
          <a:lstStyle/>
          <a:p>
            <a:pPr algn="l"/>
            <a:r>
              <a:rPr sz="2200" b="1" i="0">
                <a:solidFill>
                  <a:srgbClr val="1F2933"/>
                </a:solidFill>
                <a:latin typeface="Calibri"/>
              </a:rPr>
              <a:t>Scale</a:t>
            </a:r>
          </a:p>
        </p:txBody>
      </p:sp>
      <p:sp>
        <p:nvSpPr>
          <p:cNvPr id="19" name="TextBox 18"/>
          <p:cNvSpPr txBox="1"/>
          <p:nvPr/>
        </p:nvSpPr>
        <p:spPr>
          <a:xfrm>
            <a:off x="6620256" y="3931920"/>
            <a:ext cx="1755647" cy="1371600"/>
          </a:xfrm>
          <a:prstGeom prst="rect">
            <a:avLst/>
          </a:prstGeom>
          <a:noFill/>
        </p:spPr>
        <p:txBody>
          <a:bodyPr wrap="square" lIns="0" rIns="0" tIns="0" bIns="0" anchor="t">
            <a:spAutoFit/>
          </a:bodyPr>
          <a:lstStyle/>
          <a:p>
            <a:pPr algn="l"/>
            <a:r>
              <a:rPr sz="1700" b="0" i="0">
                <a:solidFill>
                  <a:srgbClr val="1F2933"/>
                </a:solidFill>
                <a:latin typeface="Calibri"/>
              </a:rPr>
              <a:t>Replicas, routing, cost per million tokens</a:t>
            </a:r>
          </a:p>
        </p:txBody>
      </p:sp>
      <p:sp>
        <p:nvSpPr>
          <p:cNvPr id="20" name="Rounded Rectangle 19"/>
          <p:cNvSpPr/>
          <p:nvPr/>
        </p:nvSpPr>
        <p:spPr>
          <a:xfrm>
            <a:off x="9061703" y="1828800"/>
            <a:ext cx="2487168"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427463" y="2194560"/>
            <a:ext cx="777240" cy="777240"/>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onut 21"/>
          <p:cNvSpPr/>
          <p:nvPr/>
        </p:nvSpPr>
        <p:spPr>
          <a:xfrm>
            <a:off x="9621774" y="2388870"/>
            <a:ext cx="388620" cy="388620"/>
          </a:xfrm>
          <a:prstGeom prst="donu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7463" y="3200400"/>
            <a:ext cx="1755647" cy="731520"/>
          </a:xfrm>
          <a:prstGeom prst="rect">
            <a:avLst/>
          </a:prstGeom>
          <a:noFill/>
        </p:spPr>
        <p:txBody>
          <a:bodyPr wrap="square" lIns="0" rIns="0" tIns="0" bIns="0" anchor="t">
            <a:spAutoFit/>
          </a:bodyPr>
          <a:lstStyle/>
          <a:p>
            <a:pPr algn="l"/>
            <a:r>
              <a:rPr sz="2200" b="1" i="0">
                <a:solidFill>
                  <a:srgbClr val="1F2933"/>
                </a:solidFill>
                <a:latin typeface="Calibri"/>
              </a:rPr>
              <a:t>Defend</a:t>
            </a:r>
          </a:p>
        </p:txBody>
      </p:sp>
      <p:sp>
        <p:nvSpPr>
          <p:cNvPr id="24" name="TextBox 23"/>
          <p:cNvSpPr txBox="1"/>
          <p:nvPr/>
        </p:nvSpPr>
        <p:spPr>
          <a:xfrm>
            <a:off x="9427463" y="3931920"/>
            <a:ext cx="1755647" cy="1371600"/>
          </a:xfrm>
          <a:prstGeom prst="rect">
            <a:avLst/>
          </a:prstGeom>
          <a:noFill/>
        </p:spPr>
        <p:txBody>
          <a:bodyPr wrap="square" lIns="0" rIns="0" tIns="0" bIns="0" anchor="t">
            <a:spAutoFit/>
          </a:bodyPr>
          <a:lstStyle/>
          <a:p>
            <a:pPr algn="l"/>
            <a:r>
              <a:rPr sz="1700" b="0" i="0">
                <a:solidFill>
                  <a:srgbClr val="1F2933"/>
                </a:solidFill>
                <a:latin typeface="Calibri"/>
              </a:rPr>
              <a:t>A rollout behind an eval gate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Brightside grows in four steps across six chapters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8</a:t>
            </a:r>
          </a:p>
        </p:txBody>
      </p:sp>
      <p:sp>
        <p:nvSpPr>
          <p:cNvPr id="5" name="Rounded Rectangle 4"/>
          <p:cNvSpPr/>
          <p:nvPr/>
        </p:nvSpPr>
        <p:spPr>
          <a:xfrm>
            <a:off x="640080" y="1645920"/>
            <a:ext cx="6949440" cy="41148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3131820"/>
            <a:ext cx="1453895"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1 Ask one question</a:t>
            </a:r>
          </a:p>
        </p:txBody>
      </p:sp>
      <p:cxnSp>
        <p:nvCxnSpPr>
          <p:cNvPr id="7" name="Connector 6"/>
          <p:cNvCxnSpPr/>
          <p:nvPr/>
        </p:nvCxnSpPr>
        <p:spPr>
          <a:xfrm>
            <a:off x="2322575" y="3703320"/>
            <a:ext cx="164593" cy="0"/>
          </a:xfrm>
          <a:prstGeom prst="line">
            <a:avLst/>
          </a:prstGeom>
          <a:ln w="25400">
            <a:solidFill>
              <a:srgbClr val="1D4E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532888" y="3131820"/>
            <a:ext cx="1453895"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2 Tuned and measured</a:t>
            </a:r>
          </a:p>
        </p:txBody>
      </p:sp>
      <p:cxnSp>
        <p:nvCxnSpPr>
          <p:cNvPr id="9" name="Connector 8"/>
          <p:cNvCxnSpPr/>
          <p:nvPr/>
        </p:nvCxnSpPr>
        <p:spPr>
          <a:xfrm>
            <a:off x="4032503" y="3703320"/>
            <a:ext cx="164593" cy="0"/>
          </a:xfrm>
          <a:prstGeom prst="line">
            <a:avLst/>
          </a:prstGeom>
          <a:ln w="25400">
            <a:solidFill>
              <a:srgbClr val="1D4E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242816" y="3131820"/>
            <a:ext cx="1453895"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3 Replicas and a gateway</a:t>
            </a:r>
          </a:p>
        </p:txBody>
      </p:sp>
      <p:cxnSp>
        <p:nvCxnSpPr>
          <p:cNvPr id="11" name="Connector 10"/>
          <p:cNvCxnSpPr/>
          <p:nvPr/>
        </p:nvCxnSpPr>
        <p:spPr>
          <a:xfrm>
            <a:off x="5742431" y="3703320"/>
            <a:ext cx="164593" cy="0"/>
          </a:xfrm>
          <a:prstGeom prst="line">
            <a:avLst/>
          </a:prstGeom>
          <a:ln w="25400">
            <a:solidFill>
              <a:srgbClr val="1D4E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952744" y="3131820"/>
            <a:ext cx="1453895" cy="1143000"/>
          </a:xfrm>
          <a:prstGeom prst="roundRect">
            <a:avLst>
              <a:gd name="adj" fmla="val 12000"/>
            </a:avLst>
          </a:prstGeom>
          <a:solidFill>
            <a:srgbClr val="1D4ED8"/>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1">
                <a:solidFill>
                  <a:srgbClr val="FFFFFF"/>
                </a:solidFill>
                <a:latin typeface="Calibri"/>
              </a:rPr>
              <a:t>4 Finish and run it</a:t>
            </a:r>
          </a:p>
        </p:txBody>
      </p:sp>
      <p:sp>
        <p:nvSpPr>
          <p:cNvPr id="13" name="TextBox 12"/>
          <p:cNvSpPr txBox="1"/>
          <p:nvPr/>
        </p:nvSpPr>
        <p:spPr>
          <a:xfrm>
            <a:off x="8001000" y="1920240"/>
            <a:ext cx="3566160" cy="3657600"/>
          </a:xfrm>
          <a:prstGeom prst="rect">
            <a:avLst/>
          </a:prstGeom>
          <a:noFill/>
        </p:spPr>
        <p:txBody>
          <a:bodyPr wrap="square" lIns="0" rIns="0" tIns="0" bIns="0">
            <a:spAutoFit/>
          </a:bodyPr>
          <a:lstStyle/>
          <a:p>
            <a:pPr>
              <a:spcAft>
                <a:spcPts val="1000"/>
              </a:spcAft>
            </a:pPr>
            <a:r>
              <a:rPr sz="1100">
                <a:solidFill>
                  <a:srgbClr val="1D4ED8"/>
                </a:solidFill>
                <a:latin typeface="Calibri"/>
              </a:rPr>
              <a:t>●  </a:t>
            </a:r>
            <a:r>
              <a:rPr sz="1700">
                <a:solidFill>
                  <a:srgbClr val="1F2933"/>
                </a:solidFill>
                <a:latin typeface="Calibri"/>
              </a:rPr>
              <a:t>After chapter 1 (lesson 09)</a:t>
            </a:r>
          </a:p>
          <a:p>
            <a:pPr>
              <a:spcAft>
                <a:spcPts val="1000"/>
              </a:spcAft>
            </a:pPr>
            <a:r>
              <a:rPr sz="1100">
                <a:solidFill>
                  <a:srgbClr val="1D4ED8"/>
                </a:solidFill>
                <a:latin typeface="Calibri"/>
              </a:rPr>
              <a:t>●  </a:t>
            </a:r>
            <a:r>
              <a:rPr sz="1700">
                <a:solidFill>
                  <a:srgbClr val="1F2933"/>
                </a:solidFill>
                <a:latin typeface="Calibri"/>
              </a:rPr>
              <a:t>After chapter 3 (lesson 25)</a:t>
            </a:r>
          </a:p>
          <a:p>
            <a:pPr>
              <a:spcAft>
                <a:spcPts val="1000"/>
              </a:spcAft>
            </a:pPr>
            <a:r>
              <a:rPr sz="1100">
                <a:solidFill>
                  <a:srgbClr val="1D4ED8"/>
                </a:solidFill>
                <a:latin typeface="Calibri"/>
              </a:rPr>
              <a:t>●  </a:t>
            </a:r>
            <a:r>
              <a:rPr sz="1700">
                <a:solidFill>
                  <a:srgbClr val="1F2933"/>
                </a:solidFill>
                <a:latin typeface="Calibri"/>
              </a:rPr>
              <a:t>After chapter 5 (lesson 37)</a:t>
            </a:r>
          </a:p>
          <a:p>
            <a:pPr>
              <a:spcAft>
                <a:spcPts val="1000"/>
              </a:spcAft>
            </a:pPr>
            <a:r>
              <a:rPr sz="1100">
                <a:solidFill>
                  <a:srgbClr val="1D4ED8"/>
                </a:solidFill>
                <a:latin typeface="Calibri"/>
              </a:rPr>
              <a:t>●  </a:t>
            </a:r>
            <a:r>
              <a:rPr sz="1700">
                <a:solidFill>
                  <a:srgbClr val="1F2933"/>
                </a:solidFill>
                <a:latin typeface="Calibri"/>
              </a:rPr>
              <a:t>After chapter 6 (lesson 40)</a:t>
            </a:r>
          </a:p>
        </p:txBody>
      </p:sp>
      <p:sp>
        <p:nvSpPr>
          <p:cNvPr id="14" name="TextBox 13"/>
          <p:cNvSpPr txBox="1"/>
          <p:nvPr/>
        </p:nvSpPr>
        <p:spPr>
          <a:xfrm>
            <a:off x="640080" y="5852160"/>
            <a:ext cx="10881360" cy="411480"/>
          </a:xfrm>
          <a:prstGeom prst="rect">
            <a:avLst/>
          </a:prstGeom>
          <a:noFill/>
        </p:spPr>
        <p:txBody>
          <a:bodyPr wrap="square" lIns="0" rIns="0" tIns="0" bIns="0" anchor="t">
            <a:spAutoFit/>
          </a:bodyPr>
          <a:lstStyle/>
          <a:p>
            <a:pPr algn="l"/>
            <a:r>
              <a:rPr sz="1400" b="0" i="0">
                <a:solidFill>
                  <a:srgbClr val="6B7280"/>
                </a:solidFill>
                <a:latin typeface="Calibri"/>
              </a:rPr>
              <a:t>One FastAPI service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Six chapters, 40 lessons, about 15 hours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9</a:t>
            </a:r>
          </a:p>
        </p:txBody>
      </p:sp>
      <p:sp>
        <p:nvSpPr>
          <p:cNvPr id="5" name="Rectangle 4"/>
          <p:cNvSpPr/>
          <p:nvPr/>
        </p:nvSpPr>
        <p:spPr>
          <a:xfrm>
            <a:off x="640080" y="1508760"/>
            <a:ext cx="10908792" cy="493776"/>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08760"/>
            <a:ext cx="640080" cy="493776"/>
          </a:xfrm>
          <a:prstGeom prst="rect">
            <a:avLst/>
          </a:prstGeom>
          <a:noFill/>
        </p:spPr>
        <p:txBody>
          <a:bodyPr wrap="square" lIns="0" rIns="0" tIns="0" bIns="0" anchor="ctr">
            <a:spAutoFit/>
          </a:bodyPr>
          <a:lstStyle/>
          <a:p>
            <a:pPr algn="l"/>
            <a:r>
              <a:rPr sz="1800" b="1" i="0">
                <a:solidFill>
                  <a:srgbClr val="1D4ED8"/>
                </a:solidFill>
                <a:latin typeface="Calibri"/>
              </a:rPr>
              <a:t>1</a:t>
            </a:r>
          </a:p>
        </p:txBody>
      </p:sp>
      <p:sp>
        <p:nvSpPr>
          <p:cNvPr id="7" name="TextBox 6"/>
          <p:cNvSpPr txBox="1"/>
          <p:nvPr/>
        </p:nvSpPr>
        <p:spPr>
          <a:xfrm>
            <a:off x="1554480" y="1508760"/>
            <a:ext cx="6309360" cy="493776"/>
          </a:xfrm>
          <a:prstGeom prst="rect">
            <a:avLst/>
          </a:prstGeom>
          <a:noFill/>
        </p:spPr>
        <p:txBody>
          <a:bodyPr wrap="square" lIns="0" rIns="0" tIns="0" bIns="0" anchor="ctr">
            <a:spAutoFit/>
          </a:bodyPr>
          <a:lstStyle/>
          <a:p>
            <a:pPr algn="l"/>
            <a:r>
              <a:rPr sz="1800" b="0" i="0">
                <a:solidFill>
                  <a:srgbClr val="1F2933"/>
                </a:solidFill>
                <a:latin typeface="Calibri"/>
              </a:rPr>
              <a:t>Foundations and one server</a:t>
            </a:r>
          </a:p>
        </p:txBody>
      </p:sp>
      <p:sp>
        <p:nvSpPr>
          <p:cNvPr id="8" name="Rounded Rectangle 7"/>
          <p:cNvSpPr/>
          <p:nvPr/>
        </p:nvSpPr>
        <p:spPr>
          <a:xfrm>
            <a:off x="8001000" y="1581912"/>
            <a:ext cx="1600200" cy="347472"/>
          </a:xfrm>
          <a:prstGeom prst="roundRect">
            <a:avLst>
              <a:gd name="adj" fmla="val 12000"/>
            </a:avLst>
          </a:prstGeom>
          <a:solidFill>
            <a:srgbClr val="D6D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1">
                <a:solidFill>
                  <a:srgbClr val="1F2933"/>
                </a:solidFill>
                <a:latin typeface="Calibri"/>
              </a:rPr>
              <a:t>Basic</a:t>
            </a:r>
          </a:p>
        </p:txBody>
      </p:sp>
      <p:sp>
        <p:nvSpPr>
          <p:cNvPr id="9" name="TextBox 8"/>
          <p:cNvSpPr txBox="1"/>
          <p:nvPr/>
        </p:nvSpPr>
        <p:spPr>
          <a:xfrm>
            <a:off x="9784080" y="1508760"/>
            <a:ext cx="1691640" cy="493776"/>
          </a:xfrm>
          <a:prstGeom prst="rect">
            <a:avLst/>
          </a:prstGeom>
          <a:noFill/>
        </p:spPr>
        <p:txBody>
          <a:bodyPr wrap="square" lIns="0" rIns="0" tIns="0" bIns="0" anchor="ctr">
            <a:spAutoFit/>
          </a:bodyPr>
          <a:lstStyle/>
          <a:p>
            <a:pPr algn="r"/>
            <a:r>
              <a:rPr sz="1400" b="0" i="0">
                <a:solidFill>
                  <a:srgbClr val="6B7280"/>
                </a:solidFill>
                <a:latin typeface="Calibri"/>
              </a:rPr>
              <a:t>9 lessons · ~3.3 h</a:t>
            </a:r>
          </a:p>
        </p:txBody>
      </p:sp>
      <p:sp>
        <p:nvSpPr>
          <p:cNvPr id="10" name="Rectangle 9"/>
          <p:cNvSpPr/>
          <p:nvPr/>
        </p:nvSpPr>
        <p:spPr>
          <a:xfrm>
            <a:off x="640080" y="2075688"/>
            <a:ext cx="10908792" cy="4937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075688"/>
            <a:ext cx="640080" cy="493776"/>
          </a:xfrm>
          <a:prstGeom prst="rect">
            <a:avLst/>
          </a:prstGeom>
          <a:noFill/>
        </p:spPr>
        <p:txBody>
          <a:bodyPr wrap="square" lIns="0" rIns="0" tIns="0" bIns="0" anchor="ctr">
            <a:spAutoFit/>
          </a:bodyPr>
          <a:lstStyle/>
          <a:p>
            <a:pPr algn="l"/>
            <a:r>
              <a:rPr sz="1800" b="1" i="0">
                <a:solidFill>
                  <a:srgbClr val="1D4ED8"/>
                </a:solidFill>
                <a:latin typeface="Calibri"/>
              </a:rPr>
              <a:t>2</a:t>
            </a:r>
          </a:p>
        </p:txBody>
      </p:sp>
      <p:sp>
        <p:nvSpPr>
          <p:cNvPr id="12" name="TextBox 11"/>
          <p:cNvSpPr txBox="1"/>
          <p:nvPr/>
        </p:nvSpPr>
        <p:spPr>
          <a:xfrm>
            <a:off x="1554480" y="2075688"/>
            <a:ext cx="6309360" cy="493776"/>
          </a:xfrm>
          <a:prstGeom prst="rect">
            <a:avLst/>
          </a:prstGeom>
          <a:noFill/>
        </p:spPr>
        <p:txBody>
          <a:bodyPr wrap="square" lIns="0" rIns="0" tIns="0" bIns="0" anchor="ctr">
            <a:spAutoFit/>
          </a:bodyPr>
          <a:lstStyle/>
          <a:p>
            <a:pPr algn="l"/>
            <a:r>
              <a:rPr sz="1800" b="0" i="0">
                <a:solidFill>
                  <a:srgbClr val="1F2933"/>
                </a:solidFill>
                <a:latin typeface="Calibri"/>
              </a:rPr>
              <a:t>Memory, batching and engines</a:t>
            </a:r>
          </a:p>
        </p:txBody>
      </p:sp>
      <p:sp>
        <p:nvSpPr>
          <p:cNvPr id="13" name="Rounded Rectangle 12"/>
          <p:cNvSpPr/>
          <p:nvPr/>
        </p:nvSpPr>
        <p:spPr>
          <a:xfrm>
            <a:off x="8001000" y="2148840"/>
            <a:ext cx="1600200" cy="347472"/>
          </a:xfrm>
          <a:prstGeom prst="roundRect">
            <a:avLst>
              <a:gd name="adj" fmla="val 12000"/>
            </a:avLst>
          </a:prstGeom>
          <a:solidFill>
            <a:srgbClr val="A5B8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1">
                <a:solidFill>
                  <a:srgbClr val="1F2933"/>
                </a:solidFill>
                <a:latin typeface="Calibri"/>
              </a:rPr>
              <a:t>Intermediate</a:t>
            </a:r>
          </a:p>
        </p:txBody>
      </p:sp>
      <p:sp>
        <p:nvSpPr>
          <p:cNvPr id="14" name="TextBox 13"/>
          <p:cNvSpPr txBox="1"/>
          <p:nvPr/>
        </p:nvSpPr>
        <p:spPr>
          <a:xfrm>
            <a:off x="9784080" y="2075688"/>
            <a:ext cx="1691640" cy="493776"/>
          </a:xfrm>
          <a:prstGeom prst="rect">
            <a:avLst/>
          </a:prstGeom>
          <a:noFill/>
        </p:spPr>
        <p:txBody>
          <a:bodyPr wrap="square" lIns="0" rIns="0" tIns="0" bIns="0" anchor="ctr">
            <a:spAutoFit/>
          </a:bodyPr>
          <a:lstStyle/>
          <a:p>
            <a:pPr algn="r"/>
            <a:r>
              <a:rPr sz="1400" b="0" i="0">
                <a:solidFill>
                  <a:srgbClr val="6B7280"/>
                </a:solidFill>
                <a:latin typeface="Calibri"/>
              </a:rPr>
              <a:t>9 lessons · ~3.4 h</a:t>
            </a:r>
          </a:p>
        </p:txBody>
      </p:sp>
      <p:sp>
        <p:nvSpPr>
          <p:cNvPr id="15" name="Rectangle 14"/>
          <p:cNvSpPr/>
          <p:nvPr/>
        </p:nvSpPr>
        <p:spPr>
          <a:xfrm>
            <a:off x="640080" y="2642615"/>
            <a:ext cx="10908792" cy="493776"/>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2642615"/>
            <a:ext cx="640080" cy="493776"/>
          </a:xfrm>
          <a:prstGeom prst="rect">
            <a:avLst/>
          </a:prstGeom>
          <a:noFill/>
        </p:spPr>
        <p:txBody>
          <a:bodyPr wrap="square" lIns="0" rIns="0" tIns="0" bIns="0" anchor="ctr">
            <a:spAutoFit/>
          </a:bodyPr>
          <a:lstStyle/>
          <a:p>
            <a:pPr algn="l"/>
            <a:r>
              <a:rPr sz="1800" b="1" i="0">
                <a:solidFill>
                  <a:srgbClr val="1D4ED8"/>
                </a:solidFill>
                <a:latin typeface="Calibri"/>
              </a:rPr>
              <a:t>3</a:t>
            </a:r>
          </a:p>
        </p:txBody>
      </p:sp>
      <p:sp>
        <p:nvSpPr>
          <p:cNvPr id="17" name="TextBox 16"/>
          <p:cNvSpPr txBox="1"/>
          <p:nvPr/>
        </p:nvSpPr>
        <p:spPr>
          <a:xfrm>
            <a:off x="1554480" y="2642615"/>
            <a:ext cx="6309360" cy="493776"/>
          </a:xfrm>
          <a:prstGeom prst="rect">
            <a:avLst/>
          </a:prstGeom>
          <a:noFill/>
        </p:spPr>
        <p:txBody>
          <a:bodyPr wrap="square" lIns="0" rIns="0" tIns="0" bIns="0" anchor="ctr">
            <a:spAutoFit/>
          </a:bodyPr>
          <a:lstStyle/>
          <a:p>
            <a:pPr algn="l"/>
            <a:r>
              <a:rPr sz="1800" b="0" i="0">
                <a:solidFill>
                  <a:srgbClr val="1F2933"/>
                </a:solidFill>
                <a:latin typeface="Calibri"/>
              </a:rPr>
              <a:t>Quantization, parallelism and hardware</a:t>
            </a:r>
          </a:p>
        </p:txBody>
      </p:sp>
      <p:sp>
        <p:nvSpPr>
          <p:cNvPr id="18" name="Rounded Rectangle 17"/>
          <p:cNvSpPr/>
          <p:nvPr/>
        </p:nvSpPr>
        <p:spPr>
          <a:xfrm>
            <a:off x="8001000" y="2715768"/>
            <a:ext cx="1600200" cy="347472"/>
          </a:xfrm>
          <a:prstGeom prst="roundRect">
            <a:avLst>
              <a:gd name="adj" fmla="val 12000"/>
            </a:avLst>
          </a:prstGeom>
          <a:solidFill>
            <a:srgbClr val="A5B8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1">
                <a:solidFill>
                  <a:srgbClr val="1F2933"/>
                </a:solidFill>
                <a:latin typeface="Calibri"/>
              </a:rPr>
              <a:t>Intermediate</a:t>
            </a:r>
          </a:p>
        </p:txBody>
      </p:sp>
      <p:sp>
        <p:nvSpPr>
          <p:cNvPr id="19" name="TextBox 18"/>
          <p:cNvSpPr txBox="1"/>
          <p:nvPr/>
        </p:nvSpPr>
        <p:spPr>
          <a:xfrm>
            <a:off x="9784080" y="2642615"/>
            <a:ext cx="1691640" cy="493776"/>
          </a:xfrm>
          <a:prstGeom prst="rect">
            <a:avLst/>
          </a:prstGeom>
          <a:noFill/>
        </p:spPr>
        <p:txBody>
          <a:bodyPr wrap="square" lIns="0" rIns="0" tIns="0" bIns="0" anchor="ctr">
            <a:spAutoFit/>
          </a:bodyPr>
          <a:lstStyle/>
          <a:p>
            <a:pPr algn="r"/>
            <a:r>
              <a:rPr sz="1400" b="0" i="0">
                <a:solidFill>
                  <a:srgbClr val="6B7280"/>
                </a:solidFill>
                <a:latin typeface="Calibri"/>
              </a:rPr>
              <a:t>7 lessons · ~2.6 h</a:t>
            </a:r>
          </a:p>
        </p:txBody>
      </p:sp>
      <p:sp>
        <p:nvSpPr>
          <p:cNvPr id="20" name="Rectangle 19"/>
          <p:cNvSpPr/>
          <p:nvPr/>
        </p:nvSpPr>
        <p:spPr>
          <a:xfrm>
            <a:off x="640080" y="3209544"/>
            <a:ext cx="10908792" cy="4937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3209544"/>
            <a:ext cx="640080" cy="493776"/>
          </a:xfrm>
          <a:prstGeom prst="rect">
            <a:avLst/>
          </a:prstGeom>
          <a:noFill/>
        </p:spPr>
        <p:txBody>
          <a:bodyPr wrap="square" lIns="0" rIns="0" tIns="0" bIns="0" anchor="ctr">
            <a:spAutoFit/>
          </a:bodyPr>
          <a:lstStyle/>
          <a:p>
            <a:pPr algn="l"/>
            <a:r>
              <a:rPr sz="1800" b="1" i="0">
                <a:solidFill>
                  <a:srgbClr val="1D4ED8"/>
                </a:solidFill>
                <a:latin typeface="Calibri"/>
              </a:rPr>
              <a:t>4</a:t>
            </a:r>
          </a:p>
        </p:txBody>
      </p:sp>
      <p:sp>
        <p:nvSpPr>
          <p:cNvPr id="22" name="TextBox 21"/>
          <p:cNvSpPr txBox="1"/>
          <p:nvPr/>
        </p:nvSpPr>
        <p:spPr>
          <a:xfrm>
            <a:off x="1554480" y="3209544"/>
            <a:ext cx="6309360" cy="493776"/>
          </a:xfrm>
          <a:prstGeom prst="rect">
            <a:avLst/>
          </a:prstGeom>
          <a:noFill/>
        </p:spPr>
        <p:txBody>
          <a:bodyPr wrap="square" lIns="0" rIns="0" tIns="0" bIns="0" anchor="ctr">
            <a:spAutoFit/>
          </a:bodyPr>
          <a:lstStyle/>
          <a:p>
            <a:pPr algn="l"/>
            <a:r>
              <a:rPr sz="1800" b="0" i="0">
                <a:solidFill>
                  <a:srgbClr val="1F2933"/>
                </a:solidFill>
                <a:latin typeface="Calibri"/>
              </a:rPr>
              <a:t>Capacity and economics</a:t>
            </a:r>
          </a:p>
        </p:txBody>
      </p:sp>
      <p:sp>
        <p:nvSpPr>
          <p:cNvPr id="23" name="Rounded Rectangle 22"/>
          <p:cNvSpPr/>
          <p:nvPr/>
        </p:nvSpPr>
        <p:spPr>
          <a:xfrm>
            <a:off x="8001000" y="3282696"/>
            <a:ext cx="1600200" cy="347472"/>
          </a:xfrm>
          <a:prstGeom prst="roundRect">
            <a:avLst>
              <a:gd name="adj" fmla="val 12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1">
                <a:solidFill>
                  <a:srgbClr val="FFFFFF"/>
                </a:solidFill>
                <a:latin typeface="Calibri"/>
              </a:rPr>
              <a:t>Advanced</a:t>
            </a:r>
          </a:p>
        </p:txBody>
      </p:sp>
      <p:sp>
        <p:nvSpPr>
          <p:cNvPr id="24" name="TextBox 23"/>
          <p:cNvSpPr txBox="1"/>
          <p:nvPr/>
        </p:nvSpPr>
        <p:spPr>
          <a:xfrm>
            <a:off x="9784080" y="3209544"/>
            <a:ext cx="1691640" cy="493776"/>
          </a:xfrm>
          <a:prstGeom prst="rect">
            <a:avLst/>
          </a:prstGeom>
          <a:noFill/>
        </p:spPr>
        <p:txBody>
          <a:bodyPr wrap="square" lIns="0" rIns="0" tIns="0" bIns="0" anchor="ctr">
            <a:spAutoFit/>
          </a:bodyPr>
          <a:lstStyle/>
          <a:p>
            <a:pPr algn="r"/>
            <a:r>
              <a:rPr sz="1400" b="0" i="0">
                <a:solidFill>
                  <a:srgbClr val="6B7280"/>
                </a:solidFill>
                <a:latin typeface="Calibri"/>
              </a:rPr>
              <a:t>3 lessons · ~1.2 h</a:t>
            </a:r>
          </a:p>
        </p:txBody>
      </p:sp>
      <p:sp>
        <p:nvSpPr>
          <p:cNvPr id="25" name="Rectangle 24"/>
          <p:cNvSpPr/>
          <p:nvPr/>
        </p:nvSpPr>
        <p:spPr>
          <a:xfrm>
            <a:off x="640080" y="3776472"/>
            <a:ext cx="10908792" cy="493776"/>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3776472"/>
            <a:ext cx="640080" cy="493776"/>
          </a:xfrm>
          <a:prstGeom prst="rect">
            <a:avLst/>
          </a:prstGeom>
          <a:noFill/>
        </p:spPr>
        <p:txBody>
          <a:bodyPr wrap="square" lIns="0" rIns="0" tIns="0" bIns="0" anchor="ctr">
            <a:spAutoFit/>
          </a:bodyPr>
          <a:lstStyle/>
          <a:p>
            <a:pPr algn="l"/>
            <a:r>
              <a:rPr sz="1800" b="1" i="0">
                <a:solidFill>
                  <a:srgbClr val="1D4ED8"/>
                </a:solidFill>
                <a:latin typeface="Calibri"/>
              </a:rPr>
              <a:t>5</a:t>
            </a:r>
          </a:p>
        </p:txBody>
      </p:sp>
      <p:sp>
        <p:nvSpPr>
          <p:cNvPr id="27" name="TextBox 26"/>
          <p:cNvSpPr txBox="1"/>
          <p:nvPr/>
        </p:nvSpPr>
        <p:spPr>
          <a:xfrm>
            <a:off x="1554480" y="3776472"/>
            <a:ext cx="6309360" cy="493776"/>
          </a:xfrm>
          <a:prstGeom prst="rect">
            <a:avLst/>
          </a:prstGeom>
          <a:noFill/>
        </p:spPr>
        <p:txBody>
          <a:bodyPr wrap="square" lIns="0" rIns="0" tIns="0" bIns="0" anchor="ctr">
            <a:spAutoFit/>
          </a:bodyPr>
          <a:lstStyle/>
          <a:p>
            <a:pPr algn="l"/>
            <a:r>
              <a:rPr sz="1800" b="0" i="0">
                <a:solidFill>
                  <a:srgbClr val="1F2933"/>
                </a:solidFill>
                <a:latin typeface="Calibri"/>
              </a:rPr>
              <a:t>Serving at scale and operations</a:t>
            </a:r>
          </a:p>
        </p:txBody>
      </p:sp>
      <p:sp>
        <p:nvSpPr>
          <p:cNvPr id="28" name="Rounded Rectangle 27"/>
          <p:cNvSpPr/>
          <p:nvPr/>
        </p:nvSpPr>
        <p:spPr>
          <a:xfrm>
            <a:off x="8001000" y="3849624"/>
            <a:ext cx="1600200" cy="347472"/>
          </a:xfrm>
          <a:prstGeom prst="roundRect">
            <a:avLst>
              <a:gd name="adj" fmla="val 12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1">
                <a:solidFill>
                  <a:srgbClr val="FFFFFF"/>
                </a:solidFill>
                <a:latin typeface="Calibri"/>
              </a:rPr>
              <a:t>Advanced</a:t>
            </a:r>
          </a:p>
        </p:txBody>
      </p:sp>
      <p:sp>
        <p:nvSpPr>
          <p:cNvPr id="29" name="TextBox 28"/>
          <p:cNvSpPr txBox="1"/>
          <p:nvPr/>
        </p:nvSpPr>
        <p:spPr>
          <a:xfrm>
            <a:off x="9784080" y="3776472"/>
            <a:ext cx="1691640" cy="493776"/>
          </a:xfrm>
          <a:prstGeom prst="rect">
            <a:avLst/>
          </a:prstGeom>
          <a:noFill/>
        </p:spPr>
        <p:txBody>
          <a:bodyPr wrap="square" lIns="0" rIns="0" tIns="0" bIns="0" anchor="ctr">
            <a:spAutoFit/>
          </a:bodyPr>
          <a:lstStyle/>
          <a:p>
            <a:pPr algn="r"/>
            <a:r>
              <a:rPr sz="1400" b="0" i="0">
                <a:solidFill>
                  <a:srgbClr val="6B7280"/>
                </a:solidFill>
                <a:latin typeface="Calibri"/>
              </a:rPr>
              <a:t>9 lessons · ~3.2 h</a:t>
            </a:r>
          </a:p>
        </p:txBody>
      </p:sp>
      <p:sp>
        <p:nvSpPr>
          <p:cNvPr id="30" name="Rectangle 29"/>
          <p:cNvSpPr/>
          <p:nvPr/>
        </p:nvSpPr>
        <p:spPr>
          <a:xfrm>
            <a:off x="640080" y="4343400"/>
            <a:ext cx="10908792" cy="4937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 y="4343400"/>
            <a:ext cx="640080" cy="493776"/>
          </a:xfrm>
          <a:prstGeom prst="rect">
            <a:avLst/>
          </a:prstGeom>
          <a:noFill/>
        </p:spPr>
        <p:txBody>
          <a:bodyPr wrap="square" lIns="0" rIns="0" tIns="0" bIns="0" anchor="ctr">
            <a:spAutoFit/>
          </a:bodyPr>
          <a:lstStyle/>
          <a:p>
            <a:pPr algn="l"/>
            <a:r>
              <a:rPr sz="1800" b="1" i="0">
                <a:solidFill>
                  <a:srgbClr val="1D4ED8"/>
                </a:solidFill>
                <a:latin typeface="Calibri"/>
              </a:rPr>
              <a:t>6</a:t>
            </a:r>
          </a:p>
        </p:txBody>
      </p:sp>
      <p:sp>
        <p:nvSpPr>
          <p:cNvPr id="32" name="TextBox 31"/>
          <p:cNvSpPr txBox="1"/>
          <p:nvPr/>
        </p:nvSpPr>
        <p:spPr>
          <a:xfrm>
            <a:off x="1554480" y="4343400"/>
            <a:ext cx="6309360" cy="493776"/>
          </a:xfrm>
          <a:prstGeom prst="rect">
            <a:avLst/>
          </a:prstGeom>
          <a:noFill/>
        </p:spPr>
        <p:txBody>
          <a:bodyPr wrap="square" lIns="0" rIns="0" tIns="0" bIns="0" anchor="ctr">
            <a:spAutoFit/>
          </a:bodyPr>
          <a:lstStyle/>
          <a:p>
            <a:pPr algn="l"/>
            <a:r>
              <a:rPr sz="1800" b="0" i="0">
                <a:solidFill>
                  <a:srgbClr val="1F2933"/>
                </a:solidFill>
                <a:latin typeface="Calibri"/>
              </a:rPr>
              <a:t>Enterprise and the capstone</a:t>
            </a:r>
          </a:p>
        </p:txBody>
      </p:sp>
      <p:sp>
        <p:nvSpPr>
          <p:cNvPr id="33" name="Rounded Rectangle 32"/>
          <p:cNvSpPr/>
          <p:nvPr/>
        </p:nvSpPr>
        <p:spPr>
          <a:xfrm>
            <a:off x="8001000" y="4416552"/>
            <a:ext cx="1600200" cy="347472"/>
          </a:xfrm>
          <a:prstGeom prst="roundRect">
            <a:avLst>
              <a:gd name="adj" fmla="val 12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1">
                <a:solidFill>
                  <a:srgbClr val="FFFFFF"/>
                </a:solidFill>
                <a:latin typeface="Calibri"/>
              </a:rPr>
              <a:t>Advanced</a:t>
            </a:r>
          </a:p>
        </p:txBody>
      </p:sp>
      <p:sp>
        <p:nvSpPr>
          <p:cNvPr id="34" name="TextBox 33"/>
          <p:cNvSpPr txBox="1"/>
          <p:nvPr/>
        </p:nvSpPr>
        <p:spPr>
          <a:xfrm>
            <a:off x="9784080" y="4343400"/>
            <a:ext cx="1691640" cy="493776"/>
          </a:xfrm>
          <a:prstGeom prst="rect">
            <a:avLst/>
          </a:prstGeom>
          <a:noFill/>
        </p:spPr>
        <p:txBody>
          <a:bodyPr wrap="square" lIns="0" rIns="0" tIns="0" bIns="0" anchor="ctr">
            <a:spAutoFit/>
          </a:bodyPr>
          <a:lstStyle/>
          <a:p>
            <a:pPr algn="r"/>
            <a:r>
              <a:rPr sz="1400" b="0" i="0">
                <a:solidFill>
                  <a:srgbClr val="6B7280"/>
                </a:solidFill>
                <a:latin typeface="Calibri"/>
              </a:rPr>
              <a:t>3 lessons · ~1.2 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Every lesson runs the same five steps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10</a:t>
            </a:r>
          </a:p>
        </p:txBody>
      </p:sp>
      <p:sp>
        <p:nvSpPr>
          <p:cNvPr id="5" name="Rounded Rectangle 4"/>
          <p:cNvSpPr/>
          <p:nvPr/>
        </p:nvSpPr>
        <p:spPr>
          <a:xfrm>
            <a:off x="594359"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1828800"/>
            <a:ext cx="822960" cy="822960"/>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822960" cy="822960"/>
          </a:xfrm>
          <a:prstGeom prst="rect">
            <a:avLst/>
          </a:prstGeom>
          <a:noFill/>
        </p:spPr>
        <p:txBody>
          <a:bodyPr wrap="square" lIns="0" rIns="0" tIns="0" bIns="0" anchor="ctr">
            <a:spAutoFit/>
          </a:bodyPr>
          <a:lstStyle/>
          <a:p>
            <a:pPr algn="ctr"/>
            <a:r>
              <a:rPr sz="1900" b="1" i="0">
                <a:solidFill>
                  <a:srgbClr val="1D4ED8"/>
                </a:solidFill>
                <a:latin typeface="Calibri"/>
              </a:rPr>
              <a:t>1</a:t>
            </a:r>
          </a:p>
        </p:txBody>
      </p:sp>
      <p:cxnSp>
        <p:nvCxnSpPr>
          <p:cNvPr id="8" name="Connector 7"/>
          <p:cNvCxnSpPr/>
          <p:nvPr/>
        </p:nvCxnSpPr>
        <p:spPr>
          <a:xfrm>
            <a:off x="1828800" y="2240280"/>
            <a:ext cx="1258214" cy="0"/>
          </a:xfrm>
          <a:prstGeom prst="line">
            <a:avLst/>
          </a:prstGeom>
          <a:ln w="25400">
            <a:solidFill>
              <a:srgbClr val="1D4ED8"/>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14400"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Goal and why</a:t>
            </a:r>
          </a:p>
        </p:txBody>
      </p:sp>
      <p:sp>
        <p:nvSpPr>
          <p:cNvPr id="10" name="TextBox 9"/>
          <p:cNvSpPr txBox="1"/>
          <p:nvPr/>
        </p:nvSpPr>
        <p:spPr>
          <a:xfrm>
            <a:off x="914400"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The problem without this idea</a:t>
            </a:r>
          </a:p>
        </p:txBody>
      </p:sp>
      <p:sp>
        <p:nvSpPr>
          <p:cNvPr id="11" name="Rounded Rectangle 10"/>
          <p:cNvSpPr/>
          <p:nvPr/>
        </p:nvSpPr>
        <p:spPr>
          <a:xfrm>
            <a:off x="2858414"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178454" y="1828800"/>
            <a:ext cx="822960" cy="822960"/>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78454" y="1828800"/>
            <a:ext cx="822960" cy="822960"/>
          </a:xfrm>
          <a:prstGeom prst="rect">
            <a:avLst/>
          </a:prstGeom>
          <a:noFill/>
        </p:spPr>
        <p:txBody>
          <a:bodyPr wrap="square" lIns="0" rIns="0" tIns="0" bIns="0" anchor="ctr">
            <a:spAutoFit/>
          </a:bodyPr>
          <a:lstStyle/>
          <a:p>
            <a:pPr algn="ctr"/>
            <a:r>
              <a:rPr sz="1900" b="1" i="0">
                <a:solidFill>
                  <a:srgbClr val="1D4ED8"/>
                </a:solidFill>
                <a:latin typeface="Calibri"/>
              </a:rPr>
              <a:t>2</a:t>
            </a:r>
          </a:p>
        </p:txBody>
      </p:sp>
      <p:cxnSp>
        <p:nvCxnSpPr>
          <p:cNvPr id="14" name="Connector 13"/>
          <p:cNvCxnSpPr/>
          <p:nvPr/>
        </p:nvCxnSpPr>
        <p:spPr>
          <a:xfrm>
            <a:off x="4092854" y="2240280"/>
            <a:ext cx="1258214" cy="0"/>
          </a:xfrm>
          <a:prstGeom prst="line">
            <a:avLst/>
          </a:prstGeom>
          <a:ln w="25400">
            <a:solidFill>
              <a:srgbClr val="1D4ED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178454"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The idea</a:t>
            </a:r>
          </a:p>
        </p:txBody>
      </p:sp>
      <p:sp>
        <p:nvSpPr>
          <p:cNvPr id="16" name="TextBox 15"/>
          <p:cNvSpPr txBox="1"/>
          <p:nvPr/>
        </p:nvSpPr>
        <p:spPr>
          <a:xfrm>
            <a:off x="3178454"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One comparison, one diagram</a:t>
            </a:r>
          </a:p>
        </p:txBody>
      </p:sp>
      <p:sp>
        <p:nvSpPr>
          <p:cNvPr id="17" name="Rounded Rectangle 16"/>
          <p:cNvSpPr/>
          <p:nvPr/>
        </p:nvSpPr>
        <p:spPr>
          <a:xfrm>
            <a:off x="5122468"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442508" y="1828800"/>
            <a:ext cx="822960" cy="822960"/>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42508" y="1828800"/>
            <a:ext cx="822960" cy="822960"/>
          </a:xfrm>
          <a:prstGeom prst="rect">
            <a:avLst/>
          </a:prstGeom>
          <a:noFill/>
        </p:spPr>
        <p:txBody>
          <a:bodyPr wrap="square" lIns="0" rIns="0" tIns="0" bIns="0" anchor="ctr">
            <a:spAutoFit/>
          </a:bodyPr>
          <a:lstStyle/>
          <a:p>
            <a:pPr algn="ctr"/>
            <a:r>
              <a:rPr sz="1900" b="1" i="0">
                <a:solidFill>
                  <a:srgbClr val="1D4ED8"/>
                </a:solidFill>
                <a:latin typeface="Calibri"/>
              </a:rPr>
              <a:t>3</a:t>
            </a:r>
          </a:p>
        </p:txBody>
      </p:sp>
      <p:cxnSp>
        <p:nvCxnSpPr>
          <p:cNvPr id="20" name="Connector 19"/>
          <p:cNvCxnSpPr/>
          <p:nvPr/>
        </p:nvCxnSpPr>
        <p:spPr>
          <a:xfrm>
            <a:off x="6356908" y="2240280"/>
            <a:ext cx="1258215" cy="0"/>
          </a:xfrm>
          <a:prstGeom prst="line">
            <a:avLst/>
          </a:prstGeom>
          <a:ln w="25400">
            <a:solidFill>
              <a:srgbClr val="1D4ED8"/>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442508"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Step by step</a:t>
            </a:r>
          </a:p>
        </p:txBody>
      </p:sp>
      <p:sp>
        <p:nvSpPr>
          <p:cNvPr id="22" name="TextBox 21"/>
          <p:cNvSpPr txBox="1"/>
          <p:nvPr/>
        </p:nvSpPr>
        <p:spPr>
          <a:xfrm>
            <a:off x="5442508"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Run each cell, check the output</a:t>
            </a:r>
          </a:p>
        </p:txBody>
      </p:sp>
      <p:sp>
        <p:nvSpPr>
          <p:cNvPr id="23" name="Rounded Rectangle 22"/>
          <p:cNvSpPr/>
          <p:nvPr/>
        </p:nvSpPr>
        <p:spPr>
          <a:xfrm>
            <a:off x="7386523"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706563" y="1828800"/>
            <a:ext cx="822960" cy="822960"/>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06563" y="1828800"/>
            <a:ext cx="822960" cy="822960"/>
          </a:xfrm>
          <a:prstGeom prst="rect">
            <a:avLst/>
          </a:prstGeom>
          <a:noFill/>
        </p:spPr>
        <p:txBody>
          <a:bodyPr wrap="square" lIns="0" rIns="0" tIns="0" bIns="0" anchor="ctr">
            <a:spAutoFit/>
          </a:bodyPr>
          <a:lstStyle/>
          <a:p>
            <a:pPr algn="ctr"/>
            <a:r>
              <a:rPr sz="1900" b="1" i="0">
                <a:solidFill>
                  <a:srgbClr val="1D4ED8"/>
                </a:solidFill>
                <a:latin typeface="Calibri"/>
              </a:rPr>
              <a:t>4</a:t>
            </a:r>
          </a:p>
        </p:txBody>
      </p:sp>
      <p:cxnSp>
        <p:nvCxnSpPr>
          <p:cNvPr id="26" name="Connector 25"/>
          <p:cNvCxnSpPr/>
          <p:nvPr/>
        </p:nvCxnSpPr>
        <p:spPr>
          <a:xfrm>
            <a:off x="8620963" y="2240280"/>
            <a:ext cx="1258214" cy="0"/>
          </a:xfrm>
          <a:prstGeom prst="line">
            <a:avLst/>
          </a:prstGeom>
          <a:ln w="25400">
            <a:solidFill>
              <a:srgbClr val="1D4ED8"/>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06563"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Try it</a:t>
            </a:r>
          </a:p>
        </p:txBody>
      </p:sp>
      <p:sp>
        <p:nvSpPr>
          <p:cNvPr id="28" name="TextBox 27"/>
          <p:cNvSpPr txBox="1"/>
          <p:nvPr/>
        </p:nvSpPr>
        <p:spPr>
          <a:xfrm>
            <a:off x="7706563"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Predict one change first</a:t>
            </a:r>
          </a:p>
        </p:txBody>
      </p:sp>
      <p:sp>
        <p:nvSpPr>
          <p:cNvPr id="29" name="Rounded Rectangle 28"/>
          <p:cNvSpPr/>
          <p:nvPr/>
        </p:nvSpPr>
        <p:spPr>
          <a:xfrm>
            <a:off x="9650577"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70617" y="1828800"/>
            <a:ext cx="822960" cy="822960"/>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70617" y="1828800"/>
            <a:ext cx="822960" cy="822960"/>
          </a:xfrm>
          <a:prstGeom prst="rect">
            <a:avLst/>
          </a:prstGeom>
          <a:noFill/>
        </p:spPr>
        <p:txBody>
          <a:bodyPr wrap="square" lIns="0" rIns="0" tIns="0" bIns="0" anchor="ctr">
            <a:spAutoFit/>
          </a:bodyPr>
          <a:lstStyle/>
          <a:p>
            <a:pPr algn="ctr"/>
            <a:r>
              <a:rPr sz="1900" b="1" i="0">
                <a:solidFill>
                  <a:srgbClr val="1D4ED8"/>
                </a:solidFill>
                <a:latin typeface="Calibri"/>
              </a:rPr>
              <a:t>5</a:t>
            </a:r>
          </a:p>
        </p:txBody>
      </p:sp>
      <p:sp>
        <p:nvSpPr>
          <p:cNvPr id="32" name="TextBox 31"/>
          <p:cNvSpPr txBox="1"/>
          <p:nvPr/>
        </p:nvSpPr>
        <p:spPr>
          <a:xfrm>
            <a:off x="9970617"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At work</a:t>
            </a:r>
          </a:p>
        </p:txBody>
      </p:sp>
      <p:sp>
        <p:nvSpPr>
          <p:cNvPr id="33" name="TextBox 32"/>
          <p:cNvSpPr txBox="1"/>
          <p:nvPr/>
        </p:nvSpPr>
        <p:spPr>
          <a:xfrm>
            <a:off x="9970617"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A real case with its source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Three levels, each ending in a checkpoint</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11</a:t>
            </a:r>
          </a:p>
        </p:txBody>
      </p:sp>
      <p:sp>
        <p:nvSpPr>
          <p:cNvPr id="5" name="Rounded Rectangle 4"/>
          <p:cNvSpPr/>
          <p:nvPr/>
        </p:nvSpPr>
        <p:spPr>
          <a:xfrm>
            <a:off x="640080" y="1828800"/>
            <a:ext cx="3422904" cy="338328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48840"/>
            <a:ext cx="2691384" cy="548640"/>
          </a:xfrm>
          <a:prstGeom prst="rect">
            <a:avLst/>
          </a:prstGeom>
          <a:noFill/>
        </p:spPr>
        <p:txBody>
          <a:bodyPr wrap="square" lIns="0" rIns="0" tIns="0" bIns="0" anchor="t">
            <a:spAutoFit/>
          </a:bodyPr>
          <a:lstStyle/>
          <a:p>
            <a:pPr algn="l"/>
            <a:r>
              <a:rPr sz="2400" b="1" i="0">
                <a:solidFill>
                  <a:srgbClr val="1F2933"/>
                </a:solidFill>
                <a:latin typeface="Calibri"/>
              </a:rPr>
              <a:t>Basic · 01 to 09</a:t>
            </a:r>
          </a:p>
        </p:txBody>
      </p:sp>
      <p:sp>
        <p:nvSpPr>
          <p:cNvPr id="7" name="TextBox 6"/>
          <p:cNvSpPr txBox="1"/>
          <p:nvPr/>
        </p:nvSpPr>
        <p:spPr>
          <a:xfrm>
            <a:off x="1005840" y="2926080"/>
            <a:ext cx="2691384" cy="2194560"/>
          </a:xfrm>
          <a:prstGeom prst="rect">
            <a:avLst/>
          </a:prstGeom>
          <a:noFill/>
        </p:spPr>
        <p:txBody>
          <a:bodyPr wrap="square" lIns="0" rIns="0" tIns="0" bIns="0">
            <a:spAutoFit/>
          </a:bodyPr>
          <a:lstStyle/>
          <a:p>
            <a:pPr>
              <a:spcAft>
                <a:spcPts val="1000"/>
              </a:spcAft>
            </a:pPr>
            <a:r>
              <a:rPr sz="1200">
                <a:solidFill>
                  <a:srgbClr val="1D4ED8"/>
                </a:solidFill>
                <a:latin typeface="Calibri"/>
              </a:rPr>
              <a:t>●  </a:t>
            </a:r>
            <a:r>
              <a:rPr sz="1800">
                <a:solidFill>
                  <a:srgbClr val="1F2933"/>
                </a:solidFill>
                <a:latin typeface="Calibri"/>
              </a:rPr>
              <a:t>One server and its cost</a:t>
            </a:r>
          </a:p>
          <a:p>
            <a:pPr>
              <a:spcAft>
                <a:spcPts val="1000"/>
              </a:spcAft>
            </a:pPr>
            <a:r>
              <a:rPr sz="1200">
                <a:solidFill>
                  <a:srgbClr val="1D4ED8"/>
                </a:solidFill>
                <a:latin typeface="Calibri"/>
              </a:rPr>
              <a:t>●  </a:t>
            </a:r>
            <a:r>
              <a:rPr sz="1800">
                <a:solidFill>
                  <a:srgbClr val="1F2933"/>
                </a:solidFill>
                <a:latin typeface="Calibri"/>
              </a:rPr>
              <a:t>About 3 h 20 min</a:t>
            </a:r>
          </a:p>
        </p:txBody>
      </p:sp>
      <p:sp>
        <p:nvSpPr>
          <p:cNvPr id="8" name="Rounded Rectangle 7"/>
          <p:cNvSpPr/>
          <p:nvPr/>
        </p:nvSpPr>
        <p:spPr>
          <a:xfrm>
            <a:off x="4383024" y="1828800"/>
            <a:ext cx="3422904" cy="338328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48784" y="2148840"/>
            <a:ext cx="2691384" cy="548640"/>
          </a:xfrm>
          <a:prstGeom prst="rect">
            <a:avLst/>
          </a:prstGeom>
          <a:noFill/>
        </p:spPr>
        <p:txBody>
          <a:bodyPr wrap="square" lIns="0" rIns="0" tIns="0" bIns="0" anchor="t">
            <a:spAutoFit/>
          </a:bodyPr>
          <a:lstStyle/>
          <a:p>
            <a:pPr algn="l"/>
            <a:r>
              <a:rPr sz="2400" b="1" i="0">
                <a:solidFill>
                  <a:srgbClr val="1F2933"/>
                </a:solidFill>
                <a:latin typeface="Calibri"/>
              </a:rPr>
              <a:t>Intermediate · 10 to 25</a:t>
            </a:r>
          </a:p>
        </p:txBody>
      </p:sp>
      <p:sp>
        <p:nvSpPr>
          <p:cNvPr id="10" name="TextBox 9"/>
          <p:cNvSpPr txBox="1"/>
          <p:nvPr/>
        </p:nvSpPr>
        <p:spPr>
          <a:xfrm>
            <a:off x="4748784" y="2926080"/>
            <a:ext cx="2691384" cy="2194560"/>
          </a:xfrm>
          <a:prstGeom prst="rect">
            <a:avLst/>
          </a:prstGeom>
          <a:noFill/>
        </p:spPr>
        <p:txBody>
          <a:bodyPr wrap="square" lIns="0" rIns="0" tIns="0" bIns="0">
            <a:spAutoFit/>
          </a:bodyPr>
          <a:lstStyle/>
          <a:p>
            <a:pPr>
              <a:spcAft>
                <a:spcPts val="1000"/>
              </a:spcAft>
            </a:pPr>
            <a:r>
              <a:rPr sz="1200">
                <a:solidFill>
                  <a:srgbClr val="1D4ED8"/>
                </a:solidFill>
                <a:latin typeface="Calibri"/>
              </a:rPr>
              <a:t>●  </a:t>
            </a:r>
            <a:r>
              <a:rPr sz="1800">
                <a:solidFill>
                  <a:srgbClr val="1F2933"/>
                </a:solidFill>
                <a:latin typeface="Calibri"/>
              </a:rPr>
              <a:t>Memory, engines, GPUs</a:t>
            </a:r>
          </a:p>
          <a:p>
            <a:pPr>
              <a:spcAft>
                <a:spcPts val="1000"/>
              </a:spcAft>
            </a:pPr>
            <a:r>
              <a:rPr sz="1200">
                <a:solidFill>
                  <a:srgbClr val="1D4ED8"/>
                </a:solidFill>
                <a:latin typeface="Calibri"/>
              </a:rPr>
              <a:t>●  </a:t>
            </a:r>
            <a:r>
              <a:rPr sz="1800">
                <a:solidFill>
                  <a:srgbClr val="1F2933"/>
                </a:solidFill>
                <a:latin typeface="Calibri"/>
              </a:rPr>
              <a:t>About 6 h</a:t>
            </a:r>
          </a:p>
        </p:txBody>
      </p:sp>
      <p:sp>
        <p:nvSpPr>
          <p:cNvPr id="11" name="Rounded Rectangle 10"/>
          <p:cNvSpPr/>
          <p:nvPr/>
        </p:nvSpPr>
        <p:spPr>
          <a:xfrm>
            <a:off x="8125968" y="1828800"/>
            <a:ext cx="3422904" cy="338328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91728" y="2148840"/>
            <a:ext cx="2691384" cy="548640"/>
          </a:xfrm>
          <a:prstGeom prst="rect">
            <a:avLst/>
          </a:prstGeom>
          <a:noFill/>
        </p:spPr>
        <p:txBody>
          <a:bodyPr wrap="square" lIns="0" rIns="0" tIns="0" bIns="0" anchor="t">
            <a:spAutoFit/>
          </a:bodyPr>
          <a:lstStyle/>
          <a:p>
            <a:pPr algn="l"/>
            <a:r>
              <a:rPr sz="2400" b="1" i="0">
                <a:solidFill>
                  <a:srgbClr val="1F2933"/>
                </a:solidFill>
                <a:latin typeface="Calibri"/>
              </a:rPr>
              <a:t>Advanced · 26 to 40</a:t>
            </a:r>
          </a:p>
        </p:txBody>
      </p:sp>
      <p:sp>
        <p:nvSpPr>
          <p:cNvPr id="13" name="TextBox 12"/>
          <p:cNvSpPr txBox="1"/>
          <p:nvPr/>
        </p:nvSpPr>
        <p:spPr>
          <a:xfrm>
            <a:off x="8491728" y="2926080"/>
            <a:ext cx="2691384" cy="2194560"/>
          </a:xfrm>
          <a:prstGeom prst="rect">
            <a:avLst/>
          </a:prstGeom>
          <a:noFill/>
        </p:spPr>
        <p:txBody>
          <a:bodyPr wrap="square" lIns="0" rIns="0" tIns="0" bIns="0">
            <a:spAutoFit/>
          </a:bodyPr>
          <a:lstStyle/>
          <a:p>
            <a:pPr>
              <a:spcAft>
                <a:spcPts val="1000"/>
              </a:spcAft>
            </a:pPr>
            <a:r>
              <a:rPr sz="1200">
                <a:solidFill>
                  <a:srgbClr val="1D4ED8"/>
                </a:solidFill>
                <a:latin typeface="Calibri"/>
              </a:rPr>
              <a:t>●  </a:t>
            </a:r>
            <a:r>
              <a:rPr sz="1800">
                <a:solidFill>
                  <a:srgbClr val="1F2933"/>
                </a:solidFill>
                <a:latin typeface="Calibri"/>
              </a:rPr>
              <a:t>Capacity to capstone</a:t>
            </a:r>
          </a:p>
          <a:p>
            <a:pPr>
              <a:spcAft>
                <a:spcPts val="1000"/>
              </a:spcAft>
            </a:pPr>
            <a:r>
              <a:rPr sz="1200">
                <a:solidFill>
                  <a:srgbClr val="1D4ED8"/>
                </a:solidFill>
                <a:latin typeface="Calibri"/>
              </a:rPr>
              <a:t>●  </a:t>
            </a:r>
            <a:r>
              <a:rPr sz="1800">
                <a:solidFill>
                  <a:srgbClr val="1F2933"/>
                </a:solidFill>
                <a:latin typeface="Calibri"/>
              </a:rPr>
              <a:t>About 5 h 35 min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Before you start: Python, and Docker from lesson 08</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12</a:t>
            </a:r>
          </a:p>
        </p:txBody>
      </p:sp>
      <p:sp>
        <p:nvSpPr>
          <p:cNvPr id="5" name="Rounded Rectangle 4"/>
          <p:cNvSpPr/>
          <p:nvPr/>
        </p:nvSpPr>
        <p:spPr>
          <a:xfrm>
            <a:off x="640080" y="1828800"/>
            <a:ext cx="2487168"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05840" y="2194560"/>
            <a:ext cx="777240" cy="777240"/>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Gear 6 6"/>
          <p:cNvSpPr/>
          <p:nvPr/>
        </p:nvSpPr>
        <p:spPr>
          <a:xfrm>
            <a:off x="1200150" y="2388870"/>
            <a:ext cx="388620" cy="388620"/>
          </a:xfrm>
          <a:prstGeom prst="gear6">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200400"/>
            <a:ext cx="1755647" cy="731520"/>
          </a:xfrm>
          <a:prstGeom prst="rect">
            <a:avLst/>
          </a:prstGeom>
          <a:noFill/>
        </p:spPr>
        <p:txBody>
          <a:bodyPr wrap="square" lIns="0" rIns="0" tIns="0" bIns="0" anchor="t">
            <a:spAutoFit/>
          </a:bodyPr>
          <a:lstStyle/>
          <a:p>
            <a:pPr algn="l"/>
            <a:r>
              <a:rPr sz="2200" b="1" i="0">
                <a:solidFill>
                  <a:srgbClr val="1F2933"/>
                </a:solidFill>
                <a:latin typeface="Calibri"/>
              </a:rPr>
              <a:t>Python 3.12</a:t>
            </a:r>
          </a:p>
        </p:txBody>
      </p:sp>
      <p:sp>
        <p:nvSpPr>
          <p:cNvPr id="9" name="TextBox 8"/>
          <p:cNvSpPr txBox="1"/>
          <p:nvPr/>
        </p:nvSpPr>
        <p:spPr>
          <a:xfrm>
            <a:off x="1005840" y="3931920"/>
            <a:ext cx="1755647" cy="1371600"/>
          </a:xfrm>
          <a:prstGeom prst="rect">
            <a:avLst/>
          </a:prstGeom>
          <a:noFill/>
        </p:spPr>
        <p:txBody>
          <a:bodyPr wrap="square" lIns="0" rIns="0" tIns="0" bIns="0" anchor="t">
            <a:spAutoFit/>
          </a:bodyPr>
          <a:lstStyle/>
          <a:p>
            <a:pPr algn="l"/>
            <a:r>
              <a:rPr sz="1700" b="0" i="0">
                <a:solidFill>
                  <a:srgbClr val="1F2933"/>
                </a:solidFill>
                <a:latin typeface="Calibri"/>
              </a:rPr>
              <a:t>Installed with the course</a:t>
            </a:r>
          </a:p>
        </p:txBody>
      </p:sp>
      <p:sp>
        <p:nvSpPr>
          <p:cNvPr id="10" name="Rounded Rectangle 9"/>
          <p:cNvSpPr/>
          <p:nvPr/>
        </p:nvSpPr>
        <p:spPr>
          <a:xfrm>
            <a:off x="3447287" y="1828800"/>
            <a:ext cx="2487168"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813048" y="2194560"/>
            <a:ext cx="777240" cy="777240"/>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ube 11"/>
          <p:cNvSpPr/>
          <p:nvPr/>
        </p:nvSpPr>
        <p:spPr>
          <a:xfrm>
            <a:off x="4007358" y="2388870"/>
            <a:ext cx="388620" cy="388620"/>
          </a:xfrm>
          <a:prstGeom prst="cub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13048" y="3200400"/>
            <a:ext cx="1755647" cy="731520"/>
          </a:xfrm>
          <a:prstGeom prst="rect">
            <a:avLst/>
          </a:prstGeom>
          <a:noFill/>
        </p:spPr>
        <p:txBody>
          <a:bodyPr wrap="square" lIns="0" rIns="0" tIns="0" bIns="0" anchor="t">
            <a:spAutoFit/>
          </a:bodyPr>
          <a:lstStyle/>
          <a:p>
            <a:pPr algn="l"/>
            <a:r>
              <a:rPr sz="2200" b="1" i="0">
                <a:solidFill>
                  <a:srgbClr val="1F2933"/>
                </a:solidFill>
                <a:latin typeface="Calibri"/>
              </a:rPr>
              <a:t>Docker</a:t>
            </a:r>
          </a:p>
        </p:txBody>
      </p:sp>
      <p:sp>
        <p:nvSpPr>
          <p:cNvPr id="14" name="TextBox 13"/>
          <p:cNvSpPr txBox="1"/>
          <p:nvPr/>
        </p:nvSpPr>
        <p:spPr>
          <a:xfrm>
            <a:off x="3813048" y="3931920"/>
            <a:ext cx="1755647" cy="1371600"/>
          </a:xfrm>
          <a:prstGeom prst="rect">
            <a:avLst/>
          </a:prstGeom>
          <a:noFill/>
        </p:spPr>
        <p:txBody>
          <a:bodyPr wrap="square" lIns="0" rIns="0" tIns="0" bIns="0" anchor="t">
            <a:spAutoFit/>
          </a:bodyPr>
          <a:lstStyle/>
          <a:p>
            <a:pPr algn="l"/>
            <a:r>
              <a:rPr sz="1700" b="0" i="0">
                <a:solidFill>
                  <a:srgbClr val="1F2933"/>
                </a:solidFill>
                <a:latin typeface="Calibri"/>
              </a:rPr>
              <a:t>From lesson 08; lesson 01 runs without it</a:t>
            </a:r>
          </a:p>
        </p:txBody>
      </p:sp>
      <p:sp>
        <p:nvSpPr>
          <p:cNvPr id="15" name="Rounded Rectangle 14"/>
          <p:cNvSpPr/>
          <p:nvPr/>
        </p:nvSpPr>
        <p:spPr>
          <a:xfrm>
            <a:off x="6254496" y="1828800"/>
            <a:ext cx="2487168"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620256" y="2194560"/>
            <a:ext cx="777240" cy="777240"/>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cument 16"/>
          <p:cNvSpPr/>
          <p:nvPr/>
        </p:nvSpPr>
        <p:spPr>
          <a:xfrm>
            <a:off x="6814566" y="2388870"/>
            <a:ext cx="388620" cy="388620"/>
          </a:xfrm>
          <a:prstGeom prst="flowChartDocumen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20256" y="3200400"/>
            <a:ext cx="1755647" cy="731520"/>
          </a:xfrm>
          <a:prstGeom prst="rect">
            <a:avLst/>
          </a:prstGeom>
          <a:noFill/>
        </p:spPr>
        <p:txBody>
          <a:bodyPr wrap="square" lIns="0" rIns="0" tIns="0" bIns="0" anchor="t">
            <a:spAutoFit/>
          </a:bodyPr>
          <a:lstStyle/>
          <a:p>
            <a:pPr algn="l"/>
            <a:r>
              <a:rPr sz="2200" b="1" i="0">
                <a:solidFill>
                  <a:srgbClr val="1F2933"/>
                </a:solidFill>
                <a:latin typeface="Calibri"/>
              </a:rPr>
              <a:t>.env file</a:t>
            </a:r>
          </a:p>
        </p:txBody>
      </p:sp>
      <p:sp>
        <p:nvSpPr>
          <p:cNvPr id="19" name="TextBox 18"/>
          <p:cNvSpPr txBox="1"/>
          <p:nvPr/>
        </p:nvSpPr>
        <p:spPr>
          <a:xfrm>
            <a:off x="6620256" y="3931920"/>
            <a:ext cx="1755647" cy="1371600"/>
          </a:xfrm>
          <a:prstGeom prst="rect">
            <a:avLst/>
          </a:prstGeom>
          <a:noFill/>
        </p:spPr>
        <p:txBody>
          <a:bodyPr wrap="square" lIns="0" rIns="0" tIns="0" bIns="0" anchor="t">
            <a:spAutoFit/>
          </a:bodyPr>
          <a:lstStyle/>
          <a:p>
            <a:pPr algn="l"/>
            <a:r>
              <a:rPr sz="1700" b="0" i="0">
                <a:solidFill>
                  <a:srgbClr val="1F2933"/>
                </a:solidFill>
                <a:latin typeface="Calibri"/>
              </a:rPr>
              <a:t>No value needed to run offline</a:t>
            </a:r>
          </a:p>
        </p:txBody>
      </p:sp>
      <p:sp>
        <p:nvSpPr>
          <p:cNvPr id="20" name="Rounded Rectangle 19"/>
          <p:cNvSpPr/>
          <p:nvPr/>
        </p:nvSpPr>
        <p:spPr>
          <a:xfrm>
            <a:off x="9061703" y="1828800"/>
            <a:ext cx="2487168"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427463" y="2194560"/>
            <a:ext cx="777240" cy="777240"/>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ightning Bolt 21"/>
          <p:cNvSpPr/>
          <p:nvPr/>
        </p:nvSpPr>
        <p:spPr>
          <a:xfrm>
            <a:off x="9621774" y="2388870"/>
            <a:ext cx="388620" cy="388620"/>
          </a:xfrm>
          <a:prstGeom prst="lightningBol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7463" y="3200400"/>
            <a:ext cx="1755647" cy="731520"/>
          </a:xfrm>
          <a:prstGeom prst="rect">
            <a:avLst/>
          </a:prstGeom>
          <a:noFill/>
        </p:spPr>
        <p:txBody>
          <a:bodyPr wrap="square" lIns="0" rIns="0" tIns="0" bIns="0" anchor="t">
            <a:spAutoFit/>
          </a:bodyPr>
          <a:lstStyle/>
          <a:p>
            <a:pPr algn="l"/>
            <a:r>
              <a:rPr sz="2200" b="1" i="0">
                <a:solidFill>
                  <a:srgbClr val="1F2933"/>
                </a:solidFill>
                <a:latin typeface="Calibri"/>
              </a:rPr>
              <a:t>GPU (optional)</a:t>
            </a:r>
          </a:p>
        </p:txBody>
      </p:sp>
      <p:sp>
        <p:nvSpPr>
          <p:cNvPr id="24" name="TextBox 23"/>
          <p:cNvSpPr txBox="1"/>
          <p:nvPr/>
        </p:nvSpPr>
        <p:spPr>
          <a:xfrm>
            <a:off x="9427463" y="3931920"/>
            <a:ext cx="1755647" cy="1371600"/>
          </a:xfrm>
          <a:prstGeom prst="rect">
            <a:avLst/>
          </a:prstGeom>
          <a:noFill/>
        </p:spPr>
        <p:txBody>
          <a:bodyPr wrap="square" lIns="0" rIns="0" tIns="0" bIns="0" anchor="t">
            <a:spAutoFit/>
          </a:bodyPr>
          <a:lstStyle/>
          <a:p>
            <a:pPr algn="l"/>
            <a:r>
              <a:rPr sz="1700" b="0" i="0">
                <a:solidFill>
                  <a:srgbClr val="1F2933"/>
                </a:solidFill>
                <a:latin typeface="Calibri"/>
              </a:rPr>
              <a:t>Lessons 20, 21, 27: GPU steps have a CPU fallback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Learning is proven by checkpoints and results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13</a:t>
            </a:r>
          </a:p>
        </p:txBody>
      </p:sp>
      <p:sp>
        <p:nvSpPr>
          <p:cNvPr id="5" name="Rounded Rectangle 4"/>
          <p:cNvSpPr/>
          <p:nvPr/>
        </p:nvSpPr>
        <p:spPr>
          <a:xfrm>
            <a:off x="640080" y="1828800"/>
            <a:ext cx="3422904"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05840" y="2194560"/>
            <a:ext cx="777240" cy="777240"/>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nut 6"/>
          <p:cNvSpPr/>
          <p:nvPr/>
        </p:nvSpPr>
        <p:spPr>
          <a:xfrm>
            <a:off x="1200150" y="2388870"/>
            <a:ext cx="388620" cy="388620"/>
          </a:xfrm>
          <a:prstGeom prst="donu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200400"/>
            <a:ext cx="2691384" cy="731520"/>
          </a:xfrm>
          <a:prstGeom prst="rect">
            <a:avLst/>
          </a:prstGeom>
          <a:noFill/>
        </p:spPr>
        <p:txBody>
          <a:bodyPr wrap="square" lIns="0" rIns="0" tIns="0" bIns="0" anchor="t">
            <a:spAutoFit/>
          </a:bodyPr>
          <a:lstStyle/>
          <a:p>
            <a:pPr algn="l"/>
            <a:r>
              <a:rPr sz="2200" b="1" i="0">
                <a:solidFill>
                  <a:srgbClr val="1F2933"/>
                </a:solidFill>
                <a:latin typeface="Calibri"/>
              </a:rPr>
              <a:t>Four checkpoints and a capstone</a:t>
            </a:r>
          </a:p>
        </p:txBody>
      </p:sp>
      <p:sp>
        <p:nvSpPr>
          <p:cNvPr id="9" name="TextBox 8"/>
          <p:cNvSpPr txBox="1"/>
          <p:nvPr/>
        </p:nvSpPr>
        <p:spPr>
          <a:xfrm>
            <a:off x="1005840" y="3931920"/>
            <a:ext cx="2691384" cy="1371600"/>
          </a:xfrm>
          <a:prstGeom prst="rect">
            <a:avLst/>
          </a:prstGeom>
          <a:noFill/>
        </p:spPr>
        <p:txBody>
          <a:bodyPr wrap="square" lIns="0" rIns="0" tIns="0" bIns="0" anchor="t">
            <a:spAutoFit/>
          </a:bodyPr>
          <a:lstStyle/>
          <a:p>
            <a:pPr algn="l"/>
            <a:r>
              <a:rPr sz="1700" b="0" i="0">
                <a:solidFill>
                  <a:srgbClr val="1F2933"/>
                </a:solidFill>
                <a:latin typeface="Calibri"/>
              </a:rPr>
              <a:t>Each ends in a measured result</a:t>
            </a:r>
          </a:p>
        </p:txBody>
      </p:sp>
      <p:sp>
        <p:nvSpPr>
          <p:cNvPr id="10" name="Rounded Rectangle 9"/>
          <p:cNvSpPr/>
          <p:nvPr/>
        </p:nvSpPr>
        <p:spPr>
          <a:xfrm>
            <a:off x="4383024" y="1828800"/>
            <a:ext cx="3422904"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748784" y="2194560"/>
            <a:ext cx="777240" cy="777240"/>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Callout 11"/>
          <p:cNvSpPr/>
          <p:nvPr/>
        </p:nvSpPr>
        <p:spPr>
          <a:xfrm>
            <a:off x="4943094" y="2388870"/>
            <a:ext cx="388620" cy="388620"/>
          </a:xfrm>
          <a:prstGeom prst="wedgeEllipseCallou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48784" y="3200400"/>
            <a:ext cx="2691384" cy="731520"/>
          </a:xfrm>
          <a:prstGeom prst="rect">
            <a:avLst/>
          </a:prstGeom>
          <a:noFill/>
        </p:spPr>
        <p:txBody>
          <a:bodyPr wrap="square" lIns="0" rIns="0" tIns="0" bIns="0" anchor="t">
            <a:spAutoFit/>
          </a:bodyPr>
          <a:lstStyle/>
          <a:p>
            <a:pPr algn="l"/>
            <a:r>
              <a:rPr sz="2200" b="1" i="0">
                <a:solidFill>
                  <a:srgbClr val="1F2933"/>
                </a:solidFill>
                <a:latin typeface="Calibri"/>
              </a:rPr>
              <a:t>19 interview lessons</a:t>
            </a:r>
          </a:p>
        </p:txBody>
      </p:sp>
      <p:sp>
        <p:nvSpPr>
          <p:cNvPr id="14" name="TextBox 13"/>
          <p:cNvSpPr txBox="1"/>
          <p:nvPr/>
        </p:nvSpPr>
        <p:spPr>
          <a:xfrm>
            <a:off x="4748784" y="3931920"/>
            <a:ext cx="2691384" cy="1371600"/>
          </a:xfrm>
          <a:prstGeom prst="rect">
            <a:avLst/>
          </a:prstGeom>
          <a:noFill/>
        </p:spPr>
        <p:txBody>
          <a:bodyPr wrap="square" lIns="0" rIns="0" tIns="0" bIns="0" anchor="t">
            <a:spAutoFit/>
          </a:bodyPr>
          <a:lstStyle/>
          <a:p>
            <a:pPr algn="l"/>
            <a:r>
              <a:rPr sz="1700" b="0" i="0">
                <a:solidFill>
                  <a:srgbClr val="1F2933"/>
                </a:solidFill>
                <a:latin typeface="Calibri"/>
              </a:rPr>
              <a:t>Marked in the syllabus, such as 03 and 05</a:t>
            </a:r>
          </a:p>
        </p:txBody>
      </p:sp>
      <p:sp>
        <p:nvSpPr>
          <p:cNvPr id="15" name="Rounded Rectangle 14"/>
          <p:cNvSpPr/>
          <p:nvPr/>
        </p:nvSpPr>
        <p:spPr>
          <a:xfrm>
            <a:off x="8125968" y="1828800"/>
            <a:ext cx="3422904"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491728" y="2194560"/>
            <a:ext cx="777240" cy="777240"/>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n 16"/>
          <p:cNvSpPr/>
          <p:nvPr/>
        </p:nvSpPr>
        <p:spPr>
          <a:xfrm>
            <a:off x="8686038" y="2388870"/>
            <a:ext cx="388620" cy="388620"/>
          </a:xfrm>
          <a:prstGeom prst="can">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91728" y="3200400"/>
            <a:ext cx="2691384" cy="731520"/>
          </a:xfrm>
          <a:prstGeom prst="rect">
            <a:avLst/>
          </a:prstGeom>
          <a:noFill/>
        </p:spPr>
        <p:txBody>
          <a:bodyPr wrap="square" lIns="0" rIns="0" tIns="0" bIns="0" anchor="t">
            <a:spAutoFit/>
          </a:bodyPr>
          <a:lstStyle/>
          <a:p>
            <a:pPr algn="l"/>
            <a:r>
              <a:rPr sz="2200" b="1" i="0">
                <a:solidFill>
                  <a:srgbClr val="1F2933"/>
                </a:solidFill>
                <a:latin typeface="Calibri"/>
              </a:rPr>
              <a:t>Offline runs</a:t>
            </a:r>
          </a:p>
        </p:txBody>
      </p:sp>
      <p:sp>
        <p:nvSpPr>
          <p:cNvPr id="19" name="TextBox 18"/>
          <p:cNvSpPr txBox="1"/>
          <p:nvPr/>
        </p:nvSpPr>
        <p:spPr>
          <a:xfrm>
            <a:off x="8491728" y="3931920"/>
            <a:ext cx="2691384" cy="1371600"/>
          </a:xfrm>
          <a:prstGeom prst="rect">
            <a:avLst/>
          </a:prstGeom>
          <a:noFill/>
        </p:spPr>
        <p:txBody>
          <a:bodyPr wrap="square" lIns="0" rIns="0" tIns="0" bIns="0" anchor="t">
            <a:spAutoFit/>
          </a:bodyPr>
          <a:lstStyle/>
          <a:p>
            <a:pPr algn="l"/>
            <a:r>
              <a:rPr sz="1700" b="0" i="0">
                <a:solidFill>
                  <a:srgbClr val="1F2933"/>
                </a:solidFill>
                <a:latin typeface="Calibri"/>
              </a:rPr>
              <a:t>No keys; GPU cells are tagged, with fallbacks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Five words you will hear</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14</a:t>
            </a:r>
          </a:p>
        </p:txBody>
      </p:sp>
      <p:sp>
        <p:nvSpPr>
          <p:cNvPr id="5" name="Rounded Rectangle 4"/>
          <p:cNvSpPr/>
          <p:nvPr/>
        </p:nvSpPr>
        <p:spPr>
          <a:xfrm>
            <a:off x="640080" y="1600200"/>
            <a:ext cx="5349240" cy="1219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19" y="1783080"/>
            <a:ext cx="4754880" cy="457200"/>
          </a:xfrm>
          <a:prstGeom prst="rect">
            <a:avLst/>
          </a:prstGeom>
          <a:noFill/>
        </p:spPr>
        <p:txBody>
          <a:bodyPr wrap="square" lIns="0" rIns="0" tIns="0" bIns="0" anchor="t">
            <a:spAutoFit/>
          </a:bodyPr>
          <a:lstStyle/>
          <a:p>
            <a:pPr algn="l"/>
            <a:r>
              <a:rPr sz="2200" b="1" i="0">
                <a:solidFill>
                  <a:srgbClr val="1D4ED8"/>
                </a:solidFill>
                <a:latin typeface="Calibri"/>
              </a:rPr>
              <a:t>Key and value</a:t>
            </a:r>
          </a:p>
        </p:txBody>
      </p:sp>
      <p:sp>
        <p:nvSpPr>
          <p:cNvPr id="7" name="TextBox 6"/>
          <p:cNvSpPr txBox="1"/>
          <p:nvPr/>
        </p:nvSpPr>
        <p:spPr>
          <a:xfrm>
            <a:off x="960119" y="2286000"/>
            <a:ext cx="4754880" cy="396239"/>
          </a:xfrm>
          <a:prstGeom prst="rect">
            <a:avLst/>
          </a:prstGeom>
          <a:noFill/>
        </p:spPr>
        <p:txBody>
          <a:bodyPr wrap="square" lIns="0" rIns="0" tIns="0" bIns="0" anchor="t">
            <a:spAutoFit/>
          </a:bodyPr>
          <a:lstStyle/>
          <a:p>
            <a:pPr algn="l"/>
            <a:r>
              <a:rPr sz="1800" b="0" i="0">
                <a:solidFill>
                  <a:srgbClr val="1F2933"/>
                </a:solidFill>
                <a:latin typeface="Calibri"/>
              </a:rPr>
              <a:t>The model's saved notes about each earlier word</a:t>
            </a:r>
          </a:p>
        </p:txBody>
      </p:sp>
      <p:sp>
        <p:nvSpPr>
          <p:cNvPr id="8" name="Rounded Rectangle 7"/>
          <p:cNvSpPr/>
          <p:nvPr/>
        </p:nvSpPr>
        <p:spPr>
          <a:xfrm>
            <a:off x="6217920" y="1600200"/>
            <a:ext cx="5349240" cy="1219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59" y="1783080"/>
            <a:ext cx="4754880" cy="457200"/>
          </a:xfrm>
          <a:prstGeom prst="rect">
            <a:avLst/>
          </a:prstGeom>
          <a:noFill/>
        </p:spPr>
        <p:txBody>
          <a:bodyPr wrap="square" lIns="0" rIns="0" tIns="0" bIns="0" anchor="t">
            <a:spAutoFit/>
          </a:bodyPr>
          <a:lstStyle/>
          <a:p>
            <a:pPr algn="l"/>
            <a:r>
              <a:rPr sz="2200" b="1" i="0">
                <a:solidFill>
                  <a:srgbClr val="1D4ED8"/>
                </a:solidFill>
                <a:latin typeface="Calibri"/>
              </a:rPr>
              <a:t>TTFT</a:t>
            </a:r>
          </a:p>
        </p:txBody>
      </p:sp>
      <p:sp>
        <p:nvSpPr>
          <p:cNvPr id="10" name="TextBox 9"/>
          <p:cNvSpPr txBox="1"/>
          <p:nvPr/>
        </p:nvSpPr>
        <p:spPr>
          <a:xfrm>
            <a:off x="6537959" y="2286000"/>
            <a:ext cx="4754880" cy="396239"/>
          </a:xfrm>
          <a:prstGeom prst="rect">
            <a:avLst/>
          </a:prstGeom>
          <a:noFill/>
        </p:spPr>
        <p:txBody>
          <a:bodyPr wrap="square" lIns="0" rIns="0" tIns="0" bIns="0" anchor="t">
            <a:spAutoFit/>
          </a:bodyPr>
          <a:lstStyle/>
          <a:p>
            <a:pPr algn="l"/>
            <a:r>
              <a:rPr sz="1800" b="0" i="0">
                <a:solidFill>
                  <a:srgbClr val="1F2933"/>
                </a:solidFill>
                <a:latin typeface="Calibri"/>
              </a:rPr>
              <a:t>Time to the first generated token</a:t>
            </a:r>
          </a:p>
        </p:txBody>
      </p:sp>
      <p:sp>
        <p:nvSpPr>
          <p:cNvPr id="11" name="Rounded Rectangle 10"/>
          <p:cNvSpPr/>
          <p:nvPr/>
        </p:nvSpPr>
        <p:spPr>
          <a:xfrm>
            <a:off x="640080" y="3002280"/>
            <a:ext cx="5349240" cy="1219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19" y="3185160"/>
            <a:ext cx="4754880" cy="457200"/>
          </a:xfrm>
          <a:prstGeom prst="rect">
            <a:avLst/>
          </a:prstGeom>
          <a:noFill/>
        </p:spPr>
        <p:txBody>
          <a:bodyPr wrap="square" lIns="0" rIns="0" tIns="0" bIns="0" anchor="t">
            <a:spAutoFit/>
          </a:bodyPr>
          <a:lstStyle/>
          <a:p>
            <a:pPr algn="l"/>
            <a:r>
              <a:rPr sz="2200" b="1" i="0">
                <a:solidFill>
                  <a:srgbClr val="1D4ED8"/>
                </a:solidFill>
                <a:latin typeface="Calibri"/>
              </a:rPr>
              <a:t>TPOT</a:t>
            </a:r>
          </a:p>
        </p:txBody>
      </p:sp>
      <p:sp>
        <p:nvSpPr>
          <p:cNvPr id="13" name="TextBox 12"/>
          <p:cNvSpPr txBox="1"/>
          <p:nvPr/>
        </p:nvSpPr>
        <p:spPr>
          <a:xfrm>
            <a:off x="960119" y="3688080"/>
            <a:ext cx="4754880" cy="396239"/>
          </a:xfrm>
          <a:prstGeom prst="rect">
            <a:avLst/>
          </a:prstGeom>
          <a:noFill/>
        </p:spPr>
        <p:txBody>
          <a:bodyPr wrap="square" lIns="0" rIns="0" tIns="0" bIns="0" anchor="t">
            <a:spAutoFit/>
          </a:bodyPr>
          <a:lstStyle/>
          <a:p>
            <a:pPr algn="l"/>
            <a:r>
              <a:rPr sz="1800" b="0" i="0">
                <a:solidFill>
                  <a:srgbClr val="1F2933"/>
                </a:solidFill>
                <a:latin typeface="Calibri"/>
              </a:rPr>
              <a:t>Average time between later tokens</a:t>
            </a:r>
          </a:p>
        </p:txBody>
      </p:sp>
      <p:sp>
        <p:nvSpPr>
          <p:cNvPr id="14" name="Rounded Rectangle 13"/>
          <p:cNvSpPr/>
          <p:nvPr/>
        </p:nvSpPr>
        <p:spPr>
          <a:xfrm>
            <a:off x="6217920" y="3002280"/>
            <a:ext cx="5349240" cy="1219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59" y="3185160"/>
            <a:ext cx="4754880" cy="457200"/>
          </a:xfrm>
          <a:prstGeom prst="rect">
            <a:avLst/>
          </a:prstGeom>
          <a:noFill/>
        </p:spPr>
        <p:txBody>
          <a:bodyPr wrap="square" lIns="0" rIns="0" tIns="0" bIns="0" anchor="t">
            <a:spAutoFit/>
          </a:bodyPr>
          <a:lstStyle/>
          <a:p>
            <a:pPr algn="l"/>
            <a:r>
              <a:rPr sz="2200" b="1" i="0">
                <a:solidFill>
                  <a:srgbClr val="1D4ED8"/>
                </a:solidFill>
                <a:latin typeface="Calibri"/>
              </a:rPr>
              <a:t>SLO</a:t>
            </a:r>
          </a:p>
        </p:txBody>
      </p:sp>
      <p:sp>
        <p:nvSpPr>
          <p:cNvPr id="16" name="TextBox 15"/>
          <p:cNvSpPr txBox="1"/>
          <p:nvPr/>
        </p:nvSpPr>
        <p:spPr>
          <a:xfrm>
            <a:off x="6537959" y="3688080"/>
            <a:ext cx="4754880" cy="396239"/>
          </a:xfrm>
          <a:prstGeom prst="rect">
            <a:avLst/>
          </a:prstGeom>
          <a:noFill/>
        </p:spPr>
        <p:txBody>
          <a:bodyPr wrap="square" lIns="0" rIns="0" tIns="0" bIns="0" anchor="t">
            <a:spAutoFit/>
          </a:bodyPr>
          <a:lstStyle/>
          <a:p>
            <a:pPr algn="l"/>
            <a:r>
              <a:rPr sz="1800" b="0" i="0">
                <a:solidFill>
                  <a:srgbClr val="1F2933"/>
                </a:solidFill>
                <a:latin typeface="Calibri"/>
              </a:rPr>
              <a:t>Target a service is measured against</a:t>
            </a:r>
          </a:p>
        </p:txBody>
      </p:sp>
      <p:sp>
        <p:nvSpPr>
          <p:cNvPr id="17" name="Rounded Rectangle 16"/>
          <p:cNvSpPr/>
          <p:nvPr/>
        </p:nvSpPr>
        <p:spPr>
          <a:xfrm>
            <a:off x="640080" y="4404360"/>
            <a:ext cx="5349240" cy="1219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19" y="4587240"/>
            <a:ext cx="4754880" cy="457200"/>
          </a:xfrm>
          <a:prstGeom prst="rect">
            <a:avLst/>
          </a:prstGeom>
          <a:noFill/>
        </p:spPr>
        <p:txBody>
          <a:bodyPr wrap="square" lIns="0" rIns="0" tIns="0" bIns="0" anchor="t">
            <a:spAutoFit/>
          </a:bodyPr>
          <a:lstStyle/>
          <a:p>
            <a:pPr algn="l"/>
            <a:r>
              <a:rPr sz="2200" b="1" i="0">
                <a:solidFill>
                  <a:srgbClr val="1D4ED8"/>
                </a:solidFill>
                <a:latin typeface="Calibri"/>
              </a:rPr>
              <a:t>Goodput</a:t>
            </a:r>
          </a:p>
        </p:txBody>
      </p:sp>
      <p:sp>
        <p:nvSpPr>
          <p:cNvPr id="19" name="TextBox 18"/>
          <p:cNvSpPr txBox="1"/>
          <p:nvPr/>
        </p:nvSpPr>
        <p:spPr>
          <a:xfrm>
            <a:off x="960119" y="5090160"/>
            <a:ext cx="4754880" cy="396239"/>
          </a:xfrm>
          <a:prstGeom prst="rect">
            <a:avLst/>
          </a:prstGeom>
          <a:noFill/>
        </p:spPr>
        <p:txBody>
          <a:bodyPr wrap="square" lIns="0" rIns="0" tIns="0" bIns="0" anchor="t">
            <a:spAutoFit/>
          </a:bodyPr>
          <a:lstStyle/>
          <a:p>
            <a:pPr algn="l"/>
            <a:r>
              <a:rPr sz="1800" b="0" i="0">
                <a:solidFill>
                  <a:srgbClr val="1F2933"/>
                </a:solidFill>
                <a:latin typeface="Calibri"/>
              </a:rPr>
              <a:t>Requests per second that meet every latency target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Questions you will answer by lesson 40</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15</a:t>
            </a:r>
          </a:p>
        </p:txBody>
      </p:sp>
      <p:sp>
        <p:nvSpPr>
          <p:cNvPr id="5" name="Oval 4"/>
          <p:cNvSpPr/>
          <p:nvPr/>
        </p:nvSpPr>
        <p:spPr>
          <a:xfrm>
            <a:off x="640080" y="1783080"/>
            <a:ext cx="914400" cy="914400"/>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Callout 5"/>
          <p:cNvSpPr/>
          <p:nvPr/>
        </p:nvSpPr>
        <p:spPr>
          <a:xfrm>
            <a:off x="868680" y="2011680"/>
            <a:ext cx="457200" cy="457200"/>
          </a:xfrm>
          <a:prstGeom prst="wedgeEllipseCallou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11680" y="1783080"/>
            <a:ext cx="548640" cy="548640"/>
          </a:xfrm>
          <a:prstGeom prst="rect">
            <a:avLst/>
          </a:prstGeom>
          <a:noFill/>
        </p:spPr>
        <p:txBody>
          <a:bodyPr wrap="square" lIns="0" rIns="0" tIns="0" bIns="0" anchor="t">
            <a:spAutoFit/>
          </a:bodyPr>
          <a:lstStyle/>
          <a:p>
            <a:pPr algn="l"/>
            <a:r>
              <a:rPr sz="2200" b="1" i="0">
                <a:solidFill>
                  <a:srgbClr val="1D4ED8"/>
                </a:solidFill>
                <a:latin typeface="Calibri"/>
              </a:rPr>
              <a:t>1</a:t>
            </a:r>
          </a:p>
        </p:txBody>
      </p:sp>
      <p:sp>
        <p:nvSpPr>
          <p:cNvPr id="8" name="TextBox 7"/>
          <p:cNvSpPr txBox="1"/>
          <p:nvPr/>
        </p:nvSpPr>
        <p:spPr>
          <a:xfrm>
            <a:off x="2560320" y="1810512"/>
            <a:ext cx="8961120" cy="731520"/>
          </a:xfrm>
          <a:prstGeom prst="rect">
            <a:avLst/>
          </a:prstGeom>
          <a:noFill/>
        </p:spPr>
        <p:txBody>
          <a:bodyPr wrap="square" lIns="0" rIns="0" tIns="0" bIns="0" anchor="t">
            <a:spAutoFit/>
          </a:bodyPr>
          <a:lstStyle/>
          <a:p>
            <a:pPr algn="l"/>
            <a:r>
              <a:rPr sz="1900" b="0" i="0">
                <a:solidFill>
                  <a:srgbClr val="1F2933"/>
                </a:solidFill>
                <a:latin typeface="Calibri"/>
              </a:rPr>
              <a:t>Bytes per token in your model's KV cache?</a:t>
            </a:r>
          </a:p>
        </p:txBody>
      </p:sp>
      <p:sp>
        <p:nvSpPr>
          <p:cNvPr id="9" name="TextBox 8"/>
          <p:cNvSpPr txBox="1"/>
          <p:nvPr/>
        </p:nvSpPr>
        <p:spPr>
          <a:xfrm>
            <a:off x="2011680" y="2624328"/>
            <a:ext cx="548640" cy="548640"/>
          </a:xfrm>
          <a:prstGeom prst="rect">
            <a:avLst/>
          </a:prstGeom>
          <a:noFill/>
        </p:spPr>
        <p:txBody>
          <a:bodyPr wrap="square" lIns="0" rIns="0" tIns="0" bIns="0" anchor="t">
            <a:spAutoFit/>
          </a:bodyPr>
          <a:lstStyle/>
          <a:p>
            <a:pPr algn="l"/>
            <a:r>
              <a:rPr sz="2200" b="1" i="0">
                <a:solidFill>
                  <a:srgbClr val="1D4ED8"/>
                </a:solidFill>
                <a:latin typeface="Calibri"/>
              </a:rPr>
              <a:t>2</a:t>
            </a:r>
          </a:p>
        </p:txBody>
      </p:sp>
      <p:sp>
        <p:nvSpPr>
          <p:cNvPr id="10" name="TextBox 9"/>
          <p:cNvSpPr txBox="1"/>
          <p:nvPr/>
        </p:nvSpPr>
        <p:spPr>
          <a:xfrm>
            <a:off x="2560320" y="2651760"/>
            <a:ext cx="8961120" cy="731520"/>
          </a:xfrm>
          <a:prstGeom prst="rect">
            <a:avLst/>
          </a:prstGeom>
          <a:noFill/>
        </p:spPr>
        <p:txBody>
          <a:bodyPr wrap="square" lIns="0" rIns="0" tIns="0" bIns="0" anchor="t">
            <a:spAutoFit/>
          </a:bodyPr>
          <a:lstStyle/>
          <a:p>
            <a:pPr algn="l"/>
            <a:r>
              <a:rPr sz="1900" b="0" i="0">
                <a:solidFill>
                  <a:srgbClr val="1F2933"/>
                </a:solidFill>
                <a:latin typeface="Calibri"/>
              </a:rPr>
              <a:t>Does the cache count query heads or KV heads?</a:t>
            </a:r>
          </a:p>
        </p:txBody>
      </p:sp>
      <p:sp>
        <p:nvSpPr>
          <p:cNvPr id="11" name="TextBox 10"/>
          <p:cNvSpPr txBox="1"/>
          <p:nvPr/>
        </p:nvSpPr>
        <p:spPr>
          <a:xfrm>
            <a:off x="2011680" y="3465576"/>
            <a:ext cx="548640" cy="548640"/>
          </a:xfrm>
          <a:prstGeom prst="rect">
            <a:avLst/>
          </a:prstGeom>
          <a:noFill/>
        </p:spPr>
        <p:txBody>
          <a:bodyPr wrap="square" lIns="0" rIns="0" tIns="0" bIns="0" anchor="t">
            <a:spAutoFit/>
          </a:bodyPr>
          <a:lstStyle/>
          <a:p>
            <a:pPr algn="l"/>
            <a:r>
              <a:rPr sz="2200" b="1" i="0">
                <a:solidFill>
                  <a:srgbClr val="1D4ED8"/>
                </a:solidFill>
                <a:latin typeface="Calibri"/>
              </a:rPr>
              <a:t>3</a:t>
            </a:r>
          </a:p>
        </p:txBody>
      </p:sp>
      <p:sp>
        <p:nvSpPr>
          <p:cNvPr id="12" name="TextBox 11"/>
          <p:cNvSpPr txBox="1"/>
          <p:nvPr/>
        </p:nvSpPr>
        <p:spPr>
          <a:xfrm>
            <a:off x="2560320" y="3493008"/>
            <a:ext cx="8961120" cy="731520"/>
          </a:xfrm>
          <a:prstGeom prst="rect">
            <a:avLst/>
          </a:prstGeom>
          <a:noFill/>
        </p:spPr>
        <p:txBody>
          <a:bodyPr wrap="square" lIns="0" rIns="0" tIns="0" bIns="0" anchor="t">
            <a:spAutoFit/>
          </a:bodyPr>
          <a:lstStyle/>
          <a:p>
            <a:pPr algn="l"/>
            <a:r>
              <a:rPr sz="1900" b="0" i="0">
                <a:solidFill>
                  <a:srgbClr val="1F2933"/>
                </a:solidFill>
                <a:latin typeface="Calibri"/>
              </a:rPr>
              <a:t>How many requests fit after weights and activations?</a:t>
            </a:r>
          </a:p>
        </p:txBody>
      </p:sp>
      <p:sp>
        <p:nvSpPr>
          <p:cNvPr id="13" name="TextBox 12"/>
          <p:cNvSpPr txBox="1"/>
          <p:nvPr/>
        </p:nvSpPr>
        <p:spPr>
          <a:xfrm>
            <a:off x="2011680" y="4306824"/>
            <a:ext cx="548640" cy="548640"/>
          </a:xfrm>
          <a:prstGeom prst="rect">
            <a:avLst/>
          </a:prstGeom>
          <a:noFill/>
        </p:spPr>
        <p:txBody>
          <a:bodyPr wrap="square" lIns="0" rIns="0" tIns="0" bIns="0" anchor="t">
            <a:spAutoFit/>
          </a:bodyPr>
          <a:lstStyle/>
          <a:p>
            <a:pPr algn="l"/>
            <a:r>
              <a:rPr sz="2200" b="1" i="0">
                <a:solidFill>
                  <a:srgbClr val="1D4ED8"/>
                </a:solidFill>
                <a:latin typeface="Calibri"/>
              </a:rPr>
              <a:t>4</a:t>
            </a:r>
          </a:p>
        </p:txBody>
      </p:sp>
      <p:sp>
        <p:nvSpPr>
          <p:cNvPr id="14" name="TextBox 13"/>
          <p:cNvSpPr txBox="1"/>
          <p:nvPr/>
        </p:nvSpPr>
        <p:spPr>
          <a:xfrm>
            <a:off x="2560320" y="4334256"/>
            <a:ext cx="8961120" cy="731520"/>
          </a:xfrm>
          <a:prstGeom prst="rect">
            <a:avLst/>
          </a:prstGeom>
          <a:noFill/>
        </p:spPr>
        <p:txBody>
          <a:bodyPr wrap="square" lIns="0" rIns="0" tIns="0" bIns="0" anchor="t">
            <a:spAutoFit/>
          </a:bodyPr>
          <a:lstStyle/>
          <a:p>
            <a:pPr algn="l"/>
            <a:r>
              <a:rPr sz="1900" b="0" i="0">
                <a:solidFill>
                  <a:srgbClr val="1F2933"/>
                </a:solidFill>
                <a:latin typeface="Calibri"/>
              </a:rPr>
              <a:t>Replicas needed for your users' TTFT target?</a:t>
            </a:r>
          </a:p>
        </p:txBody>
      </p:sp>
      <p:sp>
        <p:nvSpPr>
          <p:cNvPr id="15" name="TextBox 14"/>
          <p:cNvSpPr txBox="1"/>
          <p:nvPr/>
        </p:nvSpPr>
        <p:spPr>
          <a:xfrm>
            <a:off x="2011680" y="5148072"/>
            <a:ext cx="548640" cy="548640"/>
          </a:xfrm>
          <a:prstGeom prst="rect">
            <a:avLst/>
          </a:prstGeom>
          <a:noFill/>
        </p:spPr>
        <p:txBody>
          <a:bodyPr wrap="square" lIns="0" rIns="0" tIns="0" bIns="0" anchor="t">
            <a:spAutoFit/>
          </a:bodyPr>
          <a:lstStyle/>
          <a:p>
            <a:pPr algn="l"/>
            <a:r>
              <a:rPr sz="2200" b="1" i="0">
                <a:solidFill>
                  <a:srgbClr val="1D4ED8"/>
                </a:solidFill>
                <a:latin typeface="Calibri"/>
              </a:rPr>
              <a:t>5</a:t>
            </a:r>
          </a:p>
        </p:txBody>
      </p:sp>
      <p:sp>
        <p:nvSpPr>
          <p:cNvPr id="16" name="TextBox 15"/>
          <p:cNvSpPr txBox="1"/>
          <p:nvPr/>
        </p:nvSpPr>
        <p:spPr>
          <a:xfrm>
            <a:off x="2560320" y="5175504"/>
            <a:ext cx="8961120" cy="731520"/>
          </a:xfrm>
          <a:prstGeom prst="rect">
            <a:avLst/>
          </a:prstGeom>
          <a:noFill/>
        </p:spPr>
        <p:txBody>
          <a:bodyPr wrap="square" lIns="0" rIns="0" tIns="0" bIns="0" anchor="t">
            <a:spAutoFit/>
          </a:bodyPr>
          <a:lstStyle/>
          <a:p>
            <a:pPr algn="l"/>
            <a:r>
              <a:rPr sz="1900" b="0" i="0">
                <a:solidFill>
                  <a:srgbClr val="1F2933"/>
                </a:solidFill>
                <a:latin typeface="Calibri"/>
              </a:rPr>
              <a:t>What do you measure before trusting a limit?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KV Forge: LLM inference, from KV cache to production</dc:title>
  <dc:subject/>
  <dc:creator>Tutorial factory</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